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  <p:sldMasterId id="2147483664" r:id="rId5"/>
  </p:sldMasterIdLst>
  <p:notesMasterIdLst>
    <p:notesMasterId r:id="rId7"/>
  </p:notesMasterIdLst>
  <p:sldIdLst>
    <p:sldId id="260" r:id="rId6"/>
  </p:sldIdLst>
  <p:sldSz cx="12192000" cy="251999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3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1" autoAdjust="0"/>
    <p:restoredTop sz="94660"/>
  </p:normalViewPr>
  <p:slideViewPr>
    <p:cSldViewPr snapToGrid="0" snapToObjects="1">
      <p:cViewPr varScale="1">
        <p:scale>
          <a:sx n="39" d="100"/>
          <a:sy n="39" d="100"/>
        </p:scale>
        <p:origin x="3504" y="86"/>
      </p:cViewPr>
      <p:guideLst>
        <p:guide orient="horz" pos="7937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本版沿用用户提供的子课题1、2研究内容及总体技术路线图中的术语：航运枢纽施工影响航运能力建模方法、三峡坝区通行能力及阻抗函数标定、航运成本及服务水平、航运成本影响航运需求波动规律、枢纽施工—航运能力—航运需求互动耦合建模方法。子课题3承接子课题1的数据和特征、子课题2的施工扰动及通航约束参数，开展量化建模，避免重复扰动源识别与完整级联机理分析。阻抗函数描述运输需求和通行能力对应的时间、成本关系。锚地仍为辅助考虑，不开展独立选址优化。成本核算应分别记录直接费用与货物时间价值，避免重复计算。跨运输方式变更与产业影响衔接子课题4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4" indent="-228604" algn="l">
        <a:lnSpc>
          <a:spcPct val="90000"/>
        </a:lnSpc>
        <a:spcBef>
          <a:spcPts val="1001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12" indent="-228604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19" indent="-228604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27" indent="-228604" algn="l">
        <a:lnSpc>
          <a:spcPct val="90000"/>
        </a:lnSpc>
        <a:spcBef>
          <a:spcPts val="500"/>
        </a:spcBef>
        <a:buChar char="•"/>
        <a:defRPr sz="1801">
          <a:solidFill>
            <a:schemeClr val="tx1"/>
          </a:solidFill>
          <a:latin typeface="+mn-lt"/>
          <a:ea typeface="+mn-lt"/>
          <a:cs typeface="+mn-lt"/>
        </a:defRPr>
      </a:lvl4pPr>
      <a:lvl5pPr marL="2057434" indent="-228604" algn="l">
        <a:lnSpc>
          <a:spcPct val="90000"/>
        </a:lnSpc>
        <a:spcBef>
          <a:spcPts val="500"/>
        </a:spcBef>
        <a:buChar char="•"/>
        <a:defRPr sz="1801">
          <a:solidFill>
            <a:schemeClr val="tx1"/>
          </a:solidFill>
          <a:latin typeface="+mn-lt"/>
          <a:ea typeface="+mn-lt"/>
          <a:cs typeface="+mn-lt"/>
        </a:defRPr>
      </a:lvl5pPr>
      <a:lvl6pPr marL="2514641" indent="-228604" algn="l">
        <a:lnSpc>
          <a:spcPct val="90000"/>
        </a:lnSpc>
        <a:spcBef>
          <a:spcPts val="500"/>
        </a:spcBef>
        <a:buChar char="•"/>
        <a:defRPr sz="1801">
          <a:solidFill>
            <a:schemeClr val="tx1"/>
          </a:solidFill>
          <a:latin typeface="+mn-lt"/>
          <a:ea typeface="+mn-lt"/>
          <a:cs typeface="+mn-lt"/>
        </a:defRPr>
      </a:lvl6pPr>
      <a:lvl7pPr marL="2971849" indent="-228604" algn="l">
        <a:lnSpc>
          <a:spcPct val="90000"/>
        </a:lnSpc>
        <a:spcBef>
          <a:spcPts val="500"/>
        </a:spcBef>
        <a:buChar char="•"/>
        <a:defRPr sz="1801">
          <a:solidFill>
            <a:schemeClr val="tx1"/>
          </a:solidFill>
          <a:latin typeface="+mn-lt"/>
          <a:ea typeface="+mn-lt"/>
          <a:cs typeface="+mn-lt"/>
        </a:defRPr>
      </a:lvl7pPr>
      <a:lvl8pPr marL="3429056" indent="-228604" algn="l">
        <a:lnSpc>
          <a:spcPct val="90000"/>
        </a:lnSpc>
        <a:spcBef>
          <a:spcPts val="500"/>
        </a:spcBef>
        <a:buChar char="•"/>
        <a:defRPr sz="1801">
          <a:solidFill>
            <a:schemeClr val="tx1"/>
          </a:solidFill>
          <a:latin typeface="+mn-lt"/>
          <a:ea typeface="+mn-lt"/>
          <a:cs typeface="+mn-lt"/>
        </a:defRPr>
      </a:lvl8pPr>
      <a:lvl9pPr marL="3886264" indent="-228604" algn="l">
        <a:lnSpc>
          <a:spcPct val="90000"/>
        </a:lnSpc>
        <a:spcBef>
          <a:spcPts val="500"/>
        </a:spcBef>
        <a:buChar char="•"/>
        <a:defRPr sz="1801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1">
          <a:solidFill>
            <a:schemeClr val="tx1"/>
          </a:solidFill>
          <a:latin typeface="+mn-lt"/>
          <a:ea typeface="+mn-lt"/>
          <a:cs typeface="+mn-lt"/>
        </a:defRPr>
      </a:lvl1pPr>
      <a:lvl2pPr marL="457207" algn="l">
        <a:buNone/>
        <a:defRPr sz="1801">
          <a:solidFill>
            <a:schemeClr val="tx1"/>
          </a:solidFill>
          <a:latin typeface="+mn-lt"/>
          <a:ea typeface="+mn-lt"/>
          <a:cs typeface="+mn-lt"/>
        </a:defRPr>
      </a:lvl2pPr>
      <a:lvl3pPr marL="914415" algn="l">
        <a:buNone/>
        <a:defRPr sz="1801">
          <a:solidFill>
            <a:schemeClr val="tx1"/>
          </a:solidFill>
          <a:latin typeface="+mn-lt"/>
          <a:ea typeface="+mn-lt"/>
          <a:cs typeface="+mn-lt"/>
        </a:defRPr>
      </a:lvl3pPr>
      <a:lvl4pPr marL="1371622" algn="l">
        <a:buNone/>
        <a:defRPr sz="1801">
          <a:solidFill>
            <a:schemeClr val="tx1"/>
          </a:solidFill>
          <a:latin typeface="+mn-lt"/>
          <a:ea typeface="+mn-lt"/>
          <a:cs typeface="+mn-lt"/>
        </a:defRPr>
      </a:lvl4pPr>
      <a:lvl5pPr marL="1828830" algn="l">
        <a:buNone/>
        <a:defRPr sz="1801">
          <a:solidFill>
            <a:schemeClr val="tx1"/>
          </a:solidFill>
          <a:latin typeface="+mn-lt"/>
          <a:ea typeface="+mn-lt"/>
          <a:cs typeface="+mn-lt"/>
        </a:defRPr>
      </a:lvl5pPr>
      <a:lvl6pPr marL="2286037" algn="l">
        <a:buNone/>
        <a:defRPr sz="1801">
          <a:solidFill>
            <a:schemeClr val="tx1"/>
          </a:solidFill>
          <a:latin typeface="+mn-lt"/>
          <a:ea typeface="+mn-lt"/>
          <a:cs typeface="+mn-lt"/>
        </a:defRPr>
      </a:lvl6pPr>
      <a:lvl7pPr marL="2743245" algn="l">
        <a:buNone/>
        <a:defRPr sz="1801">
          <a:solidFill>
            <a:schemeClr val="tx1"/>
          </a:solidFill>
          <a:latin typeface="+mn-lt"/>
          <a:ea typeface="+mn-lt"/>
          <a:cs typeface="+mn-lt"/>
        </a:defRPr>
      </a:lvl7pPr>
      <a:lvl8pPr marL="3200452" algn="l">
        <a:buNone/>
        <a:defRPr sz="1801">
          <a:solidFill>
            <a:schemeClr val="tx1"/>
          </a:solidFill>
          <a:latin typeface="+mn-lt"/>
          <a:ea typeface="+mn-lt"/>
          <a:cs typeface="+mn-lt"/>
        </a:defRPr>
      </a:lvl8pPr>
      <a:lvl9pPr marL="3657659" algn="l">
        <a:buNone/>
        <a:defRPr sz="1801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2" name="研究基础与数据支撑"/>
          <p:cNvSpPr/>
          <p:nvPr/>
        </p:nvSpPr>
        <p:spPr>
          <a:xfrm>
            <a:off x="635000" y="1803400"/>
            <a:ext cx="10718800" cy="2286000"/>
          </a:xfrm>
          <a:prstGeom prst="roundRect">
            <a:avLst/>
          </a:prstGeom>
          <a:solidFill>
            <a:srgbClr val="FFF8F1"/>
          </a:solidFill>
          <a:ln>
            <a:solidFill>
              <a:srgbClr val="C55A11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03" name="研究基础与数据支撑标题"/>
          <p:cNvSpPr/>
          <p:nvPr/>
        </p:nvSpPr>
        <p:spPr>
          <a:xfrm>
            <a:off x="965200" y="1930400"/>
            <a:ext cx="10058400" cy="5588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FFFF"/>
                </a:solidFill>
                <a:latin typeface="微软雅黑"/>
                <a:ea typeface="微软雅黑"/>
              </a:rPr>
              <a:t>研究基础与数据支撑</a:t>
            </a:r>
          </a:p>
        </p:txBody>
      </p:sp>
      <p:sp>
        <p:nvSpPr>
          <p:cNvPr id="100004" name="子课题1输入"/>
          <p:cNvSpPr/>
          <p:nvPr/>
        </p:nvSpPr>
        <p:spPr>
          <a:xfrm>
            <a:off x="965200" y="2667000"/>
            <a:ext cx="4953000" cy="558800"/>
          </a:xfrm>
          <a:prstGeom prst="roundRect">
            <a:avLst/>
          </a:prstGeom>
          <a:solidFill>
            <a:srgbClr val="FFFFFF"/>
          </a:solidFill>
          <a:ln>
            <a:solidFill>
              <a:srgbClr val="C55A11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05" name="子课题1输入标题"/>
          <p:cNvSpPr/>
          <p:nvPr/>
        </p:nvSpPr>
        <p:spPr>
          <a:xfrm>
            <a:off x="1066800" y="2743200"/>
            <a:ext cx="47498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C55A11"/>
                </a:solidFill>
                <a:latin typeface="微软雅黑"/>
                <a:ea typeface="微软雅黑"/>
              </a:rPr>
              <a:t>子课题1：系统特征与动态演进</a:t>
            </a:r>
          </a:p>
        </p:txBody>
      </p:sp>
      <p:sp>
        <p:nvSpPr>
          <p:cNvPr id="100007" name="子课题2输入"/>
          <p:cNvSpPr/>
          <p:nvPr/>
        </p:nvSpPr>
        <p:spPr>
          <a:xfrm>
            <a:off x="6146800" y="2667000"/>
            <a:ext cx="4876800" cy="558800"/>
          </a:xfrm>
          <a:prstGeom prst="roundRect">
            <a:avLst/>
          </a:prstGeom>
          <a:solidFill>
            <a:srgbClr val="FFFFFF"/>
          </a:solidFill>
          <a:ln>
            <a:solidFill>
              <a:srgbClr val="C55A11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08" name="子课题2输入标题"/>
          <p:cNvSpPr/>
          <p:nvPr/>
        </p:nvSpPr>
        <p:spPr>
          <a:xfrm>
            <a:off x="6248400" y="2743200"/>
            <a:ext cx="46736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C55A11"/>
                </a:solidFill>
                <a:latin typeface="微软雅黑"/>
                <a:ea typeface="微软雅黑"/>
              </a:rPr>
              <a:t>子课题2：施工扰动与影响机理</a:t>
            </a:r>
          </a:p>
        </p:txBody>
      </p:sp>
      <p:sp>
        <p:nvSpPr>
          <p:cNvPr id="100010" name="运行数据"/>
          <p:cNvSpPr/>
          <p:nvPr/>
        </p:nvSpPr>
        <p:spPr>
          <a:xfrm>
            <a:off x="965200" y="3383280"/>
            <a:ext cx="4953000" cy="558800"/>
          </a:xfrm>
          <a:prstGeom prst="roundRect">
            <a:avLst/>
          </a:prstGeom>
          <a:solidFill>
            <a:srgbClr val="FFFFFF"/>
          </a:solidFill>
          <a:ln>
            <a:solidFill>
              <a:srgbClr val="C55A11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11" name="运行数据标题"/>
          <p:cNvSpPr/>
          <p:nvPr/>
        </p:nvSpPr>
        <p:spPr>
          <a:xfrm>
            <a:off x="1066800" y="3459480"/>
            <a:ext cx="47498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 dirty="0" err="1">
                <a:solidFill>
                  <a:srgbClr val="C55A11"/>
                </a:solidFill>
                <a:latin typeface="微软雅黑"/>
                <a:ea typeface="微软雅黑"/>
              </a:rPr>
              <a:t>航运运行与运输需求数据</a:t>
            </a:r>
            <a:endParaRPr lang="en-US" sz="2100" b="1" dirty="0">
              <a:solidFill>
                <a:srgbClr val="C55A11"/>
              </a:solidFill>
              <a:latin typeface="微软雅黑"/>
              <a:ea typeface="微软雅黑"/>
            </a:endParaRPr>
          </a:p>
        </p:txBody>
      </p:sp>
      <p:sp>
        <p:nvSpPr>
          <p:cNvPr id="100013" name="锚地与检验数据"/>
          <p:cNvSpPr/>
          <p:nvPr/>
        </p:nvSpPr>
        <p:spPr>
          <a:xfrm>
            <a:off x="6146800" y="3383280"/>
            <a:ext cx="4876800" cy="558800"/>
          </a:xfrm>
          <a:prstGeom prst="roundRect">
            <a:avLst/>
          </a:prstGeom>
          <a:solidFill>
            <a:srgbClr val="FFFFFF"/>
          </a:solidFill>
          <a:ln>
            <a:solidFill>
              <a:srgbClr val="C55A11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14" name="锚地与检验数据标题"/>
          <p:cNvSpPr/>
          <p:nvPr/>
        </p:nvSpPr>
        <p:spPr>
          <a:xfrm>
            <a:off x="6248400" y="3459480"/>
            <a:ext cx="46736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C55A11"/>
                </a:solidFill>
                <a:latin typeface="微软雅黑"/>
                <a:ea typeface="微软雅黑"/>
              </a:rPr>
              <a:t>运行组织与事件检验数据</a:t>
            </a:r>
          </a:p>
        </p:txBody>
      </p:sp>
      <p:sp>
        <p:nvSpPr>
          <p:cNvPr id="100016" name="数据进入模型"/>
          <p:cNvSpPr/>
          <p:nvPr/>
        </p:nvSpPr>
        <p:spPr>
          <a:xfrm>
            <a:off x="5867400" y="4290390"/>
            <a:ext cx="381000" cy="304800"/>
          </a:xfrm>
          <a:prstGeom prst="downArrow">
            <a:avLst/>
          </a:prstGeom>
          <a:solidFill>
            <a:srgbClr val="537A9F"/>
          </a:solidFill>
          <a:ln>
            <a:noFill/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17" name="研究一"/>
          <p:cNvSpPr/>
          <p:nvPr/>
        </p:nvSpPr>
        <p:spPr>
          <a:xfrm>
            <a:off x="635000" y="4722190"/>
            <a:ext cx="10718800" cy="3860800"/>
          </a:xfrm>
          <a:prstGeom prst="roundRect">
            <a:avLst/>
          </a:prstGeom>
          <a:solidFill>
            <a:srgbClr val="F0F6FC"/>
          </a:solidFill>
          <a:ln>
            <a:solidFill>
              <a:srgbClr val="2E75B6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18" name="研究一标题"/>
          <p:cNvSpPr/>
          <p:nvPr/>
        </p:nvSpPr>
        <p:spPr>
          <a:xfrm>
            <a:off x="965200" y="4849190"/>
            <a:ext cx="10058400" cy="5588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FFFF"/>
                </a:solidFill>
                <a:latin typeface="微软雅黑"/>
                <a:ea typeface="微软雅黑"/>
              </a:rPr>
              <a:t>① 航运枢纽施工影响航运能力建模方法研究</a:t>
            </a:r>
          </a:p>
        </p:txBody>
      </p:sp>
      <p:sp>
        <p:nvSpPr>
          <p:cNvPr id="100019" name="通过能力"/>
          <p:cNvSpPr/>
          <p:nvPr/>
        </p:nvSpPr>
        <p:spPr>
          <a:xfrm>
            <a:off x="965200" y="5611190"/>
            <a:ext cx="3175000" cy="1676400"/>
          </a:xfrm>
          <a:prstGeom prst="round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20" name="通过能力标题"/>
          <p:cNvSpPr/>
          <p:nvPr/>
        </p:nvSpPr>
        <p:spPr>
          <a:xfrm>
            <a:off x="1066800" y="5687390"/>
            <a:ext cx="29718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2E75B6"/>
                </a:solidFill>
                <a:latin typeface="微软雅黑"/>
                <a:ea typeface="微软雅黑"/>
              </a:rPr>
              <a:t>通航能力与运输能力</a:t>
            </a:r>
          </a:p>
        </p:txBody>
      </p:sp>
      <p:sp>
        <p:nvSpPr>
          <p:cNvPr id="100021" name="通过能力正文"/>
          <p:cNvSpPr/>
          <p:nvPr/>
        </p:nvSpPr>
        <p:spPr>
          <a:xfrm>
            <a:off x="1066800" y="6157290"/>
            <a:ext cx="2971800" cy="10541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>
                <a:solidFill>
                  <a:srgbClr val="465765"/>
                </a:solidFill>
                <a:latin typeface="微软雅黑"/>
                <a:ea typeface="微软雅黑"/>
              </a:rPr>
              <a:t>通航尺度与通过能力约束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>
                <a:solidFill>
                  <a:srgbClr val="465765"/>
                </a:solidFill>
                <a:latin typeface="微软雅黑"/>
                <a:ea typeface="微软雅黑"/>
              </a:rPr>
              <a:t>船型、载重与船舶调度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>
                <a:solidFill>
                  <a:srgbClr val="465765"/>
                </a:solidFill>
                <a:latin typeface="微软雅黑"/>
                <a:ea typeface="微软雅黑"/>
              </a:rPr>
              <a:t>通过船舶数量及货运量</a:t>
            </a:r>
          </a:p>
        </p:txBody>
      </p:sp>
      <p:sp>
        <p:nvSpPr>
          <p:cNvPr id="100022" name="排队锚地"/>
          <p:cNvSpPr/>
          <p:nvPr/>
        </p:nvSpPr>
        <p:spPr>
          <a:xfrm>
            <a:off x="4419600" y="5611190"/>
            <a:ext cx="3175000" cy="1676400"/>
          </a:xfrm>
          <a:prstGeom prst="round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23" name="排队锚地标题"/>
          <p:cNvSpPr/>
          <p:nvPr/>
        </p:nvSpPr>
        <p:spPr>
          <a:xfrm>
            <a:off x="4521200" y="5687390"/>
            <a:ext cx="29718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2E75B6"/>
                </a:solidFill>
                <a:latin typeface="微软雅黑"/>
                <a:ea typeface="微软雅黑"/>
              </a:rPr>
              <a:t>船舶排队与等待时间</a:t>
            </a:r>
          </a:p>
        </p:txBody>
      </p:sp>
      <p:sp>
        <p:nvSpPr>
          <p:cNvPr id="100024" name="排队锚地正文"/>
          <p:cNvSpPr/>
          <p:nvPr/>
        </p:nvSpPr>
        <p:spPr>
          <a:xfrm>
            <a:off x="4521200" y="6157290"/>
            <a:ext cx="2971800" cy="10541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>
                <a:solidFill>
                  <a:srgbClr val="465765"/>
                </a:solidFill>
                <a:latin typeface="微软雅黑"/>
                <a:ea typeface="微软雅黑"/>
              </a:rPr>
              <a:t>船舶到达与排队过程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>
                <a:solidFill>
                  <a:srgbClr val="465765"/>
                </a:solidFill>
                <a:latin typeface="微软雅黑"/>
                <a:ea typeface="微软雅黑"/>
              </a:rPr>
              <a:t>排队船舶数量变化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>
                <a:solidFill>
                  <a:srgbClr val="465765"/>
                </a:solidFill>
                <a:latin typeface="微软雅黑"/>
                <a:ea typeface="微软雅黑"/>
              </a:rPr>
              <a:t>分货类排队等待时间</a:t>
            </a:r>
          </a:p>
        </p:txBody>
      </p:sp>
      <p:sp>
        <p:nvSpPr>
          <p:cNvPr id="100025" name="运力折减"/>
          <p:cNvSpPr/>
          <p:nvPr/>
        </p:nvSpPr>
        <p:spPr>
          <a:xfrm>
            <a:off x="7874000" y="5611190"/>
            <a:ext cx="3149600" cy="1676400"/>
          </a:xfrm>
          <a:prstGeom prst="round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26" name="运力折减标题"/>
          <p:cNvSpPr/>
          <p:nvPr/>
        </p:nvSpPr>
        <p:spPr>
          <a:xfrm>
            <a:off x="7975600" y="5687390"/>
            <a:ext cx="29464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2E75B6"/>
                </a:solidFill>
                <a:latin typeface="微软雅黑"/>
                <a:ea typeface="微软雅黑"/>
              </a:rPr>
              <a:t>船舶周转与运力折减</a:t>
            </a:r>
          </a:p>
        </p:txBody>
      </p:sp>
      <p:sp>
        <p:nvSpPr>
          <p:cNvPr id="100027" name="运力折减正文"/>
          <p:cNvSpPr/>
          <p:nvPr/>
        </p:nvSpPr>
        <p:spPr>
          <a:xfrm>
            <a:off x="7975600" y="6157290"/>
            <a:ext cx="2946400" cy="10541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>
                <a:solidFill>
                  <a:srgbClr val="465765"/>
                </a:solidFill>
                <a:latin typeface="微软雅黑"/>
                <a:ea typeface="微软雅黑"/>
              </a:rPr>
              <a:t>等待时间与船舶周转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>
                <a:solidFill>
                  <a:srgbClr val="465765"/>
                </a:solidFill>
                <a:latin typeface="微软雅黑"/>
                <a:ea typeface="微软雅黑"/>
              </a:rPr>
              <a:t>航运运力组织与港航衔接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>
                <a:solidFill>
                  <a:srgbClr val="465765"/>
                </a:solidFill>
                <a:latin typeface="微软雅黑"/>
                <a:ea typeface="微软雅黑"/>
              </a:rPr>
              <a:t>可用运力及折减程度</a:t>
            </a:r>
          </a:p>
        </p:txBody>
      </p:sp>
      <p:sp>
        <p:nvSpPr>
          <p:cNvPr id="100028" name="模型一"/>
          <p:cNvSpPr/>
          <p:nvPr/>
        </p:nvSpPr>
        <p:spPr>
          <a:xfrm>
            <a:off x="965200" y="7592390"/>
            <a:ext cx="10058400" cy="711200"/>
          </a:xfrm>
          <a:prstGeom prst="roundRect">
            <a:avLst/>
          </a:prstGeom>
          <a:solidFill>
            <a:srgbClr val="DCEAF7"/>
          </a:solidFill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>
                <a:solidFill>
                  <a:srgbClr val="1F4E79"/>
                </a:solidFill>
                <a:latin typeface="微软雅黑"/>
                <a:ea typeface="微软雅黑"/>
              </a:rPr>
              <a:t>航运能力建模：通过能力 → 排队数量与等待时间 → 船舶周转与运力折减</a:t>
            </a:r>
          </a:p>
        </p:txBody>
      </p:sp>
      <p:sp>
        <p:nvSpPr>
          <p:cNvPr id="100029" name="运行进入成本"/>
          <p:cNvSpPr/>
          <p:nvPr/>
        </p:nvSpPr>
        <p:spPr>
          <a:xfrm>
            <a:off x="5867400" y="8659190"/>
            <a:ext cx="381000" cy="304800"/>
          </a:xfrm>
          <a:prstGeom prst="downArrow">
            <a:avLst/>
          </a:prstGeom>
          <a:solidFill>
            <a:srgbClr val="537A9F"/>
          </a:solidFill>
          <a:ln>
            <a:noFill/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30" name="研究二"/>
          <p:cNvSpPr/>
          <p:nvPr/>
        </p:nvSpPr>
        <p:spPr>
          <a:xfrm>
            <a:off x="635000" y="9090990"/>
            <a:ext cx="10718800" cy="3454400"/>
          </a:xfrm>
          <a:prstGeom prst="roundRect">
            <a:avLst/>
          </a:prstGeom>
          <a:solidFill>
            <a:srgbClr val="F1F8F3"/>
          </a:solidFill>
          <a:ln>
            <a:solidFill>
              <a:srgbClr val="238653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31" name="研究二标题"/>
          <p:cNvSpPr/>
          <p:nvPr/>
        </p:nvSpPr>
        <p:spPr>
          <a:xfrm>
            <a:off x="965200" y="9217990"/>
            <a:ext cx="10058400" cy="558800"/>
          </a:xfrm>
          <a:prstGeom prst="roundRect">
            <a:avLst/>
          </a:prstGeom>
          <a:solidFill>
            <a:srgbClr val="238653"/>
          </a:solidFill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FFFF"/>
                </a:solidFill>
                <a:latin typeface="微软雅黑"/>
                <a:ea typeface="微软雅黑"/>
              </a:rPr>
              <a:t>② 航运成本及服务水平变化研究</a:t>
            </a:r>
          </a:p>
        </p:txBody>
      </p:sp>
      <p:sp>
        <p:nvSpPr>
          <p:cNvPr id="100032" name="全程时间"/>
          <p:cNvSpPr/>
          <p:nvPr/>
        </p:nvSpPr>
        <p:spPr>
          <a:xfrm>
            <a:off x="965200" y="9979990"/>
            <a:ext cx="4953000" cy="1498600"/>
          </a:xfrm>
          <a:prstGeom prst="roundRect">
            <a:avLst/>
          </a:prstGeom>
          <a:solidFill>
            <a:srgbClr val="FFFFFF"/>
          </a:solidFill>
          <a:ln>
            <a:solidFill>
              <a:srgbClr val="238653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33" name="全程时间标题"/>
          <p:cNvSpPr/>
          <p:nvPr/>
        </p:nvSpPr>
        <p:spPr>
          <a:xfrm>
            <a:off x="1066800" y="10056190"/>
            <a:ext cx="47498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238653"/>
                </a:solidFill>
                <a:latin typeface="微软雅黑"/>
                <a:ea typeface="微软雅黑"/>
              </a:rPr>
              <a:t>航运物流整体时间</a:t>
            </a:r>
          </a:p>
        </p:txBody>
      </p:sp>
      <p:sp>
        <p:nvSpPr>
          <p:cNvPr id="100034" name="全程时间正文"/>
          <p:cNvSpPr/>
          <p:nvPr/>
        </p:nvSpPr>
        <p:spPr>
          <a:xfrm>
            <a:off x="1066800" y="10526090"/>
            <a:ext cx="4749800" cy="8763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dirty="0" err="1">
                <a:solidFill>
                  <a:srgbClr val="465765"/>
                </a:solidFill>
                <a:latin typeface="微软雅黑"/>
                <a:ea typeface="微软雅黑"/>
              </a:rPr>
              <a:t>航行、等待、锚泊、港口作业与衔接</a:t>
            </a:r>
            <a:endParaRPr lang="en-US" sz="2000" b="0" dirty="0">
              <a:solidFill>
                <a:srgbClr val="465765"/>
              </a:solidFill>
              <a:latin typeface="微软雅黑"/>
              <a:ea typeface="微软雅黑"/>
            </a:endParaRP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dirty="0" err="1">
                <a:solidFill>
                  <a:srgbClr val="465765"/>
                </a:solidFill>
                <a:latin typeface="微软雅黑"/>
                <a:ea typeface="微软雅黑"/>
              </a:rPr>
              <a:t>分货类物流时间、到货延迟及可靠性</a:t>
            </a:r>
            <a:endParaRPr lang="en-US" sz="2000" b="0" dirty="0">
              <a:solidFill>
                <a:srgbClr val="465765"/>
              </a:solidFill>
              <a:latin typeface="微软雅黑"/>
              <a:ea typeface="微软雅黑"/>
            </a:endParaRPr>
          </a:p>
        </p:txBody>
      </p:sp>
      <p:sp>
        <p:nvSpPr>
          <p:cNvPr id="100035" name="全程成本"/>
          <p:cNvSpPr/>
          <p:nvPr/>
        </p:nvSpPr>
        <p:spPr>
          <a:xfrm>
            <a:off x="6146800" y="9979990"/>
            <a:ext cx="4876800" cy="1498600"/>
          </a:xfrm>
          <a:prstGeom prst="roundRect">
            <a:avLst/>
          </a:prstGeom>
          <a:solidFill>
            <a:srgbClr val="FFFFFF"/>
          </a:solidFill>
          <a:ln>
            <a:solidFill>
              <a:srgbClr val="238653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36" name="全程成本标题"/>
          <p:cNvSpPr/>
          <p:nvPr/>
        </p:nvSpPr>
        <p:spPr>
          <a:xfrm>
            <a:off x="6248400" y="10056190"/>
            <a:ext cx="46736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238653"/>
                </a:solidFill>
                <a:latin typeface="微软雅黑"/>
                <a:ea typeface="微软雅黑"/>
              </a:rPr>
              <a:t>航运物流整体成本</a:t>
            </a:r>
          </a:p>
        </p:txBody>
      </p:sp>
      <p:sp>
        <p:nvSpPr>
          <p:cNvPr id="100037" name="全程成本正文"/>
          <p:cNvSpPr/>
          <p:nvPr/>
        </p:nvSpPr>
        <p:spPr>
          <a:xfrm>
            <a:off x="6248400" y="10526090"/>
            <a:ext cx="4673600" cy="8763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900" b="0">
                <a:solidFill>
                  <a:srgbClr val="465765"/>
                </a:solidFill>
                <a:latin typeface="微软雅黑"/>
                <a:ea typeface="微软雅黑"/>
              </a:rPr>
              <a:t>航行、等待、锚泊、装卸与转运费用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900" b="0">
                <a:solidFill>
                  <a:srgbClr val="465765"/>
                </a:solidFill>
                <a:latin typeface="微软雅黑"/>
                <a:ea typeface="微软雅黑"/>
              </a:rPr>
              <a:t>结合货类时间价值测算整体成本变化</a:t>
            </a:r>
          </a:p>
        </p:txBody>
      </p:sp>
      <p:sp>
        <p:nvSpPr>
          <p:cNvPr id="100038" name="模型二"/>
          <p:cNvSpPr/>
          <p:nvPr/>
        </p:nvSpPr>
        <p:spPr>
          <a:xfrm>
            <a:off x="965200" y="11681790"/>
            <a:ext cx="10058400" cy="609600"/>
          </a:xfrm>
          <a:prstGeom prst="roundRect">
            <a:avLst/>
          </a:prstGeom>
          <a:solidFill>
            <a:srgbClr val="E0EFE5"/>
          </a:solidFill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dirty="0" err="1">
                <a:solidFill>
                  <a:srgbClr val="21643F"/>
                </a:solidFill>
                <a:latin typeface="微软雅黑"/>
                <a:ea typeface="微软雅黑"/>
              </a:rPr>
              <a:t>三峡坝区通行能力及阻抗函数标定：运输需求与通行能力</a:t>
            </a:r>
            <a:r>
              <a:rPr lang="en-US" sz="2000" b="1" dirty="0">
                <a:solidFill>
                  <a:srgbClr val="21643F"/>
                </a:solidFill>
                <a:latin typeface="微软雅黑"/>
                <a:ea typeface="微软雅黑"/>
              </a:rPr>
              <a:t> → </a:t>
            </a:r>
            <a:r>
              <a:rPr lang="en-US" sz="2000" b="1" dirty="0" err="1">
                <a:solidFill>
                  <a:srgbClr val="21643F"/>
                </a:solidFill>
                <a:latin typeface="微软雅黑"/>
                <a:ea typeface="微软雅黑"/>
              </a:rPr>
              <a:t>航运时间与成本</a:t>
            </a:r>
            <a:endParaRPr lang="en-US" sz="2000" b="1" dirty="0">
              <a:solidFill>
                <a:srgbClr val="21643F"/>
              </a:solidFill>
              <a:latin typeface="微软雅黑"/>
              <a:ea typeface="微软雅黑"/>
            </a:endParaRPr>
          </a:p>
        </p:txBody>
      </p:sp>
      <p:sp>
        <p:nvSpPr>
          <p:cNvPr id="100039" name="成本进入需求"/>
          <p:cNvSpPr/>
          <p:nvPr/>
        </p:nvSpPr>
        <p:spPr>
          <a:xfrm>
            <a:off x="5867400" y="12621590"/>
            <a:ext cx="381000" cy="304800"/>
          </a:xfrm>
          <a:prstGeom prst="downArrow">
            <a:avLst/>
          </a:prstGeom>
          <a:solidFill>
            <a:srgbClr val="238653"/>
          </a:solidFill>
          <a:ln>
            <a:noFill/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40" name="研究三"/>
          <p:cNvSpPr/>
          <p:nvPr/>
        </p:nvSpPr>
        <p:spPr>
          <a:xfrm>
            <a:off x="635000" y="13053390"/>
            <a:ext cx="10718800" cy="4140200"/>
          </a:xfrm>
          <a:prstGeom prst="roundRect">
            <a:avLst/>
          </a:prstGeom>
          <a:solidFill>
            <a:srgbClr val="FFFAE9"/>
          </a:solidFill>
          <a:ln>
            <a:solidFill>
              <a:srgbClr val="BB8C00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41" name="研究三标题"/>
          <p:cNvSpPr/>
          <p:nvPr/>
        </p:nvSpPr>
        <p:spPr>
          <a:xfrm>
            <a:off x="965200" y="13180390"/>
            <a:ext cx="10058400" cy="558800"/>
          </a:xfrm>
          <a:prstGeom prst="roundRect">
            <a:avLst/>
          </a:prstGeom>
          <a:solidFill>
            <a:srgbClr val="BB8C00"/>
          </a:solidFill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FFFF"/>
                </a:solidFill>
                <a:latin typeface="微软雅黑"/>
                <a:ea typeface="微软雅黑"/>
              </a:rPr>
              <a:t>③ 枢纽施工—航运能力—航运需求互动耦合建模方法研究</a:t>
            </a:r>
          </a:p>
        </p:txBody>
      </p:sp>
      <p:sp>
        <p:nvSpPr>
          <p:cNvPr id="100042" name="需求反馈"/>
          <p:cNvSpPr/>
          <p:nvPr/>
        </p:nvSpPr>
        <p:spPr>
          <a:xfrm>
            <a:off x="965200" y="13942390"/>
            <a:ext cx="4953000" cy="1473200"/>
          </a:xfrm>
          <a:prstGeom prst="roundRect">
            <a:avLst/>
          </a:prstGeom>
          <a:solidFill>
            <a:srgbClr val="FFFFFF"/>
          </a:solidFill>
          <a:ln>
            <a:solidFill>
              <a:srgbClr val="A77C00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43" name="需求反馈标题"/>
          <p:cNvSpPr/>
          <p:nvPr/>
        </p:nvSpPr>
        <p:spPr>
          <a:xfrm>
            <a:off x="1066800" y="14018590"/>
            <a:ext cx="47498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A77C00"/>
                </a:solidFill>
                <a:latin typeface="微软雅黑"/>
                <a:ea typeface="微软雅黑"/>
              </a:rPr>
              <a:t>航运成本影响需求波动规律</a:t>
            </a:r>
          </a:p>
        </p:txBody>
      </p:sp>
      <p:sp>
        <p:nvSpPr>
          <p:cNvPr id="100044" name="需求反馈正文"/>
          <p:cNvSpPr/>
          <p:nvPr/>
        </p:nvSpPr>
        <p:spPr>
          <a:xfrm>
            <a:off x="1066800" y="14488490"/>
            <a:ext cx="4749800" cy="8509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900" b="0">
                <a:solidFill>
                  <a:srgbClr val="465765"/>
                </a:solidFill>
                <a:latin typeface="微软雅黑"/>
                <a:ea typeface="微软雅黑"/>
              </a:rPr>
              <a:t>发运时间、运输通道与需求折减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900" b="0">
                <a:solidFill>
                  <a:srgbClr val="465765"/>
                </a:solidFill>
                <a:latin typeface="微软雅黑"/>
                <a:ea typeface="微软雅黑"/>
              </a:rPr>
              <a:t>衔接子课题4运输需求时变及方式变更</a:t>
            </a:r>
          </a:p>
        </p:txBody>
      </p:sp>
      <p:sp>
        <p:nvSpPr>
          <p:cNvPr id="100045" name="情景设置"/>
          <p:cNvSpPr/>
          <p:nvPr/>
        </p:nvSpPr>
        <p:spPr>
          <a:xfrm>
            <a:off x="6146800" y="13942390"/>
            <a:ext cx="4876800" cy="1473200"/>
          </a:xfrm>
          <a:prstGeom prst="roundRect">
            <a:avLst/>
          </a:prstGeom>
          <a:solidFill>
            <a:srgbClr val="FFFFFF"/>
          </a:solidFill>
          <a:ln>
            <a:solidFill>
              <a:srgbClr val="A77C00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46" name="情景设置标题"/>
          <p:cNvSpPr/>
          <p:nvPr/>
        </p:nvSpPr>
        <p:spPr>
          <a:xfrm>
            <a:off x="6248400" y="14018590"/>
            <a:ext cx="46736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A77C00"/>
                </a:solidFill>
                <a:latin typeface="微软雅黑"/>
                <a:ea typeface="微软雅黑"/>
              </a:rPr>
              <a:t>不同施工扰动情景</a:t>
            </a:r>
          </a:p>
        </p:txBody>
      </p:sp>
      <p:sp>
        <p:nvSpPr>
          <p:cNvPr id="100047" name="情景设置正文"/>
          <p:cNvSpPr/>
          <p:nvPr/>
        </p:nvSpPr>
        <p:spPr>
          <a:xfrm>
            <a:off x="6248400" y="14488490"/>
            <a:ext cx="4673600" cy="8509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900" b="0">
                <a:solidFill>
                  <a:srgbClr val="465765"/>
                </a:solidFill>
                <a:latin typeface="微软雅黑"/>
                <a:ea typeface="微软雅黑"/>
              </a:rPr>
              <a:t>施工工况、扰动强度与持续时间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900" b="0">
                <a:solidFill>
                  <a:srgbClr val="465765"/>
                </a:solidFill>
                <a:latin typeface="微软雅黑"/>
                <a:ea typeface="微软雅黑"/>
              </a:rPr>
              <a:t>初始运输需求、通航条件及船舶调度</a:t>
            </a:r>
          </a:p>
        </p:txBody>
      </p:sp>
      <p:sp>
        <p:nvSpPr>
          <p:cNvPr id="100048" name="模型三"/>
          <p:cNvSpPr/>
          <p:nvPr/>
        </p:nvSpPr>
        <p:spPr>
          <a:xfrm>
            <a:off x="965200" y="15669590"/>
            <a:ext cx="10058400" cy="609600"/>
          </a:xfrm>
          <a:prstGeom prst="roundRect">
            <a:avLst/>
          </a:prstGeom>
          <a:solidFill>
            <a:srgbClr val="FFF0BA"/>
          </a:solidFill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>
                <a:solidFill>
                  <a:srgbClr val="765C00"/>
                </a:solidFill>
                <a:latin typeface="微软雅黑"/>
                <a:ea typeface="微软雅黑"/>
              </a:rPr>
              <a:t>互动耦合建模：枢纽施工 → 航运能力 → 航运成本及服务水平 → 航运需求</a:t>
            </a:r>
          </a:p>
        </p:txBody>
      </p:sp>
      <p:sp>
        <p:nvSpPr>
          <p:cNvPr id="100049" name="校准检验"/>
          <p:cNvSpPr/>
          <p:nvPr/>
        </p:nvSpPr>
        <p:spPr>
          <a:xfrm>
            <a:off x="965200" y="16431590"/>
            <a:ext cx="10058400" cy="5334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>
                <a:solidFill>
                  <a:srgbClr val="765C00"/>
                </a:solidFill>
                <a:latin typeface="微软雅黑"/>
                <a:ea typeface="微软雅黑"/>
              </a:rPr>
              <a:t>典型事件参数标定 → 独立事件验证 → 不同扰动情景量化测算</a:t>
            </a:r>
          </a:p>
        </p:txBody>
      </p:sp>
      <p:cxnSp>
        <p:nvCxnSpPr>
          <p:cNvPr id="100050" name="反馈出线"/>
          <p:cNvCxnSpPr/>
          <p:nvPr/>
        </p:nvCxnSpPr>
        <p:spPr>
          <a:xfrm>
            <a:off x="11023600" y="15974390"/>
            <a:ext cx="660400" cy="0"/>
          </a:xfrm>
          <a:prstGeom prst="straightConnector1">
            <a:avLst/>
          </a:prstGeom>
          <a:ln w="25400">
            <a:solidFill>
              <a:srgbClr val="218653"/>
            </a:solidFill>
            <a:tailEnd type="none"/>
          </a:ln>
        </p:spPr>
      </p:cxnSp>
      <p:cxnSp>
        <p:nvCxnSpPr>
          <p:cNvPr id="100051" name="反馈回路"/>
          <p:cNvCxnSpPr/>
          <p:nvPr/>
        </p:nvCxnSpPr>
        <p:spPr>
          <a:xfrm>
            <a:off x="11684000" y="7947990"/>
            <a:ext cx="0" cy="8026400"/>
          </a:xfrm>
          <a:prstGeom prst="straightConnector1">
            <a:avLst/>
          </a:prstGeom>
          <a:ln w="25400">
            <a:solidFill>
              <a:srgbClr val="218653"/>
            </a:solidFill>
            <a:tailEnd type="none"/>
          </a:ln>
        </p:spPr>
      </p:cxnSp>
      <p:cxnSp>
        <p:nvCxnSpPr>
          <p:cNvPr id="100052" name="反馈入线"/>
          <p:cNvCxnSpPr/>
          <p:nvPr/>
        </p:nvCxnSpPr>
        <p:spPr>
          <a:xfrm>
            <a:off x="11023600" y="7947990"/>
            <a:ext cx="660400" cy="0"/>
          </a:xfrm>
          <a:prstGeom prst="straightConnector1">
            <a:avLst/>
          </a:prstGeom>
          <a:ln w="25400">
            <a:solidFill>
              <a:srgbClr val="218653"/>
            </a:solidFill>
            <a:tailEnd type="none"/>
          </a:ln>
        </p:spPr>
      </p:cxnSp>
      <p:sp>
        <p:nvSpPr>
          <p:cNvPr id="100053" name="反馈左箭头"/>
          <p:cNvSpPr/>
          <p:nvPr/>
        </p:nvSpPr>
        <p:spPr>
          <a:xfrm>
            <a:off x="10972800" y="7833690"/>
            <a:ext cx="304800" cy="228600"/>
          </a:xfrm>
          <a:prstGeom prst="leftArrow">
            <a:avLst/>
          </a:prstGeom>
          <a:solidFill>
            <a:srgbClr val="218653"/>
          </a:solidFill>
          <a:ln>
            <a:noFill/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54" name="反馈说明"/>
          <p:cNvSpPr/>
          <p:nvPr/>
        </p:nvSpPr>
        <p:spPr>
          <a:xfrm>
            <a:off x="11442700" y="10132390"/>
            <a:ext cx="482600" cy="4165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>
                <a:solidFill>
                  <a:srgbClr val="218653"/>
                </a:solidFill>
                <a:latin typeface="微软雅黑"/>
                <a:ea typeface="微软雅黑"/>
              </a:rPr>
              <a:t>航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>
                <a:solidFill>
                  <a:srgbClr val="218653"/>
                </a:solidFill>
                <a:latin typeface="微软雅黑"/>
                <a:ea typeface="微软雅黑"/>
              </a:rPr>
              <a:t>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>
                <a:solidFill>
                  <a:srgbClr val="218653"/>
                </a:solidFill>
                <a:latin typeface="微软雅黑"/>
                <a:ea typeface="微软雅黑"/>
              </a:rPr>
              <a:t>需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>
                <a:solidFill>
                  <a:srgbClr val="218653"/>
                </a:solidFill>
                <a:latin typeface="微软雅黑"/>
                <a:ea typeface="微软雅黑"/>
              </a:rPr>
              <a:t>求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>
                <a:solidFill>
                  <a:srgbClr val="218653"/>
                </a:solidFill>
                <a:latin typeface="微软雅黑"/>
                <a:ea typeface="微软雅黑"/>
              </a:rPr>
              <a:t>调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>
                <a:solidFill>
                  <a:srgbClr val="218653"/>
                </a:solidFill>
                <a:latin typeface="微软雅黑"/>
                <a:ea typeface="微软雅黑"/>
              </a:rPr>
              <a:t>整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>
                <a:solidFill>
                  <a:srgbClr val="218653"/>
                </a:solidFill>
                <a:latin typeface="微软雅黑"/>
                <a:ea typeface="微软雅黑"/>
              </a:rPr>
              <a:t>反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>
                <a:solidFill>
                  <a:srgbClr val="218653"/>
                </a:solidFill>
                <a:latin typeface="微软雅黑"/>
                <a:ea typeface="微软雅黑"/>
              </a:rPr>
              <a:t>馈</a:t>
            </a:r>
          </a:p>
        </p:txBody>
      </p:sp>
      <p:sp>
        <p:nvSpPr>
          <p:cNvPr id="100055" name="模型输出箭头"/>
          <p:cNvSpPr/>
          <p:nvPr/>
        </p:nvSpPr>
        <p:spPr>
          <a:xfrm>
            <a:off x="5867400" y="17269790"/>
            <a:ext cx="381000" cy="304800"/>
          </a:xfrm>
          <a:prstGeom prst="downArrow">
            <a:avLst/>
          </a:prstGeom>
          <a:solidFill>
            <a:srgbClr val="BB8C00"/>
          </a:solidFill>
          <a:ln>
            <a:noFill/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56" name="模型输出"/>
          <p:cNvSpPr/>
          <p:nvPr/>
        </p:nvSpPr>
        <p:spPr>
          <a:xfrm>
            <a:off x="635000" y="17701590"/>
            <a:ext cx="10718800" cy="2921000"/>
          </a:xfrm>
          <a:prstGeom prst="roundRect">
            <a:avLst/>
          </a:prstGeom>
          <a:solidFill>
            <a:srgbClr val="F0F6FC"/>
          </a:solidFill>
          <a:ln>
            <a:solidFill>
              <a:srgbClr val="1F4E79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57" name="模型输出标题"/>
          <p:cNvSpPr/>
          <p:nvPr/>
        </p:nvSpPr>
        <p:spPr>
          <a:xfrm>
            <a:off x="965200" y="17828590"/>
            <a:ext cx="10058400" cy="5588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FFFF"/>
                </a:solidFill>
                <a:latin typeface="微软雅黑"/>
                <a:ea typeface="微软雅黑"/>
              </a:rPr>
              <a:t>模型输出｜不同扰动情景下航运能力、需求及运行变化</a:t>
            </a:r>
          </a:p>
        </p:txBody>
      </p:sp>
      <p:sp>
        <p:nvSpPr>
          <p:cNvPr id="100058" name="输出能力"/>
          <p:cNvSpPr/>
          <p:nvPr/>
        </p:nvSpPr>
        <p:spPr>
          <a:xfrm>
            <a:off x="965200" y="18590590"/>
            <a:ext cx="3175000" cy="558800"/>
          </a:xfrm>
          <a:prstGeom prst="roundRect">
            <a:avLst/>
          </a:prstGeom>
          <a:solidFill>
            <a:srgbClr val="FFFFFF"/>
          </a:solidFill>
          <a:ln>
            <a:solidFill>
              <a:srgbClr val="1F4E79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59" name="输出能力标题"/>
          <p:cNvSpPr/>
          <p:nvPr/>
        </p:nvSpPr>
        <p:spPr>
          <a:xfrm>
            <a:off x="1066800" y="18666790"/>
            <a:ext cx="29718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1F4E79"/>
                </a:solidFill>
                <a:latin typeface="微软雅黑"/>
                <a:ea typeface="微软雅黑"/>
              </a:rPr>
              <a:t>通过能力与实际通过量</a:t>
            </a:r>
          </a:p>
        </p:txBody>
      </p:sp>
      <p:sp>
        <p:nvSpPr>
          <p:cNvPr id="100061" name="输出排队"/>
          <p:cNvSpPr/>
          <p:nvPr/>
        </p:nvSpPr>
        <p:spPr>
          <a:xfrm>
            <a:off x="4419600" y="18590590"/>
            <a:ext cx="3175000" cy="558800"/>
          </a:xfrm>
          <a:prstGeom prst="roundRect">
            <a:avLst/>
          </a:prstGeom>
          <a:solidFill>
            <a:srgbClr val="FFFFFF"/>
          </a:solidFill>
          <a:ln>
            <a:solidFill>
              <a:srgbClr val="1F4E79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62" name="输出排队标题"/>
          <p:cNvSpPr/>
          <p:nvPr/>
        </p:nvSpPr>
        <p:spPr>
          <a:xfrm>
            <a:off x="4521200" y="18666790"/>
            <a:ext cx="29718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1F4E79"/>
                </a:solidFill>
                <a:latin typeface="微软雅黑"/>
                <a:ea typeface="微软雅黑"/>
              </a:rPr>
              <a:t>排队数量及待泊情况</a:t>
            </a:r>
          </a:p>
        </p:txBody>
      </p:sp>
      <p:sp>
        <p:nvSpPr>
          <p:cNvPr id="100064" name="输出物流"/>
          <p:cNvSpPr/>
          <p:nvPr/>
        </p:nvSpPr>
        <p:spPr>
          <a:xfrm>
            <a:off x="7874000" y="18590590"/>
            <a:ext cx="3149600" cy="558800"/>
          </a:xfrm>
          <a:prstGeom prst="roundRect">
            <a:avLst/>
          </a:prstGeom>
          <a:solidFill>
            <a:srgbClr val="FFFFFF"/>
          </a:solidFill>
          <a:ln>
            <a:solidFill>
              <a:srgbClr val="1F4E79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65" name="输出物流标题"/>
          <p:cNvSpPr/>
          <p:nvPr/>
        </p:nvSpPr>
        <p:spPr>
          <a:xfrm>
            <a:off x="7975600" y="18666790"/>
            <a:ext cx="29464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1F4E79"/>
                </a:solidFill>
                <a:latin typeface="微软雅黑"/>
                <a:ea typeface="微软雅黑"/>
              </a:rPr>
              <a:t>物流整体时间与成本</a:t>
            </a:r>
          </a:p>
        </p:txBody>
      </p:sp>
      <p:sp>
        <p:nvSpPr>
          <p:cNvPr id="100067" name="输出运力需求"/>
          <p:cNvSpPr/>
          <p:nvPr/>
        </p:nvSpPr>
        <p:spPr>
          <a:xfrm>
            <a:off x="965200" y="19273850"/>
            <a:ext cx="3175000" cy="591795"/>
          </a:xfrm>
          <a:prstGeom prst="roundRect">
            <a:avLst/>
          </a:prstGeom>
          <a:solidFill>
            <a:srgbClr val="FFFFFF"/>
          </a:solidFill>
          <a:ln>
            <a:solidFill>
              <a:srgbClr val="1F4E79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68" name="输出运力需求标题"/>
          <p:cNvSpPr/>
          <p:nvPr/>
        </p:nvSpPr>
        <p:spPr>
          <a:xfrm>
            <a:off x="1066800" y="19350050"/>
            <a:ext cx="29718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1F4E79"/>
                </a:solidFill>
                <a:latin typeface="微软雅黑"/>
                <a:ea typeface="微软雅黑"/>
              </a:rPr>
              <a:t>运力与运输需求折减</a:t>
            </a:r>
          </a:p>
        </p:txBody>
      </p:sp>
      <p:sp>
        <p:nvSpPr>
          <p:cNvPr id="100070" name="输出锚地"/>
          <p:cNvSpPr/>
          <p:nvPr/>
        </p:nvSpPr>
        <p:spPr>
          <a:xfrm>
            <a:off x="4419600" y="19273850"/>
            <a:ext cx="3175000" cy="591795"/>
          </a:xfrm>
          <a:prstGeom prst="roundRect">
            <a:avLst/>
          </a:prstGeom>
          <a:solidFill>
            <a:srgbClr val="FFFFFF"/>
          </a:solidFill>
          <a:ln>
            <a:solidFill>
              <a:srgbClr val="1F4E79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71" name="输出锚地标题"/>
          <p:cNvSpPr/>
          <p:nvPr/>
        </p:nvSpPr>
        <p:spPr>
          <a:xfrm>
            <a:off x="4521200" y="19350050"/>
            <a:ext cx="29718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1F4E79"/>
                </a:solidFill>
                <a:latin typeface="微软雅黑"/>
                <a:ea typeface="微软雅黑"/>
              </a:rPr>
              <a:t>等待时间及服务水平</a:t>
            </a:r>
          </a:p>
        </p:txBody>
      </p:sp>
      <p:sp>
        <p:nvSpPr>
          <p:cNvPr id="100073" name="输出恢复"/>
          <p:cNvSpPr/>
          <p:nvPr/>
        </p:nvSpPr>
        <p:spPr>
          <a:xfrm>
            <a:off x="7874000" y="19273850"/>
            <a:ext cx="3149600" cy="591795"/>
          </a:xfrm>
          <a:prstGeom prst="roundRect">
            <a:avLst/>
          </a:prstGeom>
          <a:solidFill>
            <a:srgbClr val="FFFFFF"/>
          </a:solidFill>
          <a:ln>
            <a:solidFill>
              <a:srgbClr val="1F4E79"/>
            </a:solidFill>
          </a:ln>
        </p:spPr>
        <p:txBody>
          <a:bodyPr lIns="101600" tIns="101600" rIns="101600" bIns="1016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>
              <a:solidFill>
                <a:srgbClr val="24445F"/>
              </a:solidFill>
              <a:latin typeface="微软雅黑"/>
              <a:ea typeface="微软雅黑"/>
            </a:endParaRPr>
          </a:p>
        </p:txBody>
      </p:sp>
      <p:sp>
        <p:nvSpPr>
          <p:cNvPr id="100074" name="输出恢复标题"/>
          <p:cNvSpPr/>
          <p:nvPr/>
        </p:nvSpPr>
        <p:spPr>
          <a:xfrm>
            <a:off x="7975600" y="19350050"/>
            <a:ext cx="2946400" cy="431800"/>
          </a:xfrm>
          <a:prstGeom prst="rect">
            <a:avLst/>
          </a:prstGeom>
          <a:noFill/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1F4E79"/>
                </a:solidFill>
                <a:latin typeface="微软雅黑"/>
                <a:ea typeface="微软雅黑"/>
              </a:rPr>
              <a:t>积压消散与运行恢复</a:t>
            </a:r>
          </a:p>
        </p:txBody>
      </p:sp>
      <p:sp>
        <p:nvSpPr>
          <p:cNvPr id="100076" name="子课题4接口"/>
          <p:cNvSpPr/>
          <p:nvPr/>
        </p:nvSpPr>
        <p:spPr>
          <a:xfrm>
            <a:off x="965200" y="20030770"/>
            <a:ext cx="10058400" cy="482600"/>
          </a:xfrm>
          <a:prstGeom prst="roundRect">
            <a:avLst/>
          </a:prstGeom>
          <a:solidFill>
            <a:srgbClr val="DCEAF7"/>
          </a:solidFill>
          <a:ln>
            <a:noFill/>
          </a:ln>
        </p:spPr>
        <p:txBody>
          <a:bodyPr lIns="25400" tIns="25400" rIns="25400" bIns="254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900" b="1">
                <a:solidFill>
                  <a:srgbClr val="1F4E79"/>
                </a:solidFill>
                <a:latin typeface="微软雅黑"/>
                <a:ea typeface="微软雅黑"/>
              </a:rPr>
              <a:t>输出分货类运输量、时间与成本，支撑子课题4产业链响应传导映射及量化测度</a:t>
            </a:r>
          </a:p>
        </p:txBody>
      </p:sp>
      <p:sp>
        <p:nvSpPr>
          <p:cNvPr id="100078" name="锚地辅助约束说明"/>
          <p:cNvSpPr txBox="1"/>
          <p:nvPr/>
        </p:nvSpPr>
        <p:spPr>
          <a:xfrm>
            <a:off x="965200" y="7287590"/>
            <a:ext cx="10058400" cy="304800"/>
          </a:xfrm>
          <a:prstGeom prst="rect">
            <a:avLst/>
          </a:prstGeom>
          <a:noFill/>
          <a:ln>
            <a:noFill/>
          </a:ln>
        </p:spPr>
        <p:txBody>
          <a:bodyPr lIns="12700" tIns="12700" rIns="12700" bIns="1270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dirty="0" err="1">
                <a:solidFill>
                  <a:srgbClr val="617588"/>
                </a:solidFill>
                <a:latin typeface="微软雅黑"/>
                <a:ea typeface="微软雅黑"/>
              </a:rPr>
              <a:t>辅助考虑：锚地布置、容量及利用情况对船舶待泊组织和排队等待的影响</a:t>
            </a:r>
            <a:r>
              <a:rPr lang="en-US" sz="1800" dirty="0">
                <a:solidFill>
                  <a:srgbClr val="617588"/>
                </a:solidFill>
                <a:latin typeface="微软雅黑"/>
                <a:ea typeface="微软雅黑"/>
              </a:rPr>
              <a:t>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8575" dist="21299" dir="3806097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8575" dist="21299" dir="3806097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8575" dist="21299" dir="3806097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840ae5c-a96c-4873-9eff-317269bfd30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596378BD0A034CA010BCA7B12858A4" ma:contentTypeVersion="14" ma:contentTypeDescription="Create a new document." ma:contentTypeScope="" ma:versionID="9369bf9e028bb3ca07af097fb0267f78">
  <xsd:schema xmlns:xsd="http://www.w3.org/2001/XMLSchema" xmlns:xs="http://www.w3.org/2001/XMLSchema" xmlns:p="http://schemas.microsoft.com/office/2006/metadata/properties" xmlns:ns3="2840ae5c-a96c-4873-9eff-317269bfd306" targetNamespace="http://schemas.microsoft.com/office/2006/metadata/properties" ma:root="true" ma:fieldsID="63f35e9d30a0212470227851159404e3" ns3:_="">
    <xsd:import namespace="2840ae5c-a96c-4873-9eff-317269bfd306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LengthInSeconds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840ae5c-a96c-4873-9eff-317269bfd30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2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6" nillable="true" ma:displayName="Location" ma:description="" ma:indexed="true" ma:internalName="MediaServiceLocation" ma:readOnly="true">
      <xsd:simpleType>
        <xsd:restriction base="dms:Text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ObjectDetectorVersions" ma:index="1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19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13D5EB6-ED5A-4013-BAAD-2CE11AACDC8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E0766A0-2E15-467E-82A8-07DF070064B1}">
  <ds:schemaRefs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terms/"/>
    <ds:schemaRef ds:uri="http://purl.org/dc/elements/1.1/"/>
    <ds:schemaRef ds:uri="http://schemas.microsoft.com/office/2006/metadata/properties"/>
    <ds:schemaRef ds:uri="2840ae5c-a96c-4873-9eff-317269bfd306"/>
    <ds:schemaRef ds:uri="http://schemas.microsoft.com/office/infopath/2007/PartnerControl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650E56E-0C26-4510-AFD8-606AF34A3A4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840ae5c-a96c-4873-9eff-317269bfd3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174</Words>
  <Application>Microsoft Office PowerPoint</Application>
  <PresentationFormat>自定义</PresentationFormat>
  <Paragraphs>54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微软雅黑</vt:lpstr>
      <vt:lpstr>Calibri</vt:lpstr>
      <vt:lpstr>ChatGPT</vt:lpstr>
      <vt:lpstr>ChatGPT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子课题3 技术路线图</dc:title>
  <dc:subject/>
  <dc:creator>xindodo</dc:creator>
  <cp:keywords/>
  <dc:description>generated using python-pptx</dc:description>
  <cp:lastModifiedBy>Xin Zhao</cp:lastModifiedBy>
  <cp:revision>19</cp:revision>
  <dcterms:created xsi:type="dcterms:W3CDTF">2013-01-27T09:14:16Z</dcterms:created>
  <dcterms:modified xsi:type="dcterms:W3CDTF">2026-10-09T10:47:46Z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0x0101003E596378BD0A034CA010BCA7B12858A4</vt:lpwstr>
  </property>
  <property fmtid="{D5CDD505-2E9C-101B-9397-08002B2CF9AE}" pid="3" name="OfficeCLI.Version">
    <vt:lpwstr>1.0.135</vt:lpwstr>
  </property>
  <property fmtid="{D5CDD505-2E9C-101B-9397-08002B2CF9AE}" pid="4" name="OfficeCLI.LastModified">
    <vt:lpwstr>2026-10-09T09:55:01Z</vt:lpwstr>
  </property>
</Properties>
</file>