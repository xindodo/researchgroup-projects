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4" r:id="rId5"/>
  </p:sldMasterIdLst>
  <p:notesMasterIdLst>
    <p:notesMasterId r:id="rId7"/>
  </p:notesMasterIdLst>
  <p:sldIdLst>
    <p:sldId id="260" r:id="rId6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138" y="58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本页以施工约束下的运输能力、排队规模、分货类等待及周转造成的运力折减为第一项主线。锚地位置、容量、适用船型及进出耗时作为排队与待泊过程中的辅助约束，以现有或规划配置为输入，仅在容量接近饱和或不足时补充情景检验，不开展独立锚地选址布局优化。锚地利用结果并入排队与待泊状态。物流时间与成本、需求反馈及与子课题1、2、4的接口保持衔接。能力与实际通过量分开，需求折减、延后与转移分别核算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总标题"/>
          <p:cNvSpPr/>
          <p:nvPr/>
        </p:nvSpPr>
        <p:spPr>
          <a:xfrm>
            <a:off x="635000" y="330200"/>
            <a:ext cx="10718800" cy="635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>
                <a:solidFill>
                  <a:srgbClr val="1F4E79"/>
                </a:solidFill>
                <a:latin typeface="微软雅黑"/>
                <a:ea typeface="微软雅黑"/>
              </a:rPr>
              <a:t>子课题3  技术路线图</a:t>
            </a:r>
          </a:p>
        </p:txBody>
      </p:sp>
      <p:sp>
        <p:nvSpPr>
          <p:cNvPr id="100001" name="研究题目"/>
          <p:cNvSpPr/>
          <p:nvPr/>
        </p:nvSpPr>
        <p:spPr>
          <a:xfrm>
            <a:off x="635000" y="1041400"/>
            <a:ext cx="10718800" cy="4826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24445F"/>
                </a:solidFill>
                <a:latin typeface="微软雅黑"/>
                <a:ea typeface="微软雅黑"/>
              </a:rPr>
              <a:t>枢纽施工扰动下航运系统运输能力与需求波动响应研究</a:t>
            </a:r>
          </a:p>
        </p:txBody>
      </p:sp>
      <p:sp>
        <p:nvSpPr>
          <p:cNvPr id="100002" name="研究基础与数据支撑"/>
          <p:cNvSpPr/>
          <p:nvPr/>
        </p:nvSpPr>
        <p:spPr>
          <a:xfrm>
            <a:off x="635000" y="1803400"/>
            <a:ext cx="10718800" cy="4140200"/>
          </a:xfrm>
          <a:prstGeom prst="roundRect">
            <a:avLst/>
          </a:prstGeom>
          <a:solidFill>
            <a:srgbClr val="FFF8F1"/>
          </a:solidFill>
          <a:ln>
            <a:solidFill>
              <a:srgbClr val="C55A11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03" name="研究基础与数据支撑标题"/>
          <p:cNvSpPr/>
          <p:nvPr/>
        </p:nvSpPr>
        <p:spPr>
          <a:xfrm>
            <a:off x="787400" y="1930400"/>
            <a:ext cx="10414000" cy="5588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研究基础与数据支撑</a:t>
            </a:r>
          </a:p>
        </p:txBody>
      </p:sp>
      <p:sp>
        <p:nvSpPr>
          <p:cNvPr id="100004" name="子课题1输入"/>
          <p:cNvSpPr/>
          <p:nvPr/>
        </p:nvSpPr>
        <p:spPr>
          <a:xfrm>
            <a:off x="965200" y="2667000"/>
            <a:ext cx="4953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55A11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05" name="子课题1输入标题"/>
          <p:cNvSpPr/>
          <p:nvPr/>
        </p:nvSpPr>
        <p:spPr>
          <a:xfrm>
            <a:off x="1066800" y="2743200"/>
            <a:ext cx="4749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子课题1：系统特征与常态基准</a:t>
            </a:r>
          </a:p>
        </p:txBody>
      </p:sp>
      <p:sp>
        <p:nvSpPr>
          <p:cNvPr id="100006" name="子课题1输入正文"/>
          <p:cNvSpPr/>
          <p:nvPr/>
        </p:nvSpPr>
        <p:spPr>
          <a:xfrm>
            <a:off x="1066800" y="3213100"/>
            <a:ext cx="4749800" cy="800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港航网络、重点货类与流向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常态运行特征、基准运输需求</a:t>
            </a:r>
          </a:p>
        </p:txBody>
      </p:sp>
      <p:sp>
        <p:nvSpPr>
          <p:cNvPr id="100007" name="子课题2输入"/>
          <p:cNvSpPr/>
          <p:nvPr/>
        </p:nvSpPr>
        <p:spPr>
          <a:xfrm>
            <a:off x="6146800" y="2667000"/>
            <a:ext cx="4876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55A11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08" name="子课题2输入标题"/>
          <p:cNvSpPr/>
          <p:nvPr/>
        </p:nvSpPr>
        <p:spPr>
          <a:xfrm>
            <a:off x="6248400" y="2743200"/>
            <a:ext cx="46736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子课题2：扰动参数与作用机理</a:t>
            </a:r>
          </a:p>
        </p:txBody>
      </p:sp>
      <p:sp>
        <p:nvSpPr>
          <p:cNvPr id="100009" name="子课题2输入正文"/>
          <p:cNvSpPr/>
          <p:nvPr/>
        </p:nvSpPr>
        <p:spPr>
          <a:xfrm>
            <a:off x="6248400" y="3213100"/>
            <a:ext cx="4673600" cy="800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施工阶段、停限航及放行规则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通航尺度、能力约束、反馈路径</a:t>
            </a:r>
          </a:p>
        </p:txBody>
      </p:sp>
      <p:sp>
        <p:nvSpPr>
          <p:cNvPr id="100010" name="运行数据"/>
          <p:cNvSpPr/>
          <p:nvPr/>
        </p:nvSpPr>
        <p:spPr>
          <a:xfrm>
            <a:off x="965200" y="4267200"/>
            <a:ext cx="4953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55A11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1" name="运行数据标题"/>
          <p:cNvSpPr/>
          <p:nvPr/>
        </p:nvSpPr>
        <p:spPr>
          <a:xfrm>
            <a:off x="1066800" y="4343400"/>
            <a:ext cx="4749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航运运行与物流数据</a:t>
            </a:r>
          </a:p>
        </p:txBody>
      </p:sp>
      <p:sp>
        <p:nvSpPr>
          <p:cNvPr id="100012" name="运行数据正文"/>
          <p:cNvSpPr/>
          <p:nvPr/>
        </p:nvSpPr>
        <p:spPr>
          <a:xfrm>
            <a:off x="1066800" y="4813300"/>
            <a:ext cx="4749800" cy="800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AIS、过闸、到达与排队、船型载重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港口作业、物流时间与费用记录</a:t>
            </a:r>
          </a:p>
        </p:txBody>
      </p:sp>
      <p:sp>
        <p:nvSpPr>
          <p:cNvPr id="100013" name="锚地与检验数据"/>
          <p:cNvSpPr/>
          <p:nvPr/>
        </p:nvSpPr>
        <p:spPr>
          <a:xfrm>
            <a:off x="6146800" y="4267200"/>
            <a:ext cx="4876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55A11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4" name="锚地与检验数据标题"/>
          <p:cNvSpPr/>
          <p:nvPr/>
        </p:nvSpPr>
        <p:spPr>
          <a:xfrm>
            <a:off x="6248400" y="4343400"/>
            <a:ext cx="46736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运行组织与事件检验数据</a:t>
            </a:r>
          </a:p>
        </p:txBody>
      </p:sp>
      <p:sp>
        <p:nvSpPr>
          <p:cNvPr id="100015" name="锚地与检验数据正文"/>
          <p:cNvSpPr/>
          <p:nvPr/>
        </p:nvSpPr>
        <p:spPr>
          <a:xfrm>
            <a:off x="6248400" y="4813300"/>
            <a:ext cx="4673600" cy="800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发运与待泊组织、典型及独立事件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锚地位置容量、占用及进出记录</a:t>
            </a:r>
          </a:p>
        </p:txBody>
      </p:sp>
      <p:sp>
        <p:nvSpPr>
          <p:cNvPr id="100016" name="数据进入模型"/>
          <p:cNvSpPr/>
          <p:nvPr/>
        </p:nvSpPr>
        <p:spPr>
          <a:xfrm>
            <a:off x="5867400" y="6019800"/>
            <a:ext cx="381000" cy="304800"/>
          </a:xfrm>
          <a:prstGeom prst="downArrow">
            <a:avLst/>
          </a:prstGeom>
          <a:solidFill>
            <a:srgbClr val="537A9F"/>
          </a:solidFill>
          <a:ln>
            <a:noFill/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7" name="研究一"/>
          <p:cNvSpPr/>
          <p:nvPr/>
        </p:nvSpPr>
        <p:spPr>
          <a:xfrm>
            <a:off x="635000" y="6451600"/>
            <a:ext cx="10718800" cy="3860800"/>
          </a:xfrm>
          <a:prstGeom prst="roundRect">
            <a:avLst/>
          </a:prstGeom>
          <a:solidFill>
            <a:srgbClr val="F0F6FC"/>
          </a:solidFill>
          <a:ln>
            <a:solidFill>
              <a:srgbClr val="2E75B6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8" name="研究一标题"/>
          <p:cNvSpPr/>
          <p:nvPr/>
        </p:nvSpPr>
        <p:spPr>
          <a:xfrm>
            <a:off x="787400" y="6578600"/>
            <a:ext cx="10414000" cy="558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① 施工约束下航运运输能力与排队响应</a:t>
            </a:r>
          </a:p>
        </p:txBody>
      </p:sp>
      <p:sp>
        <p:nvSpPr>
          <p:cNvPr id="100019" name="通过能力"/>
          <p:cNvSpPr/>
          <p:nvPr/>
        </p:nvSpPr>
        <p:spPr>
          <a:xfrm>
            <a:off x="965200" y="7340600"/>
            <a:ext cx="31750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20" name="通过能力标题"/>
          <p:cNvSpPr/>
          <p:nvPr/>
        </p:nvSpPr>
        <p:spPr>
          <a:xfrm>
            <a:off x="1066800" y="7416800"/>
            <a:ext cx="2971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E75B6"/>
                </a:solidFill>
                <a:latin typeface="微软雅黑"/>
                <a:ea typeface="微软雅黑"/>
              </a:rPr>
              <a:t>多通道有效运输能力</a:t>
            </a:r>
          </a:p>
        </p:txBody>
      </p:sp>
      <p:sp>
        <p:nvSpPr>
          <p:cNvPr id="100021" name="通过能力正文"/>
          <p:cNvSpPr/>
          <p:nvPr/>
        </p:nvSpPr>
        <p:spPr>
          <a:xfrm>
            <a:off x="1066800" y="7886700"/>
            <a:ext cx="2971800" cy="1054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通航约束与船型载重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过闸组织与通道替代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船舶数与货运量换算</a:t>
            </a:r>
          </a:p>
        </p:txBody>
      </p:sp>
      <p:sp>
        <p:nvSpPr>
          <p:cNvPr id="100022" name="排队锚地"/>
          <p:cNvSpPr/>
          <p:nvPr/>
        </p:nvSpPr>
        <p:spPr>
          <a:xfrm>
            <a:off x="4419600" y="7340600"/>
            <a:ext cx="31750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23" name="排队锚地标题"/>
          <p:cNvSpPr/>
          <p:nvPr/>
        </p:nvSpPr>
        <p:spPr>
          <a:xfrm>
            <a:off x="4521200" y="7416800"/>
            <a:ext cx="2971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E75B6"/>
                </a:solidFill>
                <a:latin typeface="微软雅黑"/>
                <a:ea typeface="微软雅黑"/>
              </a:rPr>
              <a:t>排队规模与等待响应</a:t>
            </a:r>
          </a:p>
        </p:txBody>
      </p:sp>
      <p:sp>
        <p:nvSpPr>
          <p:cNvPr id="100024" name="排队锚地正文"/>
          <p:cNvSpPr/>
          <p:nvPr/>
        </p:nvSpPr>
        <p:spPr>
          <a:xfrm>
            <a:off x="4521200" y="7886700"/>
            <a:ext cx="2971800" cy="1054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到达—排队—过闸过程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排队船舶数量变化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分货类等待时间</a:t>
            </a:r>
          </a:p>
        </p:txBody>
      </p:sp>
      <p:sp>
        <p:nvSpPr>
          <p:cNvPr id="100025" name="运力折减"/>
          <p:cNvSpPr/>
          <p:nvPr/>
        </p:nvSpPr>
        <p:spPr>
          <a:xfrm>
            <a:off x="7874000" y="7340600"/>
            <a:ext cx="31496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26" name="运力折减标题"/>
          <p:cNvSpPr/>
          <p:nvPr/>
        </p:nvSpPr>
        <p:spPr>
          <a:xfrm>
            <a:off x="7975600" y="7416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E75B6"/>
                </a:solidFill>
                <a:latin typeface="微软雅黑"/>
                <a:ea typeface="微软雅黑"/>
              </a:rPr>
              <a:t>周转与可用运力</a:t>
            </a:r>
          </a:p>
        </p:txBody>
      </p:sp>
      <p:sp>
        <p:nvSpPr>
          <p:cNvPr id="100027" name="运力折减正文"/>
          <p:cNvSpPr/>
          <p:nvPr/>
        </p:nvSpPr>
        <p:spPr>
          <a:xfrm>
            <a:off x="7975600" y="7886700"/>
            <a:ext cx="2946400" cy="1054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等待延长与周转变化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船舶周转与港航衔接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运力折减及运行反馈</a:t>
            </a:r>
          </a:p>
        </p:txBody>
      </p:sp>
      <p:sp>
        <p:nvSpPr>
          <p:cNvPr id="100028" name="模型一"/>
          <p:cNvSpPr/>
          <p:nvPr/>
        </p:nvSpPr>
        <p:spPr>
          <a:xfrm>
            <a:off x="965200" y="9321800"/>
            <a:ext cx="10058400" cy="711200"/>
          </a:xfrm>
          <a:prstGeom prst="roundRect">
            <a:avLst/>
          </a:prstGeom>
          <a:solidFill>
            <a:srgbClr val="DCEAF7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1F4E79"/>
                </a:solidFill>
                <a:latin typeface="微软雅黑"/>
                <a:ea typeface="微软雅黑"/>
              </a:rPr>
              <a:t>航运运输能力与排队响应模型：能力约束 → 排队与等待 → 周转及运力</a:t>
            </a:r>
          </a:p>
        </p:txBody>
      </p:sp>
      <p:sp>
        <p:nvSpPr>
          <p:cNvPr id="100029" name="运行进入成本"/>
          <p:cNvSpPr/>
          <p:nvPr/>
        </p:nvSpPr>
        <p:spPr>
          <a:xfrm>
            <a:off x="5867400" y="10388600"/>
            <a:ext cx="381000" cy="304800"/>
          </a:xfrm>
          <a:prstGeom prst="downArrow">
            <a:avLst/>
          </a:prstGeom>
          <a:solidFill>
            <a:srgbClr val="537A9F"/>
          </a:solidFill>
          <a:ln>
            <a:noFill/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0" name="研究二"/>
          <p:cNvSpPr/>
          <p:nvPr/>
        </p:nvSpPr>
        <p:spPr>
          <a:xfrm>
            <a:off x="635000" y="10820400"/>
            <a:ext cx="10718800" cy="3454400"/>
          </a:xfrm>
          <a:prstGeom prst="roundRect">
            <a:avLst/>
          </a:prstGeom>
          <a:solidFill>
            <a:srgbClr val="F1F8F3"/>
          </a:solidFill>
          <a:ln>
            <a:solidFill>
              <a:srgbClr val="238653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1" name="研究二标题"/>
          <p:cNvSpPr/>
          <p:nvPr/>
        </p:nvSpPr>
        <p:spPr>
          <a:xfrm>
            <a:off x="787400" y="10947400"/>
            <a:ext cx="10414000" cy="558800"/>
          </a:xfrm>
          <a:prstGeom prst="roundRect">
            <a:avLst/>
          </a:prstGeom>
          <a:solidFill>
            <a:srgbClr val="238653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② 排队延误下航运物流时间与成本响应</a:t>
            </a:r>
          </a:p>
        </p:txBody>
      </p:sp>
      <p:sp>
        <p:nvSpPr>
          <p:cNvPr id="100032" name="全程时间"/>
          <p:cNvSpPr/>
          <p:nvPr/>
        </p:nvSpPr>
        <p:spPr>
          <a:xfrm>
            <a:off x="965200" y="11709400"/>
            <a:ext cx="4953000" cy="1498600"/>
          </a:xfrm>
          <a:prstGeom prst="roundRect">
            <a:avLst/>
          </a:prstGeom>
          <a:solidFill>
            <a:srgbClr val="FFFFFF"/>
          </a:solidFill>
          <a:ln>
            <a:solidFill>
              <a:srgbClr val="238653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3" name="全程时间标题"/>
          <p:cNvSpPr/>
          <p:nvPr/>
        </p:nvSpPr>
        <p:spPr>
          <a:xfrm>
            <a:off x="1066800" y="11785600"/>
            <a:ext cx="4749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38653"/>
                </a:solidFill>
                <a:latin typeface="微软雅黑"/>
                <a:ea typeface="微软雅黑"/>
              </a:rPr>
              <a:t>物流全过程时间</a:t>
            </a:r>
          </a:p>
        </p:txBody>
      </p:sp>
      <p:sp>
        <p:nvSpPr>
          <p:cNvPr id="100034" name="全程时间正文"/>
          <p:cNvSpPr/>
          <p:nvPr/>
        </p:nvSpPr>
        <p:spPr>
          <a:xfrm>
            <a:off x="1066800" y="12255500"/>
            <a:ext cx="4749800" cy="876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航行、待闸、锚泊、装卸与衔接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分货类物流时长、到货延迟与可靠性</a:t>
            </a:r>
          </a:p>
        </p:txBody>
      </p:sp>
      <p:sp>
        <p:nvSpPr>
          <p:cNvPr id="100035" name="全程成本"/>
          <p:cNvSpPr/>
          <p:nvPr/>
        </p:nvSpPr>
        <p:spPr>
          <a:xfrm>
            <a:off x="6146800" y="11709400"/>
            <a:ext cx="4876800" cy="1498600"/>
          </a:xfrm>
          <a:prstGeom prst="roundRect">
            <a:avLst/>
          </a:prstGeom>
          <a:solidFill>
            <a:srgbClr val="FFFFFF"/>
          </a:solidFill>
          <a:ln>
            <a:solidFill>
              <a:srgbClr val="238653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6" name="全程成本标题"/>
          <p:cNvSpPr/>
          <p:nvPr/>
        </p:nvSpPr>
        <p:spPr>
          <a:xfrm>
            <a:off x="6248400" y="11785600"/>
            <a:ext cx="46736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38653"/>
                </a:solidFill>
                <a:latin typeface="微软雅黑"/>
                <a:ea typeface="微软雅黑"/>
              </a:rPr>
              <a:t>物流费用与广义成本</a:t>
            </a:r>
          </a:p>
        </p:txBody>
      </p:sp>
      <p:sp>
        <p:nvSpPr>
          <p:cNvPr id="100037" name="全程成本正文"/>
          <p:cNvSpPr/>
          <p:nvPr/>
        </p:nvSpPr>
        <p:spPr>
          <a:xfrm>
            <a:off x="6248400" y="12255500"/>
            <a:ext cx="4673600" cy="876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航行、等待、锚泊、装卸及转运费用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直接费用与货物时间价值分别核算</a:t>
            </a:r>
          </a:p>
        </p:txBody>
      </p:sp>
      <p:sp>
        <p:nvSpPr>
          <p:cNvPr id="100038" name="模型二"/>
          <p:cNvSpPr/>
          <p:nvPr/>
        </p:nvSpPr>
        <p:spPr>
          <a:xfrm>
            <a:off x="965200" y="13411200"/>
            <a:ext cx="10058400" cy="609600"/>
          </a:xfrm>
          <a:prstGeom prst="roundRect">
            <a:avLst/>
          </a:prstGeom>
          <a:solidFill>
            <a:srgbClr val="E0EFE5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643F"/>
                </a:solidFill>
                <a:latin typeface="微软雅黑"/>
                <a:ea typeface="微软雅黑"/>
              </a:rPr>
              <a:t>物流时间与成本响应模型：运输负荷／有效能力 → 延误与成本阻抗</a:t>
            </a:r>
          </a:p>
        </p:txBody>
      </p:sp>
      <p:sp>
        <p:nvSpPr>
          <p:cNvPr id="100039" name="成本进入需求"/>
          <p:cNvSpPr/>
          <p:nvPr/>
        </p:nvSpPr>
        <p:spPr>
          <a:xfrm>
            <a:off x="5867400" y="14351000"/>
            <a:ext cx="381000" cy="304800"/>
          </a:xfrm>
          <a:prstGeom prst="downArrow">
            <a:avLst/>
          </a:prstGeom>
          <a:solidFill>
            <a:srgbClr val="238653"/>
          </a:solidFill>
          <a:ln>
            <a:noFill/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0" name="研究三"/>
          <p:cNvSpPr/>
          <p:nvPr/>
        </p:nvSpPr>
        <p:spPr>
          <a:xfrm>
            <a:off x="635000" y="14782800"/>
            <a:ext cx="10718800" cy="4140200"/>
          </a:xfrm>
          <a:prstGeom prst="roundRect">
            <a:avLst/>
          </a:prstGeom>
          <a:solidFill>
            <a:srgbClr val="FFFAE9"/>
          </a:solidFill>
          <a:ln>
            <a:solidFill>
              <a:srgbClr val="BB8C00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1" name="研究三标题"/>
          <p:cNvSpPr/>
          <p:nvPr/>
        </p:nvSpPr>
        <p:spPr>
          <a:xfrm>
            <a:off x="787400" y="14909800"/>
            <a:ext cx="10414000" cy="558800"/>
          </a:xfrm>
          <a:prstGeom prst="roundRect">
            <a:avLst/>
          </a:prstGeom>
          <a:solidFill>
            <a:srgbClr val="BB8C00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③ 需求反馈与运输能力—需求互动耦合推演</a:t>
            </a:r>
          </a:p>
        </p:txBody>
      </p:sp>
      <p:sp>
        <p:nvSpPr>
          <p:cNvPr id="100042" name="需求反馈"/>
          <p:cNvSpPr/>
          <p:nvPr/>
        </p:nvSpPr>
        <p:spPr>
          <a:xfrm>
            <a:off x="965200" y="15671800"/>
            <a:ext cx="4953000" cy="1473200"/>
          </a:xfrm>
          <a:prstGeom prst="roundRect">
            <a:avLst/>
          </a:prstGeom>
          <a:solidFill>
            <a:srgbClr val="FFFFFF"/>
          </a:solidFill>
          <a:ln>
            <a:solidFill>
              <a:srgbClr val="A77C00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3" name="需求反馈标题"/>
          <p:cNvSpPr/>
          <p:nvPr/>
        </p:nvSpPr>
        <p:spPr>
          <a:xfrm>
            <a:off x="1066800" y="15748000"/>
            <a:ext cx="4749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A77C00"/>
                </a:solidFill>
                <a:latin typeface="微软雅黑"/>
                <a:ea typeface="微软雅黑"/>
              </a:rPr>
              <a:t>时间与成本驱动的需求调整</a:t>
            </a:r>
          </a:p>
        </p:txBody>
      </p:sp>
      <p:sp>
        <p:nvSpPr>
          <p:cNvPr id="100044" name="需求反馈正文"/>
          <p:cNvSpPr/>
          <p:nvPr/>
        </p:nvSpPr>
        <p:spPr>
          <a:xfrm>
            <a:off x="1066800" y="16217900"/>
            <a:ext cx="4749800" cy="850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提前／延后发运、通道转移与折减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子课题4反馈跨方式选择及需求更新</a:t>
            </a:r>
          </a:p>
        </p:txBody>
      </p:sp>
      <p:sp>
        <p:nvSpPr>
          <p:cNvPr id="100045" name="情景设置"/>
          <p:cNvSpPr/>
          <p:nvPr/>
        </p:nvSpPr>
        <p:spPr>
          <a:xfrm>
            <a:off x="6146800" y="15671800"/>
            <a:ext cx="4876800" cy="1473200"/>
          </a:xfrm>
          <a:prstGeom prst="roundRect">
            <a:avLst/>
          </a:prstGeom>
          <a:solidFill>
            <a:srgbClr val="FFFFFF"/>
          </a:solidFill>
          <a:ln>
            <a:solidFill>
              <a:srgbClr val="A77C00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6" name="情景设置标题"/>
          <p:cNvSpPr/>
          <p:nvPr/>
        </p:nvSpPr>
        <p:spPr>
          <a:xfrm>
            <a:off x="6248400" y="15748000"/>
            <a:ext cx="46736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A77C00"/>
                </a:solidFill>
                <a:latin typeface="微软雅黑"/>
                <a:ea typeface="微软雅黑"/>
              </a:rPr>
              <a:t>多扰动情景设置</a:t>
            </a:r>
          </a:p>
        </p:txBody>
      </p:sp>
      <p:sp>
        <p:nvSpPr>
          <p:cNvPr id="100047" name="情景设置正文"/>
          <p:cNvSpPr/>
          <p:nvPr/>
        </p:nvSpPr>
        <p:spPr>
          <a:xfrm>
            <a:off x="6248400" y="16217900"/>
            <a:ext cx="4673600" cy="850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施工强度与持续时间、初始需求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通道可用条件与运输组织规则</a:t>
            </a:r>
          </a:p>
        </p:txBody>
      </p:sp>
      <p:sp>
        <p:nvSpPr>
          <p:cNvPr id="100048" name="模型三"/>
          <p:cNvSpPr/>
          <p:nvPr/>
        </p:nvSpPr>
        <p:spPr>
          <a:xfrm>
            <a:off x="965200" y="17399000"/>
            <a:ext cx="10058400" cy="609600"/>
          </a:xfrm>
          <a:prstGeom prst="roundRect">
            <a:avLst/>
          </a:prstGeom>
          <a:solidFill>
            <a:srgbClr val="FFF0BA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765C00"/>
                </a:solidFill>
                <a:latin typeface="微软雅黑"/>
                <a:ea typeface="微软雅黑"/>
              </a:rPr>
              <a:t>能力—需求互动耦合模型：能力 → 排队 → 时间与成本 → 需求 → 到达流</a:t>
            </a:r>
          </a:p>
        </p:txBody>
      </p:sp>
      <p:sp>
        <p:nvSpPr>
          <p:cNvPr id="100049" name="校准检验"/>
          <p:cNvSpPr/>
          <p:nvPr/>
        </p:nvSpPr>
        <p:spPr>
          <a:xfrm>
            <a:off x="965200" y="18161000"/>
            <a:ext cx="10058400" cy="5334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765C00"/>
                </a:solidFill>
                <a:latin typeface="微软雅黑"/>
                <a:ea typeface="微软雅黑"/>
              </a:rPr>
              <a:t>典型事件校准 → 独立事件检验 → 情景对比与积压消散、服务恢复推演</a:t>
            </a:r>
          </a:p>
        </p:txBody>
      </p:sp>
      <p:cxnSp>
        <p:nvCxnSpPr>
          <p:cNvPr id="100050" name="反馈出线"/>
          <p:cNvCxnSpPr/>
          <p:nvPr/>
        </p:nvCxnSpPr>
        <p:spPr>
          <a:xfrm>
            <a:off x="11023600" y="17703800"/>
            <a:ext cx="660400" cy="0"/>
          </a:xfrm>
          <a:prstGeom prst="straightConnector1">
            <a:avLst/>
          </a:prstGeom>
          <a:ln w="25400">
            <a:solidFill>
              <a:srgbClr val="218653"/>
            </a:solidFill>
            <a:tailEnd type="none"/>
          </a:ln>
        </p:spPr>
      </p:cxnSp>
      <p:cxnSp>
        <p:nvCxnSpPr>
          <p:cNvPr id="100051" name="反馈回路"/>
          <p:cNvCxnSpPr/>
          <p:nvPr/>
        </p:nvCxnSpPr>
        <p:spPr>
          <a:xfrm>
            <a:off x="11684000" y="9677400"/>
            <a:ext cx="0" cy="8026400"/>
          </a:xfrm>
          <a:prstGeom prst="straightConnector1">
            <a:avLst/>
          </a:prstGeom>
          <a:ln w="25400">
            <a:solidFill>
              <a:srgbClr val="218653"/>
            </a:solidFill>
            <a:tailEnd type="none"/>
          </a:ln>
        </p:spPr>
      </p:cxnSp>
      <p:cxnSp>
        <p:nvCxnSpPr>
          <p:cNvPr id="100052" name="反馈入线"/>
          <p:cNvCxnSpPr/>
          <p:nvPr/>
        </p:nvCxnSpPr>
        <p:spPr>
          <a:xfrm>
            <a:off x="11023600" y="9677400"/>
            <a:ext cx="660400" cy="0"/>
          </a:xfrm>
          <a:prstGeom prst="straightConnector1">
            <a:avLst/>
          </a:prstGeom>
          <a:ln w="25400">
            <a:solidFill>
              <a:srgbClr val="218653"/>
            </a:solidFill>
            <a:tailEnd type="none"/>
          </a:ln>
        </p:spPr>
      </p:cxnSp>
      <p:sp>
        <p:nvSpPr>
          <p:cNvPr id="100053" name="反馈左箭头"/>
          <p:cNvSpPr/>
          <p:nvPr/>
        </p:nvSpPr>
        <p:spPr>
          <a:xfrm>
            <a:off x="10972800" y="9563100"/>
            <a:ext cx="304800" cy="228600"/>
          </a:xfrm>
          <a:prstGeom prst="leftArrow">
            <a:avLst/>
          </a:prstGeom>
          <a:solidFill>
            <a:srgbClr val="218653"/>
          </a:solidFill>
          <a:ln>
            <a:noFill/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4" name="反馈说明"/>
          <p:cNvSpPr/>
          <p:nvPr/>
        </p:nvSpPr>
        <p:spPr>
          <a:xfrm>
            <a:off x="11442700" y="11861800"/>
            <a:ext cx="482600" cy="416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需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求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与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达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馈</a:t>
            </a:r>
          </a:p>
        </p:txBody>
      </p:sp>
      <p:sp>
        <p:nvSpPr>
          <p:cNvPr id="100055" name="模型输出箭头"/>
          <p:cNvSpPr/>
          <p:nvPr/>
        </p:nvSpPr>
        <p:spPr>
          <a:xfrm>
            <a:off x="5867400" y="18999200"/>
            <a:ext cx="381000" cy="304800"/>
          </a:xfrm>
          <a:prstGeom prst="downArrow">
            <a:avLst/>
          </a:prstGeom>
          <a:solidFill>
            <a:srgbClr val="BB8C00"/>
          </a:solidFill>
          <a:ln>
            <a:noFill/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6" name="模型输出"/>
          <p:cNvSpPr/>
          <p:nvPr/>
        </p:nvSpPr>
        <p:spPr>
          <a:xfrm>
            <a:off x="635000" y="19431000"/>
            <a:ext cx="10718800" cy="4978400"/>
          </a:xfrm>
          <a:prstGeom prst="roundRect">
            <a:avLst/>
          </a:prstGeom>
          <a:solidFill>
            <a:srgbClr val="F0F6FC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7" name="模型输出标题"/>
          <p:cNvSpPr/>
          <p:nvPr/>
        </p:nvSpPr>
        <p:spPr>
          <a:xfrm>
            <a:off x="787400" y="19558000"/>
            <a:ext cx="10414000" cy="55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模型输出｜不同扰动情景下的航运响应量化结果</a:t>
            </a:r>
          </a:p>
        </p:txBody>
      </p:sp>
      <p:sp>
        <p:nvSpPr>
          <p:cNvPr id="100058" name="输出能力"/>
          <p:cNvSpPr/>
          <p:nvPr/>
        </p:nvSpPr>
        <p:spPr>
          <a:xfrm>
            <a:off x="965200" y="20320000"/>
            <a:ext cx="3175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9" name="输出能力标题"/>
          <p:cNvSpPr/>
          <p:nvPr/>
        </p:nvSpPr>
        <p:spPr>
          <a:xfrm>
            <a:off x="1066800" y="20396200"/>
            <a:ext cx="2971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通过能力与实际通过量</a:t>
            </a:r>
          </a:p>
        </p:txBody>
      </p:sp>
      <p:sp>
        <p:nvSpPr>
          <p:cNvPr id="100060" name="输出能力正文"/>
          <p:cNvSpPr/>
          <p:nvPr/>
        </p:nvSpPr>
        <p:spPr>
          <a:xfrm>
            <a:off x="1066800" y="20866100"/>
            <a:ext cx="2971800" cy="901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有效能力、实际船舶数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货运量及其变化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（艘/日、吨/日）</a:t>
            </a:r>
          </a:p>
        </p:txBody>
      </p:sp>
      <p:sp>
        <p:nvSpPr>
          <p:cNvPr id="100061" name="输出排队"/>
          <p:cNvSpPr/>
          <p:nvPr/>
        </p:nvSpPr>
        <p:spPr>
          <a:xfrm>
            <a:off x="4419600" y="20320000"/>
            <a:ext cx="3175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62" name="输出排队标题"/>
          <p:cNvSpPr/>
          <p:nvPr/>
        </p:nvSpPr>
        <p:spPr>
          <a:xfrm>
            <a:off x="4521200" y="20396200"/>
            <a:ext cx="2971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排队与待泊状态</a:t>
            </a:r>
          </a:p>
        </p:txBody>
      </p:sp>
      <p:sp>
        <p:nvSpPr>
          <p:cNvPr id="100063" name="输出排队正文"/>
          <p:cNvSpPr/>
          <p:nvPr/>
        </p:nvSpPr>
        <p:spPr>
          <a:xfrm>
            <a:off x="4521200" y="20866100"/>
            <a:ext cx="2971800" cy="901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排队船舶数量及变化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锚地占用量与利用率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超容量待泊规模</a:t>
            </a:r>
          </a:p>
        </p:txBody>
      </p:sp>
      <p:sp>
        <p:nvSpPr>
          <p:cNvPr id="100064" name="输出物流"/>
          <p:cNvSpPr/>
          <p:nvPr/>
        </p:nvSpPr>
        <p:spPr>
          <a:xfrm>
            <a:off x="7874000" y="20320000"/>
            <a:ext cx="31496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65" name="输出物流标题"/>
          <p:cNvSpPr/>
          <p:nvPr/>
        </p:nvSpPr>
        <p:spPr>
          <a:xfrm>
            <a:off x="7975600" y="20396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物流时间与成本</a:t>
            </a:r>
          </a:p>
        </p:txBody>
      </p:sp>
      <p:sp>
        <p:nvSpPr>
          <p:cNvPr id="100066" name="输出物流正文"/>
          <p:cNvSpPr/>
          <p:nvPr/>
        </p:nvSpPr>
        <p:spPr>
          <a:xfrm>
            <a:off x="7975600" y="20866100"/>
            <a:ext cx="2946400" cy="901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物流总时长、到货延迟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单位及总成本增幅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直接费用与广义成本</a:t>
            </a:r>
          </a:p>
        </p:txBody>
      </p:sp>
      <p:sp>
        <p:nvSpPr>
          <p:cNvPr id="100067" name="输出运力需求"/>
          <p:cNvSpPr/>
          <p:nvPr/>
        </p:nvSpPr>
        <p:spPr>
          <a:xfrm>
            <a:off x="965200" y="22047200"/>
            <a:ext cx="3175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68" name="输出运力需求标题"/>
          <p:cNvSpPr/>
          <p:nvPr/>
        </p:nvSpPr>
        <p:spPr>
          <a:xfrm>
            <a:off x="1066800" y="22123400"/>
            <a:ext cx="2971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运力与运输需求变化</a:t>
            </a:r>
          </a:p>
        </p:txBody>
      </p:sp>
      <p:sp>
        <p:nvSpPr>
          <p:cNvPr id="100069" name="输出运力需求正文"/>
          <p:cNvSpPr/>
          <p:nvPr/>
        </p:nvSpPr>
        <p:spPr>
          <a:xfrm>
            <a:off x="1066800" y="22593300"/>
            <a:ext cx="2971800" cy="901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可用运力及折减率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需求折减、延后与转移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积压及未满足需求</a:t>
            </a:r>
          </a:p>
        </p:txBody>
      </p:sp>
      <p:sp>
        <p:nvSpPr>
          <p:cNvPr id="100070" name="输出锚地"/>
          <p:cNvSpPr/>
          <p:nvPr/>
        </p:nvSpPr>
        <p:spPr>
          <a:xfrm>
            <a:off x="4419600" y="22047200"/>
            <a:ext cx="3175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71" name="输出锚地标题"/>
          <p:cNvSpPr/>
          <p:nvPr/>
        </p:nvSpPr>
        <p:spPr>
          <a:xfrm>
            <a:off x="4521200" y="22123400"/>
            <a:ext cx="29718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等待与交付可靠性</a:t>
            </a:r>
          </a:p>
        </p:txBody>
      </p:sp>
      <p:sp>
        <p:nvSpPr>
          <p:cNvPr id="100072" name="输出锚地正文"/>
          <p:cNvSpPr/>
          <p:nvPr/>
        </p:nvSpPr>
        <p:spPr>
          <a:xfrm>
            <a:off x="4521200" y="22593300"/>
            <a:ext cx="2971800" cy="901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平均／高分位等待时间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分货类等待时间变化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交付可靠性及变化</a:t>
            </a:r>
          </a:p>
        </p:txBody>
      </p:sp>
      <p:sp>
        <p:nvSpPr>
          <p:cNvPr id="100073" name="输出恢复"/>
          <p:cNvSpPr/>
          <p:nvPr/>
        </p:nvSpPr>
        <p:spPr>
          <a:xfrm>
            <a:off x="7874000" y="22047200"/>
            <a:ext cx="31496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txBody>
          <a:bodyPr lIns="101600" tIns="101600" rIns="101600" bIns="1016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74" name="输出恢复标题"/>
          <p:cNvSpPr/>
          <p:nvPr/>
        </p:nvSpPr>
        <p:spPr>
          <a:xfrm>
            <a:off x="7975600" y="22123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积压消散与服务恢复</a:t>
            </a:r>
          </a:p>
        </p:txBody>
      </p:sp>
      <p:sp>
        <p:nvSpPr>
          <p:cNvPr id="100075" name="输出恢复正文"/>
          <p:cNvSpPr/>
          <p:nvPr/>
        </p:nvSpPr>
        <p:spPr>
          <a:xfrm>
            <a:off x="7975600" y="22593300"/>
            <a:ext cx="2946400" cy="901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积压量及其变化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积压消散过程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运输服务恢复时间</a:t>
            </a:r>
          </a:p>
        </p:txBody>
      </p:sp>
      <p:sp>
        <p:nvSpPr>
          <p:cNvPr id="100076" name="子课题4接口"/>
          <p:cNvSpPr/>
          <p:nvPr/>
        </p:nvSpPr>
        <p:spPr>
          <a:xfrm>
            <a:off x="965200" y="23749000"/>
            <a:ext cx="10058400" cy="482600"/>
          </a:xfrm>
          <a:prstGeom prst="roundRect">
            <a:avLst/>
          </a:prstGeom>
          <a:solidFill>
            <a:srgbClr val="DCEAF7"/>
          </a:solidFill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>
                <a:solidFill>
                  <a:srgbClr val="1F4E79"/>
                </a:solidFill>
                <a:latin typeface="微软雅黑"/>
                <a:ea typeface="微软雅黑"/>
              </a:rPr>
              <a:t>按货类—起讫点—时间输出至子课题4，支撑产业链／供应链影响量化</a:t>
            </a:r>
          </a:p>
        </p:txBody>
      </p:sp>
      <p:sp>
        <p:nvSpPr>
          <p:cNvPr id="100077" name="口径说明"/>
          <p:cNvSpPr/>
          <p:nvPr/>
        </p:nvSpPr>
        <p:spPr>
          <a:xfrm>
            <a:off x="635000" y="24536400"/>
            <a:ext cx="10718800" cy="3810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66717B"/>
                </a:solidFill>
                <a:latin typeface="微软雅黑"/>
                <a:ea typeface="微软雅黑"/>
              </a:rPr>
              <a:t>口径：能力 ≠ 实际通过量；需求折减、延后与转移分别核算；数据为研究所需输入。</a:t>
            </a:r>
          </a:p>
        </p:txBody>
      </p:sp>
      <p:sp>
        <p:nvSpPr>
          <p:cNvPr id="100078" name="锚地辅助约束说明"/>
          <p:cNvSpPr txBox="1"/>
          <p:nvPr/>
        </p:nvSpPr>
        <p:spPr>
          <a:xfrm>
            <a:off x="965200" y="9017000"/>
            <a:ext cx="10058400" cy="304800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617588"/>
                </a:solidFill>
                <a:latin typeface="微软雅黑"/>
                <a:ea typeface="微软雅黑"/>
              </a:rPr>
              <a:t>辅助约束：锚地位置与容量、适用船型及进出耗时；必要时检验容量不足的影响。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250</Words>
  <Application>Microsoft Office PowerPoint</Application>
  <PresentationFormat>自定义</PresentationFormat>
  <Paragraphs>83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Calibri</vt:lpstr>
      <vt:lpstr>ChatGPT</vt:lpstr>
      <vt:lpstr>ChatGPT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Xin Zhao</cp:lastModifiedBy>
  <cp:revision>11</cp:revision>
  <dcterms:created xsi:type="dcterms:W3CDTF">2013-01-27T09:14:16Z</dcterms:created>
  <dcterms:modified xsi:type="dcterms:W3CDTF">2026-10-09T09:47:06Z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  <property fmtid="{D5CDD505-2E9C-101B-9397-08002B2CF9AE}" pid="3" name="OfficeCLI.Version">
    <vt:lpwstr>1.0.135</vt:lpwstr>
  </property>
  <property fmtid="{D5CDD505-2E9C-101B-9397-08002B2CF9AE}" pid="4" name="OfficeCLI.LastModified">
    <vt:lpwstr>2026-10-09T09:45:27Z</vt:lpwstr>
  </property>
</Properties>
</file>