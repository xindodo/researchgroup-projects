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</p:sldMasterIdLst>
  <p:notesMasterIdLst>
    <p:notesMasterId r:id="rId8"/>
  </p:notesMasterIdLst>
  <p:sldIdLst>
    <p:sldId id="257" r:id="rId6"/>
    <p:sldId id="258" r:id="rId7"/>
  </p:sldIdLst>
  <p:sldSz cx="12192000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 snapToObjects="1">
      <p:cViewPr>
        <p:scale>
          <a:sx n="33" d="100"/>
          <a:sy n="33" d="100"/>
        </p:scale>
        <p:origin x="3730" y="504"/>
      </p:cViewPr>
      <p:guideLst>
        <p:guide orient="horz" pos="79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本项目已讨论确定的子课题三研究内容绘制。研究边界限定为航运运行、运输服务、直接航运市场与经营经济响应，以及其主体行为反馈。子课题一提供多源数据与系统特征，子课题二提供级联机理与关联路径，子课题四开展区域及产业链响应分析，子课题五负责全链条模型集成与整体验证。空间经济整体模型与综合交通超级网络提供区域需求、网络背景和仿真基础；细粒度航运响应模型仍需独立构建、校准及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7828339"/>
            <a:ext cx="7772400" cy="54016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4279986"/>
            <a:ext cx="6400800" cy="64399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193330"/>
            <a:ext cx="7772400" cy="500499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680830"/>
            <a:ext cx="7772400" cy="551249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3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3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45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5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5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2" y="5880007"/>
            <a:ext cx="4038601" cy="166308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880007"/>
            <a:ext cx="4038601" cy="166308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5640830"/>
            <a:ext cx="4040188" cy="23508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5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7991659"/>
            <a:ext cx="4040188" cy="145191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5640830"/>
            <a:ext cx="4041775" cy="23508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5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7991659"/>
            <a:ext cx="4041775" cy="145191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003332"/>
            <a:ext cx="3008312" cy="42699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2" y="1003345"/>
            <a:ext cx="5111750" cy="2150748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73341"/>
            <a:ext cx="3008312" cy="17237485"/>
          </a:xfrm>
        </p:spPr>
        <p:txBody>
          <a:bodyPr/>
          <a:lstStyle>
            <a:lvl1pPr marL="0" indent="0">
              <a:buNone/>
              <a:defRPr sz="1401"/>
            </a:lvl1pPr>
            <a:lvl2pPr marL="457207" indent="0">
              <a:buNone/>
              <a:defRPr sz="1200"/>
            </a:lvl2pPr>
            <a:lvl3pPr marL="914415" indent="0">
              <a:buNone/>
              <a:defRPr sz="1001"/>
            </a:lvl3pPr>
            <a:lvl4pPr marL="1371622" indent="0">
              <a:buNone/>
              <a:defRPr sz="900"/>
            </a:lvl4pPr>
            <a:lvl5pPr marL="1828830" indent="0">
              <a:buNone/>
              <a:defRPr sz="900"/>
            </a:lvl5pPr>
            <a:lvl6pPr marL="2286037" indent="0">
              <a:buNone/>
              <a:defRPr sz="900"/>
            </a:lvl6pPr>
            <a:lvl7pPr marL="2743245" indent="0">
              <a:buNone/>
              <a:defRPr sz="900"/>
            </a:lvl7pPr>
            <a:lvl8pPr marL="3200452" indent="0">
              <a:buNone/>
              <a:defRPr sz="900"/>
            </a:lvl8pPr>
            <a:lvl9pPr marL="365765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17639982"/>
            <a:ext cx="5486400" cy="20825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2251664"/>
            <a:ext cx="5486400" cy="15119985"/>
          </a:xfrm>
        </p:spPr>
        <p:txBody>
          <a:bodyPr/>
          <a:lstStyle>
            <a:lvl1pPr marL="0" indent="0">
              <a:buNone/>
              <a:defRPr sz="3200"/>
            </a:lvl1pPr>
            <a:lvl2pPr marL="457207" indent="0">
              <a:buNone/>
              <a:defRPr sz="2800"/>
            </a:lvl2pPr>
            <a:lvl3pPr marL="914415" indent="0">
              <a:buNone/>
              <a:defRPr sz="2400"/>
            </a:lvl3pPr>
            <a:lvl4pPr marL="1371622" indent="0">
              <a:buNone/>
              <a:defRPr sz="2000"/>
            </a:lvl4pPr>
            <a:lvl5pPr marL="1828830" indent="0">
              <a:buNone/>
              <a:defRPr sz="2000"/>
            </a:lvl5pPr>
            <a:lvl6pPr marL="2286037" indent="0">
              <a:buNone/>
              <a:defRPr sz="2000"/>
            </a:lvl6pPr>
            <a:lvl7pPr marL="2743245" indent="0">
              <a:buNone/>
              <a:defRPr sz="2000"/>
            </a:lvl7pPr>
            <a:lvl8pPr marL="3200452" indent="0">
              <a:buNone/>
              <a:defRPr sz="2000"/>
            </a:lvl8pPr>
            <a:lvl9pPr marL="365765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19722482"/>
            <a:ext cx="5486400" cy="2957495"/>
          </a:xfrm>
        </p:spPr>
        <p:txBody>
          <a:bodyPr/>
          <a:lstStyle>
            <a:lvl1pPr marL="0" indent="0">
              <a:buNone/>
              <a:defRPr sz="1401"/>
            </a:lvl1pPr>
            <a:lvl2pPr marL="457207" indent="0">
              <a:buNone/>
              <a:defRPr sz="1200"/>
            </a:lvl2pPr>
            <a:lvl3pPr marL="914415" indent="0">
              <a:buNone/>
              <a:defRPr sz="1001"/>
            </a:lvl3pPr>
            <a:lvl4pPr marL="1371622" indent="0">
              <a:buNone/>
              <a:defRPr sz="900"/>
            </a:lvl4pPr>
            <a:lvl5pPr marL="1828830" indent="0">
              <a:buNone/>
              <a:defRPr sz="900"/>
            </a:lvl5pPr>
            <a:lvl6pPr marL="2286037" indent="0">
              <a:buNone/>
              <a:defRPr sz="900"/>
            </a:lvl6pPr>
            <a:lvl7pPr marL="2743245" indent="0">
              <a:buNone/>
              <a:defRPr sz="900"/>
            </a:lvl7pPr>
            <a:lvl8pPr marL="3200452" indent="0">
              <a:buNone/>
              <a:defRPr sz="900"/>
            </a:lvl8pPr>
            <a:lvl9pPr marL="365765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1009181"/>
            <a:ext cx="2057401" cy="215016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3" y="1009181"/>
            <a:ext cx="6019801" cy="215016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009167"/>
            <a:ext cx="8229600" cy="4199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80007"/>
            <a:ext cx="8229600" cy="16630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23356657"/>
            <a:ext cx="2133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23356657"/>
            <a:ext cx="2895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23356657"/>
            <a:ext cx="2133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5" indent="-342905" algn="l" defTabSz="457207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62" indent="-285755" algn="l" defTabSz="457207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9" indent="-228604" algn="l" defTabSz="457207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7" indent="-228604" algn="l" defTabSz="45720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34" indent="-228604" algn="l" defTabSz="45720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41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9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6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4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0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7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5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2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9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4" indent="-228604" algn="l">
        <a:lnSpc>
          <a:spcPct val="90000"/>
        </a:lnSpc>
        <a:spcBef>
          <a:spcPts val="1001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12" indent="-22860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19" indent="-22860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27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205743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514641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971849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429056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88626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1pPr>
      <a:lvl2pPr marL="45720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2pPr>
      <a:lvl3pPr marL="91441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3pPr>
      <a:lvl4pPr marL="137162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182883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28603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74324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20045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657659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9428580"/>
            <a:ext cx="5852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1087" y="9508423"/>
            <a:ext cx="65836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枢纽施工扰动下航运系统运输能力与需求波动响应研究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30" y="9847645"/>
            <a:ext cx="11057839" cy="12801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6" name="Rounded Rectangle 5"/>
          <p:cNvSpPr/>
          <p:nvPr/>
        </p:nvSpPr>
        <p:spPr>
          <a:xfrm>
            <a:off x="329185" y="9957372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7" name="TextBox 6"/>
          <p:cNvSpPr txBox="1"/>
          <p:nvPr/>
        </p:nvSpPr>
        <p:spPr>
          <a:xfrm>
            <a:off x="329185" y="11602971"/>
            <a:ext cx="457200" cy="24695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98865" y="9957372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9" name="TextBox 8"/>
          <p:cNvSpPr txBox="1"/>
          <p:nvPr/>
        </p:nvSpPr>
        <p:spPr>
          <a:xfrm>
            <a:off x="9198865" y="11602971"/>
            <a:ext cx="457200" cy="24695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策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3121" y="12700572"/>
            <a:ext cx="274320" cy="502921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1" name="Right Arrow 10"/>
          <p:cNvSpPr/>
          <p:nvPr/>
        </p:nvSpPr>
        <p:spPr>
          <a:xfrm>
            <a:off x="8887969" y="12700572"/>
            <a:ext cx="274320" cy="502921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2" name="Rounded Rectangle 11"/>
          <p:cNvSpPr/>
          <p:nvPr/>
        </p:nvSpPr>
        <p:spPr>
          <a:xfrm>
            <a:off x="896113" y="10067100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17905" y="10067100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工期安排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3" y="105060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17905" y="105060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通航政策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417319" y="10944924"/>
            <a:ext cx="146304" cy="182880"/>
          </a:xfrm>
          <a:prstGeom prst="down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7" name="Rounded Rectangle 16"/>
          <p:cNvSpPr/>
          <p:nvPr/>
        </p:nvSpPr>
        <p:spPr>
          <a:xfrm>
            <a:off x="896113" y="11219244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枢纽施工·检修场景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施工方案 · 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426463" y="12215939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9" name="Rounded Rectangle 18"/>
          <p:cNvSpPr/>
          <p:nvPr/>
        </p:nvSpPr>
        <p:spPr>
          <a:xfrm>
            <a:off x="896113" y="12389676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过坝货运量与货种结构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货种构成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运输需求规模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26463" y="13386371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1" name="Rounded Rectangle 20"/>
          <p:cNvSpPr/>
          <p:nvPr/>
        </p:nvSpPr>
        <p:spPr>
          <a:xfrm>
            <a:off x="896113" y="13560108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船舶到达流数据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到达流分布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船舶行为特征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426463" y="14556803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3" name="Rounded Rectangle 22"/>
          <p:cNvSpPr/>
          <p:nvPr/>
        </p:nvSpPr>
        <p:spPr>
          <a:xfrm>
            <a:off x="896113" y="14730540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通航信息与政策变量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通航政策 · 施工信息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95728" y="9957372"/>
            <a:ext cx="6473952" cy="16824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5" name="Rounded Rectangle 24"/>
          <p:cNvSpPr/>
          <p:nvPr/>
        </p:nvSpPr>
        <p:spPr>
          <a:xfrm>
            <a:off x="2459737" y="10021379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一、枢纽施工扰动的通航约束解析与能力折减表征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78608" y="10469436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通航约束条件刻画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航道通过限制 · 船闸停航窗口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通航时间变化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431792" y="10899203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8" name="Rounded Rectangle 27"/>
          <p:cNvSpPr/>
          <p:nvPr/>
        </p:nvSpPr>
        <p:spPr>
          <a:xfrm>
            <a:off x="4724400" y="10469437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扰动强度—能力折减映射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建立扰动强度与通航能力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折减之间的量化映射关系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577584" y="10899203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0" name="Rounded Rectangle 29"/>
          <p:cNvSpPr/>
          <p:nvPr/>
        </p:nvSpPr>
        <p:spPr>
          <a:xfrm>
            <a:off x="6870192" y="10469437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多情景扰动库构建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与检修安排的多情景组合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5728" y="11749596"/>
            <a:ext cx="6473952" cy="2212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2" name="Rounded Rectangle 31"/>
          <p:cNvSpPr/>
          <p:nvPr/>
        </p:nvSpPr>
        <p:spPr>
          <a:xfrm>
            <a:off x="2459737" y="11813603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二、施工扰动下航运系统运输能力动态建模   ｜   三、航运需求波动特征提取与响应预测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78609" y="12261660"/>
            <a:ext cx="2862073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4" name="TextBox 33"/>
          <p:cNvSpPr txBox="1"/>
          <p:nvPr/>
        </p:nvSpPr>
        <p:spPr>
          <a:xfrm>
            <a:off x="2706626" y="12401774"/>
            <a:ext cx="260603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施工扰动下运输能力动态建模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06626" y="12682284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三层级能力输入:航道 · 船闸 · 船舶运力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06626" y="13084620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运输能力动态表征模型:时间特性与空间瓶颈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06626" y="13486956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能力折减表征:折减幅度与持续时间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24729" y="12261660"/>
            <a:ext cx="2862073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9" name="TextBox 38"/>
          <p:cNvSpPr txBox="1"/>
          <p:nvPr/>
        </p:nvSpPr>
        <p:spPr>
          <a:xfrm>
            <a:off x="5952747" y="12401773"/>
            <a:ext cx="260603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航运需求波动特征提取与响应预测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52747" y="12682284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需求数据基础:货运量 · 货种结构 · 到达流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52747" y="13084620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波动特征提取:周期性 · 季节性 · 突发性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52747" y="13486957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响应预测:响应时滞与弹性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504688" y="12947460"/>
            <a:ext cx="256032" cy="201168"/>
          </a:xfrm>
          <a:prstGeom prst="rightArrow">
            <a:avLst/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4" name="Rounded Rectangle 43"/>
          <p:cNvSpPr/>
          <p:nvPr/>
        </p:nvSpPr>
        <p:spPr>
          <a:xfrm>
            <a:off x="2395728" y="14072172"/>
            <a:ext cx="64739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5" name="Rounded Rectangle 44"/>
          <p:cNvSpPr/>
          <p:nvPr/>
        </p:nvSpPr>
        <p:spPr>
          <a:xfrm>
            <a:off x="2459737" y="14136179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四、运输能力与需求波动的耦合响应机理   ｜   五、扰动情景下的仿真推演与调控策略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78609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响应行为识别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待闸排队 · 绕行转运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船型调整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945635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8" name="Rounded Rectangle 47"/>
          <p:cNvSpPr/>
          <p:nvPr/>
        </p:nvSpPr>
        <p:spPr>
          <a:xfrm>
            <a:off x="4165092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耦合响应模型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能力供给与需求波动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耦合响应建模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532120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0" name="Rounded Rectangle 49"/>
          <p:cNvSpPr/>
          <p:nvPr/>
        </p:nvSpPr>
        <p:spPr>
          <a:xfrm>
            <a:off x="5751577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失配演化路径与临界阈值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识别劣化阈值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与调节规律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7118604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2" name="Rounded Rectangle 51"/>
          <p:cNvSpPr/>
          <p:nvPr/>
        </p:nvSpPr>
        <p:spPr>
          <a:xfrm>
            <a:off x="7338061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仿真推演与调控优化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交通流仿真 · 方案评估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84083" y="10030524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与检修安排的扰动情景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10753344" y="11082082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5" name="Rounded Rectangle 54"/>
          <p:cNvSpPr/>
          <p:nvPr/>
        </p:nvSpPr>
        <p:spPr>
          <a:xfrm>
            <a:off x="9784083" y="11255820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运输能力动态表征模型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能力折减幅度与持续时间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能力动态演化表征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10753344" y="12307379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7" name="Rounded Rectangle 56"/>
          <p:cNvSpPr/>
          <p:nvPr/>
        </p:nvSpPr>
        <p:spPr>
          <a:xfrm>
            <a:off x="9784083" y="12481116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能力—需求耦合响应规律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耦合响应机制 · 失配路径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临界阈值与调节规律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10753344" y="13532675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9" name="Rounded Rectangle 58"/>
          <p:cNvSpPr/>
          <p:nvPr/>
        </p:nvSpPr>
        <p:spPr>
          <a:xfrm>
            <a:off x="9784083" y="13706412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待闸组织 · 运力调配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通航调控优化策略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84083" y="14931708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为三峡枢纽施工期</a:t>
            </a:r>
          </a:p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航运保障提供决策支撑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文字_1">
            <a:extLst>
              <a:ext uri="{FF2B5EF4-FFF2-40B4-BE49-F238E27FC236}">
                <a16:creationId xmlns:a16="http://schemas.microsoft.com/office/drawing/2014/main" id="{50AB3D5A-5AFD-4A70-A3F2-61AE9578B0DB}"/>
              </a:ext>
            </a:extLst>
          </p:cNvPr>
          <p:cNvSpPr>
            <a:spLocks noGrp="1"/>
          </p:cNvSpPr>
          <p:nvPr/>
        </p:nvSpPr>
        <p:spPr>
          <a:xfrm>
            <a:off x="566928" y="9390444"/>
            <a:ext cx="5852160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文字_2">
            <a:extLst>
              <a:ext uri="{FF2B5EF4-FFF2-40B4-BE49-F238E27FC236}">
                <a16:creationId xmlns:a16="http://schemas.microsoft.com/office/drawing/2014/main" id="{8AD1CEAF-2550-4A15-95EA-675E50169450}"/>
              </a:ext>
            </a:extLst>
          </p:cNvPr>
          <p:cNvSpPr>
            <a:spLocks noGrp="1"/>
          </p:cNvSpPr>
          <p:nvPr/>
        </p:nvSpPr>
        <p:spPr>
          <a:xfrm>
            <a:off x="5041106" y="9445308"/>
            <a:ext cx="658368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节点_3">
            <a:extLst>
              <a:ext uri="{FF2B5EF4-FFF2-40B4-BE49-F238E27FC236}">
                <a16:creationId xmlns:a16="http://schemas.microsoft.com/office/drawing/2014/main" id="{627ADEF1-BBA9-464D-A55D-42DB784A386A}"/>
              </a:ext>
            </a:extLst>
          </p:cNvPr>
          <p:cNvSpPr>
            <a:spLocks noGrp="1"/>
          </p:cNvSpPr>
          <p:nvPr/>
        </p:nvSpPr>
        <p:spPr>
          <a:xfrm>
            <a:off x="566928" y="9847643"/>
            <a:ext cx="11057858" cy="12764"/>
          </a:xfrm>
          <a:prstGeom prst="rect">
            <a:avLst/>
          </a:prstGeom>
          <a:solidFill>
            <a:srgbClr val="BDD7EE"/>
          </a:solidFill>
          <a:ln w="0">
            <a:noFill/>
          </a:ln>
        </p:spPr>
      </p:sp>
      <p:sp>
        <p:nvSpPr>
          <p:cNvPr id="4" name="节点_4">
            <a:extLst>
              <a:ext uri="{FF2B5EF4-FFF2-40B4-BE49-F238E27FC236}">
                <a16:creationId xmlns:a16="http://schemas.microsoft.com/office/drawing/2014/main" id="{8CC75BDC-AB2A-40AE-87D7-6C74D90D8A96}"/>
              </a:ext>
            </a:extLst>
          </p:cNvPr>
          <p:cNvSpPr>
            <a:spLocks noGrp="1"/>
          </p:cNvSpPr>
          <p:nvPr/>
        </p:nvSpPr>
        <p:spPr>
          <a:xfrm>
            <a:off x="329185" y="9957372"/>
            <a:ext cx="457200" cy="5760720"/>
          </a:xfrm>
          <a:prstGeom prst="roundRect">
            <a:avLst>
              <a:gd name="adj" fmla="val 20833"/>
            </a:avLst>
          </a:prstGeom>
          <a:solidFill>
            <a:srgbClr val="C55A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" name="文字_5">
            <a:extLst>
              <a:ext uri="{FF2B5EF4-FFF2-40B4-BE49-F238E27FC236}">
                <a16:creationId xmlns:a16="http://schemas.microsoft.com/office/drawing/2014/main" id="{2E6F2EEA-E252-4599-BE59-F809BD97A444}"/>
              </a:ext>
            </a:extLst>
          </p:cNvPr>
          <p:cNvSpPr>
            <a:spLocks noGrp="1"/>
          </p:cNvSpPr>
          <p:nvPr/>
        </p:nvSpPr>
        <p:spPr>
          <a:xfrm>
            <a:off x="329185" y="10409237"/>
            <a:ext cx="457200" cy="487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6" name="节点_6">
            <a:extLst>
              <a:ext uri="{FF2B5EF4-FFF2-40B4-BE49-F238E27FC236}">
                <a16:creationId xmlns:a16="http://schemas.microsoft.com/office/drawing/2014/main" id="{F5835F1B-CB69-4ECB-BA4F-E2FECB2189D1}"/>
              </a:ext>
            </a:extLst>
          </p:cNvPr>
          <p:cNvSpPr>
            <a:spLocks noGrp="1"/>
          </p:cNvSpPr>
          <p:nvPr/>
        </p:nvSpPr>
        <p:spPr>
          <a:xfrm>
            <a:off x="9198865" y="9957372"/>
            <a:ext cx="457200" cy="5760720"/>
          </a:xfrm>
          <a:prstGeom prst="roundRect">
            <a:avLst>
              <a:gd name="adj" fmla="val 20833"/>
            </a:avLst>
          </a:prstGeom>
          <a:solidFill>
            <a:srgbClr val="1F4E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" name="文字_7">
            <a:extLst>
              <a:ext uri="{FF2B5EF4-FFF2-40B4-BE49-F238E27FC236}">
                <a16:creationId xmlns:a16="http://schemas.microsoft.com/office/drawing/2014/main" id="{1801688D-217D-4DAC-BBF0-5579D4EC87D1}"/>
              </a:ext>
            </a:extLst>
          </p:cNvPr>
          <p:cNvSpPr>
            <a:spLocks noGrp="1"/>
          </p:cNvSpPr>
          <p:nvPr/>
        </p:nvSpPr>
        <p:spPr>
          <a:xfrm>
            <a:off x="9198865" y="10409237"/>
            <a:ext cx="457200" cy="487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节点_8">
            <a:extLst>
              <a:ext uri="{FF2B5EF4-FFF2-40B4-BE49-F238E27FC236}">
                <a16:creationId xmlns:a16="http://schemas.microsoft.com/office/drawing/2014/main" id="{08BE1C79-F1C6-44EF-8D2E-AB26E06FEE88}"/>
              </a:ext>
            </a:extLst>
          </p:cNvPr>
          <p:cNvSpPr>
            <a:spLocks noGrp="1"/>
          </p:cNvSpPr>
          <p:nvPr/>
        </p:nvSpPr>
        <p:spPr>
          <a:xfrm>
            <a:off x="896113" y="10030525"/>
            <a:ext cx="1188720" cy="1266825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" name="文字_9">
            <a:extLst>
              <a:ext uri="{FF2B5EF4-FFF2-40B4-BE49-F238E27FC236}">
                <a16:creationId xmlns:a16="http://schemas.microsoft.com/office/drawing/2014/main" id="{5FC07654-66A8-41E2-9CC8-DA97A8A50667}"/>
              </a:ext>
            </a:extLst>
          </p:cNvPr>
          <p:cNvSpPr>
            <a:spLocks noGrp="1"/>
          </p:cNvSpPr>
          <p:nvPr/>
        </p:nvSpPr>
        <p:spPr>
          <a:xfrm>
            <a:off x="943738" y="10116248"/>
            <a:ext cx="109347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施工扰动</a:t>
            </a:r>
          </a:p>
          <a:p>
            <a:pPr algn="ctr"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与通航约束</a:t>
            </a:r>
          </a:p>
        </p:txBody>
      </p:sp>
      <p:sp>
        <p:nvSpPr>
          <p:cNvPr id="10" name="文字_10">
            <a:extLst>
              <a:ext uri="{FF2B5EF4-FFF2-40B4-BE49-F238E27FC236}">
                <a16:creationId xmlns:a16="http://schemas.microsoft.com/office/drawing/2014/main" id="{3C2ABB99-3DE0-42EA-9BD2-A3D92E585112}"/>
              </a:ext>
            </a:extLst>
          </p:cNvPr>
          <p:cNvSpPr>
            <a:spLocks noGrp="1"/>
          </p:cNvSpPr>
          <p:nvPr/>
        </p:nvSpPr>
        <p:spPr>
          <a:xfrm>
            <a:off x="953263" y="10411525"/>
            <a:ext cx="107442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施工阶段 · 作业范围</a:t>
            </a:r>
          </a:p>
          <a:p>
            <a:pPr algn="ctr"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停限航窗口</a:t>
            </a:r>
          </a:p>
          <a:p>
            <a:pPr algn="ctr"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通航条件变化</a:t>
            </a:r>
          </a:p>
        </p:txBody>
      </p:sp>
      <p:sp>
        <p:nvSpPr>
          <p:cNvPr id="11" name="节点_11">
            <a:extLst>
              <a:ext uri="{FF2B5EF4-FFF2-40B4-BE49-F238E27FC236}">
                <a16:creationId xmlns:a16="http://schemas.microsoft.com/office/drawing/2014/main" id="{E9FC9A39-CC36-4AC8-9CCB-75A270EBDAEC}"/>
              </a:ext>
            </a:extLst>
          </p:cNvPr>
          <p:cNvSpPr>
            <a:spLocks noGrp="1"/>
          </p:cNvSpPr>
          <p:nvPr/>
        </p:nvSpPr>
        <p:spPr>
          <a:xfrm>
            <a:off x="896113" y="11495089"/>
            <a:ext cx="1188720" cy="1266825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2" name="文字_12">
            <a:extLst>
              <a:ext uri="{FF2B5EF4-FFF2-40B4-BE49-F238E27FC236}">
                <a16:creationId xmlns:a16="http://schemas.microsoft.com/office/drawing/2014/main" id="{69796DC0-78EE-4D3C-A259-02576C9DA245}"/>
              </a:ext>
            </a:extLst>
          </p:cNvPr>
          <p:cNvSpPr>
            <a:spLocks noGrp="1"/>
          </p:cNvSpPr>
          <p:nvPr/>
        </p:nvSpPr>
        <p:spPr>
          <a:xfrm>
            <a:off x="943738" y="11580812"/>
            <a:ext cx="109347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运行与货类</a:t>
            </a:r>
          </a:p>
          <a:p>
            <a:pPr algn="ctr"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多源数据</a:t>
            </a:r>
          </a:p>
        </p:txBody>
      </p:sp>
      <p:sp>
        <p:nvSpPr>
          <p:cNvPr id="13" name="文字_13">
            <a:extLst>
              <a:ext uri="{FF2B5EF4-FFF2-40B4-BE49-F238E27FC236}">
                <a16:creationId xmlns:a16="http://schemas.microsoft.com/office/drawing/2014/main" id="{3F21CE44-23A1-4259-ACE3-0814D3D24F49}"/>
              </a:ext>
            </a:extLst>
          </p:cNvPr>
          <p:cNvSpPr>
            <a:spLocks noGrp="1"/>
          </p:cNvSpPr>
          <p:nvPr/>
        </p:nvSpPr>
        <p:spPr>
          <a:xfrm>
            <a:off x="953263" y="11876089"/>
            <a:ext cx="107442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AIS · 到达流</a:t>
            </a:r>
          </a:p>
          <a:p>
            <a:pPr algn="ctr"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过坝货量 · 重点货类</a:t>
            </a:r>
          </a:p>
          <a:p>
            <a:pPr algn="ctr"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运输时空特征</a:t>
            </a:r>
          </a:p>
        </p:txBody>
      </p:sp>
      <p:sp>
        <p:nvSpPr>
          <p:cNvPr id="14" name="节点_14">
            <a:extLst>
              <a:ext uri="{FF2B5EF4-FFF2-40B4-BE49-F238E27FC236}">
                <a16:creationId xmlns:a16="http://schemas.microsoft.com/office/drawing/2014/main" id="{69D756AB-2A0C-48BC-BDE0-DEF4B3727E3A}"/>
              </a:ext>
            </a:extLst>
          </p:cNvPr>
          <p:cNvSpPr>
            <a:spLocks noGrp="1"/>
          </p:cNvSpPr>
          <p:nvPr/>
        </p:nvSpPr>
        <p:spPr>
          <a:xfrm>
            <a:off x="896113" y="12959654"/>
            <a:ext cx="1188720" cy="1266825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" name="文字_15">
            <a:extLst>
              <a:ext uri="{FF2B5EF4-FFF2-40B4-BE49-F238E27FC236}">
                <a16:creationId xmlns:a16="http://schemas.microsoft.com/office/drawing/2014/main" id="{12C44655-43F5-4AB2-AB51-5DFFFA844C1D}"/>
              </a:ext>
            </a:extLst>
          </p:cNvPr>
          <p:cNvSpPr>
            <a:spLocks noGrp="1"/>
          </p:cNvSpPr>
          <p:nvPr/>
        </p:nvSpPr>
        <p:spPr>
          <a:xfrm>
            <a:off x="943738" y="13045377"/>
            <a:ext cx="109347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市场与主体</a:t>
            </a:r>
          </a:p>
          <a:p>
            <a:pPr algn="ctr"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行为数据</a:t>
            </a:r>
          </a:p>
        </p:txBody>
      </p:sp>
      <p:sp>
        <p:nvSpPr>
          <p:cNvPr id="16" name="文字_16">
            <a:extLst>
              <a:ext uri="{FF2B5EF4-FFF2-40B4-BE49-F238E27FC236}">
                <a16:creationId xmlns:a16="http://schemas.microsoft.com/office/drawing/2014/main" id="{4362409A-3878-4578-B4D7-60BE8F6C75FC}"/>
              </a:ext>
            </a:extLst>
          </p:cNvPr>
          <p:cNvSpPr>
            <a:spLocks noGrp="1"/>
          </p:cNvSpPr>
          <p:nvPr/>
        </p:nvSpPr>
        <p:spPr>
          <a:xfrm>
            <a:off x="953263" y="13340652"/>
            <a:ext cx="107442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运价 · 成本 · 船期</a:t>
            </a:r>
          </a:p>
          <a:p>
            <a:pPr algn="ctr"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运力配置 · 航次安排</a:t>
            </a:r>
          </a:p>
          <a:p>
            <a:pPr algn="ctr"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发运与通道选择</a:t>
            </a:r>
          </a:p>
        </p:txBody>
      </p:sp>
      <p:sp>
        <p:nvSpPr>
          <p:cNvPr id="17" name="节点_17">
            <a:extLst>
              <a:ext uri="{FF2B5EF4-FFF2-40B4-BE49-F238E27FC236}">
                <a16:creationId xmlns:a16="http://schemas.microsoft.com/office/drawing/2014/main" id="{CCEF982E-9C26-4208-9E14-5341769B9630}"/>
              </a:ext>
            </a:extLst>
          </p:cNvPr>
          <p:cNvSpPr>
            <a:spLocks noGrp="1"/>
          </p:cNvSpPr>
          <p:nvPr/>
        </p:nvSpPr>
        <p:spPr>
          <a:xfrm>
            <a:off x="896113" y="14424217"/>
            <a:ext cx="1188720" cy="1266825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" name="文字_18">
            <a:extLst>
              <a:ext uri="{FF2B5EF4-FFF2-40B4-BE49-F238E27FC236}">
                <a16:creationId xmlns:a16="http://schemas.microsoft.com/office/drawing/2014/main" id="{20AC3163-21BD-406E-9526-B40218E21CD6}"/>
              </a:ext>
            </a:extLst>
          </p:cNvPr>
          <p:cNvSpPr>
            <a:spLocks noGrp="1"/>
          </p:cNvSpPr>
          <p:nvPr/>
        </p:nvSpPr>
        <p:spPr>
          <a:xfrm>
            <a:off x="943738" y="14509940"/>
            <a:ext cx="109347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  <a:p>
            <a:pPr algn="ctr"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与背景条件</a:t>
            </a:r>
          </a:p>
        </p:txBody>
      </p:sp>
      <p:sp>
        <p:nvSpPr>
          <p:cNvPr id="19" name="文字_19">
            <a:extLst>
              <a:ext uri="{FF2B5EF4-FFF2-40B4-BE49-F238E27FC236}">
                <a16:creationId xmlns:a16="http://schemas.microsoft.com/office/drawing/2014/main" id="{AB740D50-2992-4739-B829-214C4522CA17}"/>
              </a:ext>
            </a:extLst>
          </p:cNvPr>
          <p:cNvSpPr>
            <a:spLocks noGrp="1"/>
          </p:cNvSpPr>
          <p:nvPr/>
        </p:nvSpPr>
        <p:spPr>
          <a:xfrm>
            <a:off x="953263" y="14805216"/>
            <a:ext cx="107442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区域需求 · 网络背景</a:t>
            </a:r>
          </a:p>
          <a:p>
            <a:pPr algn="ctr"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空间经济整体模型</a:t>
            </a:r>
          </a:p>
          <a:p>
            <a:pPr algn="ctr"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综合交通超级网络</a:t>
            </a:r>
          </a:p>
        </p:txBody>
      </p:sp>
      <p:sp>
        <p:nvSpPr>
          <p:cNvPr id="20" name="流程箭头_20">
            <a:extLst>
              <a:ext uri="{FF2B5EF4-FFF2-40B4-BE49-F238E27FC236}">
                <a16:creationId xmlns:a16="http://schemas.microsoft.com/office/drawing/2014/main" id="{3AE87843-9F47-44EE-B513-98500050E343}"/>
              </a:ext>
            </a:extLst>
          </p:cNvPr>
          <p:cNvSpPr>
            <a:spLocks noGrp="1"/>
          </p:cNvSpPr>
          <p:nvPr/>
        </p:nvSpPr>
        <p:spPr>
          <a:xfrm>
            <a:off x="2124077" y="12700572"/>
            <a:ext cx="253365" cy="502921"/>
          </a:xfrm>
          <a:prstGeom prst="rightArrow">
            <a:avLst/>
          </a:prstGeom>
          <a:solidFill>
            <a:srgbClr val="C55A11"/>
          </a:solidFill>
          <a:ln w="0">
            <a:noFill/>
          </a:ln>
        </p:spPr>
      </p:sp>
      <p:sp>
        <p:nvSpPr>
          <p:cNvPr id="21" name="流程箭头_21">
            <a:extLst>
              <a:ext uri="{FF2B5EF4-FFF2-40B4-BE49-F238E27FC236}">
                <a16:creationId xmlns:a16="http://schemas.microsoft.com/office/drawing/2014/main" id="{B1E305A6-C151-4CE5-B05F-49D99EAB6CBE}"/>
              </a:ext>
            </a:extLst>
          </p:cNvPr>
          <p:cNvSpPr>
            <a:spLocks noGrp="1"/>
          </p:cNvSpPr>
          <p:nvPr/>
        </p:nvSpPr>
        <p:spPr>
          <a:xfrm>
            <a:off x="8896352" y="12700572"/>
            <a:ext cx="264795" cy="502921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2" name="节点_22">
            <a:extLst>
              <a:ext uri="{FF2B5EF4-FFF2-40B4-BE49-F238E27FC236}">
                <a16:creationId xmlns:a16="http://schemas.microsoft.com/office/drawing/2014/main" id="{CB027F50-E55D-410D-86F5-43ED05B3AB6E}"/>
              </a:ext>
            </a:extLst>
          </p:cNvPr>
          <p:cNvSpPr>
            <a:spLocks noGrp="1"/>
          </p:cNvSpPr>
          <p:nvPr/>
        </p:nvSpPr>
        <p:spPr>
          <a:xfrm>
            <a:off x="2395728" y="9957372"/>
            <a:ext cx="6473952" cy="1682496"/>
          </a:xfrm>
          <a:prstGeom prst="roundRect">
            <a:avLst>
              <a:gd name="adj" fmla="val 5095"/>
            </a:avLst>
          </a:prstGeom>
          <a:solidFill>
            <a:srgbClr val="FFFFFF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3" name="节点_23">
            <a:extLst>
              <a:ext uri="{FF2B5EF4-FFF2-40B4-BE49-F238E27FC236}">
                <a16:creationId xmlns:a16="http://schemas.microsoft.com/office/drawing/2014/main" id="{BF8B4DF0-C440-4346-909A-F27B77892516}"/>
              </a:ext>
            </a:extLst>
          </p:cNvPr>
          <p:cNvSpPr>
            <a:spLocks noGrp="1"/>
          </p:cNvSpPr>
          <p:nvPr/>
        </p:nvSpPr>
        <p:spPr>
          <a:xfrm>
            <a:off x="2459737" y="10021379"/>
            <a:ext cx="6345936" cy="365760"/>
          </a:xfrm>
          <a:prstGeom prst="roundRect">
            <a:avLst>
              <a:gd name="adj" fmla="val 26042"/>
            </a:avLst>
          </a:prstGeom>
          <a:solidFill>
            <a:srgbClr val="2E75B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4" name="文字_24">
            <a:extLst>
              <a:ext uri="{FF2B5EF4-FFF2-40B4-BE49-F238E27FC236}">
                <a16:creationId xmlns:a16="http://schemas.microsoft.com/office/drawing/2014/main" id="{C38B7056-8DB2-426A-BA8F-743D0291F5E2}"/>
              </a:ext>
            </a:extLst>
          </p:cNvPr>
          <p:cNvSpPr>
            <a:spLocks noGrp="1"/>
          </p:cNvSpPr>
          <p:nvPr/>
        </p:nvSpPr>
        <p:spPr>
          <a:xfrm>
            <a:off x="2628903" y="10021379"/>
            <a:ext cx="6048375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施工扰动表征与航运运行波动响应</a:t>
            </a:r>
          </a:p>
        </p:txBody>
      </p:sp>
      <p:sp>
        <p:nvSpPr>
          <p:cNvPr id="25" name="节点_25">
            <a:extLst>
              <a:ext uri="{FF2B5EF4-FFF2-40B4-BE49-F238E27FC236}">
                <a16:creationId xmlns:a16="http://schemas.microsoft.com/office/drawing/2014/main" id="{DED52712-6094-471F-B9ED-2243788BF2F8}"/>
              </a:ext>
            </a:extLst>
          </p:cNvPr>
          <p:cNvSpPr>
            <a:spLocks noGrp="1"/>
          </p:cNvSpPr>
          <p:nvPr/>
        </p:nvSpPr>
        <p:spPr>
          <a:xfrm>
            <a:off x="2578608" y="10469436"/>
            <a:ext cx="1816608" cy="847726"/>
          </a:xfrm>
          <a:prstGeom prst="roundRect">
            <a:avLst>
              <a:gd name="adj" fmla="val 1123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6" name="文字_26">
            <a:extLst>
              <a:ext uri="{FF2B5EF4-FFF2-40B4-BE49-F238E27FC236}">
                <a16:creationId xmlns:a16="http://schemas.microsoft.com/office/drawing/2014/main" id="{ED11DB15-B5ED-4A6C-A2D1-D53CF5C1DBC2}"/>
              </a:ext>
            </a:extLst>
          </p:cNvPr>
          <p:cNvSpPr>
            <a:spLocks noGrp="1"/>
          </p:cNvSpPr>
          <p:nvPr/>
        </p:nvSpPr>
        <p:spPr>
          <a:xfrm>
            <a:off x="2626234" y="10555160"/>
            <a:ext cx="1721358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施工扰动表征</a:t>
            </a:r>
          </a:p>
        </p:txBody>
      </p:sp>
      <p:sp>
        <p:nvSpPr>
          <p:cNvPr id="27" name="文字_27">
            <a:extLst>
              <a:ext uri="{FF2B5EF4-FFF2-40B4-BE49-F238E27FC236}">
                <a16:creationId xmlns:a16="http://schemas.microsoft.com/office/drawing/2014/main" id="{269166E1-E1A8-4199-9656-589483FC765D}"/>
              </a:ext>
            </a:extLst>
          </p:cNvPr>
          <p:cNvSpPr>
            <a:spLocks noGrp="1"/>
          </p:cNvSpPr>
          <p:nvPr/>
        </p:nvSpPr>
        <p:spPr>
          <a:xfrm>
            <a:off x="2635759" y="10850435"/>
            <a:ext cx="1702308" cy="39052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阶段 · 范围 · 持续时间</a:t>
            </a:r>
          </a:p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通航约束与能力折减</a:t>
            </a:r>
          </a:p>
        </p:txBody>
      </p:sp>
      <p:sp>
        <p:nvSpPr>
          <p:cNvPr id="28" name="节点_28">
            <a:extLst>
              <a:ext uri="{FF2B5EF4-FFF2-40B4-BE49-F238E27FC236}">
                <a16:creationId xmlns:a16="http://schemas.microsoft.com/office/drawing/2014/main" id="{6C94D853-D0F0-4933-99B0-DCB2819278EF}"/>
              </a:ext>
            </a:extLst>
          </p:cNvPr>
          <p:cNvSpPr>
            <a:spLocks noGrp="1"/>
          </p:cNvSpPr>
          <p:nvPr/>
        </p:nvSpPr>
        <p:spPr>
          <a:xfrm>
            <a:off x="4724400" y="10469436"/>
            <a:ext cx="1816608" cy="847726"/>
          </a:xfrm>
          <a:prstGeom prst="roundRect">
            <a:avLst>
              <a:gd name="adj" fmla="val 1123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9" name="文字_29">
            <a:extLst>
              <a:ext uri="{FF2B5EF4-FFF2-40B4-BE49-F238E27FC236}">
                <a16:creationId xmlns:a16="http://schemas.microsoft.com/office/drawing/2014/main" id="{FD1C436D-96C8-4483-83BA-32AE9EA7D09E}"/>
              </a:ext>
            </a:extLst>
          </p:cNvPr>
          <p:cNvSpPr>
            <a:spLocks noGrp="1"/>
          </p:cNvSpPr>
          <p:nvPr/>
        </p:nvSpPr>
        <p:spPr>
          <a:xfrm>
            <a:off x="4772026" y="10555160"/>
            <a:ext cx="1721358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供需与组织波动</a:t>
            </a:r>
          </a:p>
        </p:txBody>
      </p:sp>
      <p:sp>
        <p:nvSpPr>
          <p:cNvPr id="30" name="文字_30">
            <a:extLst>
              <a:ext uri="{FF2B5EF4-FFF2-40B4-BE49-F238E27FC236}">
                <a16:creationId xmlns:a16="http://schemas.microsoft.com/office/drawing/2014/main" id="{3E9375A3-821B-4340-9EEF-FB37DB2AF4A3}"/>
              </a:ext>
            </a:extLst>
          </p:cNvPr>
          <p:cNvSpPr>
            <a:spLocks noGrp="1"/>
          </p:cNvSpPr>
          <p:nvPr/>
        </p:nvSpPr>
        <p:spPr>
          <a:xfrm>
            <a:off x="4781551" y="10850435"/>
            <a:ext cx="1702308" cy="39052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有效能力 · 需求时空变化</a:t>
            </a:r>
          </a:p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到达流 · 排队 · 船期</a:t>
            </a:r>
          </a:p>
        </p:txBody>
      </p:sp>
      <p:sp>
        <p:nvSpPr>
          <p:cNvPr id="31" name="节点_31">
            <a:extLst>
              <a:ext uri="{FF2B5EF4-FFF2-40B4-BE49-F238E27FC236}">
                <a16:creationId xmlns:a16="http://schemas.microsoft.com/office/drawing/2014/main" id="{A8DC9111-F301-409E-ADEF-91285E9B582A}"/>
              </a:ext>
            </a:extLst>
          </p:cNvPr>
          <p:cNvSpPr>
            <a:spLocks noGrp="1"/>
          </p:cNvSpPr>
          <p:nvPr/>
        </p:nvSpPr>
        <p:spPr>
          <a:xfrm>
            <a:off x="6870192" y="10469436"/>
            <a:ext cx="1816608" cy="847726"/>
          </a:xfrm>
          <a:prstGeom prst="roundRect">
            <a:avLst>
              <a:gd name="adj" fmla="val 1123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2" name="文字_32">
            <a:extLst>
              <a:ext uri="{FF2B5EF4-FFF2-40B4-BE49-F238E27FC236}">
                <a16:creationId xmlns:a16="http://schemas.microsoft.com/office/drawing/2014/main" id="{BBE91255-EB88-44B5-9755-7ADF33CEBC64}"/>
              </a:ext>
            </a:extLst>
          </p:cNvPr>
          <p:cNvSpPr>
            <a:spLocks noGrp="1"/>
          </p:cNvSpPr>
          <p:nvPr/>
        </p:nvSpPr>
        <p:spPr>
          <a:xfrm>
            <a:off x="6917818" y="10555160"/>
            <a:ext cx="1721358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运行响应度量</a:t>
            </a:r>
          </a:p>
        </p:txBody>
      </p:sp>
      <p:sp>
        <p:nvSpPr>
          <p:cNvPr id="33" name="文字_33">
            <a:extLst>
              <a:ext uri="{FF2B5EF4-FFF2-40B4-BE49-F238E27FC236}">
                <a16:creationId xmlns:a16="http://schemas.microsoft.com/office/drawing/2014/main" id="{06138149-4DD3-4026-84D3-EE22366CA58D}"/>
              </a:ext>
            </a:extLst>
          </p:cNvPr>
          <p:cNvSpPr>
            <a:spLocks noGrp="1"/>
          </p:cNvSpPr>
          <p:nvPr/>
        </p:nvSpPr>
        <p:spPr>
          <a:xfrm>
            <a:off x="6927343" y="10850435"/>
            <a:ext cx="1702308" cy="39052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港航作业衔接 · 运输组织</a:t>
            </a:r>
          </a:p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时效与可靠性变化</a:t>
            </a:r>
          </a:p>
        </p:txBody>
      </p:sp>
      <p:sp>
        <p:nvSpPr>
          <p:cNvPr id="34" name="流程箭头_34">
            <a:extLst>
              <a:ext uri="{FF2B5EF4-FFF2-40B4-BE49-F238E27FC236}">
                <a16:creationId xmlns:a16="http://schemas.microsoft.com/office/drawing/2014/main" id="{29138C22-AD2A-42C4-9173-7181D93F38A1}"/>
              </a:ext>
            </a:extLst>
          </p:cNvPr>
          <p:cNvSpPr>
            <a:spLocks noGrp="1"/>
          </p:cNvSpPr>
          <p:nvPr/>
        </p:nvSpPr>
        <p:spPr>
          <a:xfrm>
            <a:off x="4431792" y="10809287"/>
            <a:ext cx="256032" cy="18288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35" name="流程箭头_35">
            <a:extLst>
              <a:ext uri="{FF2B5EF4-FFF2-40B4-BE49-F238E27FC236}">
                <a16:creationId xmlns:a16="http://schemas.microsoft.com/office/drawing/2014/main" id="{1122E938-4ECB-4BA4-A0F8-94CCAA50745B}"/>
              </a:ext>
            </a:extLst>
          </p:cNvPr>
          <p:cNvSpPr>
            <a:spLocks noGrp="1"/>
          </p:cNvSpPr>
          <p:nvPr/>
        </p:nvSpPr>
        <p:spPr>
          <a:xfrm>
            <a:off x="6577584" y="10809287"/>
            <a:ext cx="256032" cy="18288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36" name="文字_36">
            <a:extLst>
              <a:ext uri="{FF2B5EF4-FFF2-40B4-BE49-F238E27FC236}">
                <a16:creationId xmlns:a16="http://schemas.microsoft.com/office/drawing/2014/main" id="{96D873F2-6D2A-45F3-A375-8932790254A9}"/>
              </a:ext>
            </a:extLst>
          </p:cNvPr>
          <p:cNvSpPr>
            <a:spLocks noGrp="1"/>
          </p:cNvSpPr>
          <p:nvPr/>
        </p:nvSpPr>
        <p:spPr>
          <a:xfrm>
            <a:off x="2578608" y="11361739"/>
            <a:ext cx="6108192" cy="21907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975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方法：施工事件分析 · 基准/扰动情景对照 · 分货类、航线与船型响应识别</a:t>
            </a:r>
          </a:p>
        </p:txBody>
      </p:sp>
      <p:sp>
        <p:nvSpPr>
          <p:cNvPr id="37" name="流程箭头_37">
            <a:extLst>
              <a:ext uri="{FF2B5EF4-FFF2-40B4-BE49-F238E27FC236}">
                <a16:creationId xmlns:a16="http://schemas.microsoft.com/office/drawing/2014/main" id="{4AEEA7BA-1398-43EA-9D29-4EC1841004B7}"/>
              </a:ext>
            </a:extLst>
          </p:cNvPr>
          <p:cNvSpPr>
            <a:spLocks noGrp="1"/>
          </p:cNvSpPr>
          <p:nvPr/>
        </p:nvSpPr>
        <p:spPr>
          <a:xfrm>
            <a:off x="5562601" y="11644631"/>
            <a:ext cx="146304" cy="12954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38" name="节点_38">
            <a:extLst>
              <a:ext uri="{FF2B5EF4-FFF2-40B4-BE49-F238E27FC236}">
                <a16:creationId xmlns:a16="http://schemas.microsoft.com/office/drawing/2014/main" id="{378151A6-E25B-4004-BAD7-079ED9FB21CC}"/>
              </a:ext>
            </a:extLst>
          </p:cNvPr>
          <p:cNvSpPr>
            <a:spLocks noGrp="1"/>
          </p:cNvSpPr>
          <p:nvPr/>
        </p:nvSpPr>
        <p:spPr>
          <a:xfrm>
            <a:off x="2395728" y="11780839"/>
            <a:ext cx="6473952" cy="1857375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9" name="节点_39">
            <a:extLst>
              <a:ext uri="{FF2B5EF4-FFF2-40B4-BE49-F238E27FC236}">
                <a16:creationId xmlns:a16="http://schemas.microsoft.com/office/drawing/2014/main" id="{6CAAA085-2DCD-4AA1-ACCB-5A8FAD068579}"/>
              </a:ext>
            </a:extLst>
          </p:cNvPr>
          <p:cNvSpPr>
            <a:spLocks noGrp="1"/>
          </p:cNvSpPr>
          <p:nvPr/>
        </p:nvSpPr>
        <p:spPr>
          <a:xfrm>
            <a:off x="2459737" y="11844845"/>
            <a:ext cx="6345936" cy="365760"/>
          </a:xfrm>
          <a:prstGeom prst="roundRect">
            <a:avLst>
              <a:gd name="adj" fmla="val 26042"/>
            </a:avLst>
          </a:prstGeom>
          <a:solidFill>
            <a:srgbClr val="2186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0" name="文字_40">
            <a:extLst>
              <a:ext uri="{FF2B5EF4-FFF2-40B4-BE49-F238E27FC236}">
                <a16:creationId xmlns:a16="http://schemas.microsoft.com/office/drawing/2014/main" id="{521A8444-6769-4819-AF49-2A5759CFBEA3}"/>
              </a:ext>
            </a:extLst>
          </p:cNvPr>
          <p:cNvSpPr>
            <a:spLocks noGrp="1"/>
          </p:cNvSpPr>
          <p:nvPr/>
        </p:nvSpPr>
        <p:spPr>
          <a:xfrm>
            <a:off x="2628903" y="11844845"/>
            <a:ext cx="6048375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航运市场与经营经济响应及主体行为反馈</a:t>
            </a:r>
          </a:p>
        </p:txBody>
      </p:sp>
      <p:sp>
        <p:nvSpPr>
          <p:cNvPr id="41" name="节点_41">
            <a:extLst>
              <a:ext uri="{FF2B5EF4-FFF2-40B4-BE49-F238E27FC236}">
                <a16:creationId xmlns:a16="http://schemas.microsoft.com/office/drawing/2014/main" id="{17727228-910B-4ECD-A937-A50CC6F16A94}"/>
              </a:ext>
            </a:extLst>
          </p:cNvPr>
          <p:cNvSpPr>
            <a:spLocks noGrp="1"/>
          </p:cNvSpPr>
          <p:nvPr/>
        </p:nvSpPr>
        <p:spPr>
          <a:xfrm>
            <a:off x="2578608" y="12295187"/>
            <a:ext cx="1816608" cy="847726"/>
          </a:xfrm>
          <a:prstGeom prst="roundRect">
            <a:avLst>
              <a:gd name="adj" fmla="val 1123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2" name="文字_42">
            <a:extLst>
              <a:ext uri="{FF2B5EF4-FFF2-40B4-BE49-F238E27FC236}">
                <a16:creationId xmlns:a16="http://schemas.microsoft.com/office/drawing/2014/main" id="{19DDACC2-2DA0-47C0-A858-BBC7FD6D4F78}"/>
              </a:ext>
            </a:extLst>
          </p:cNvPr>
          <p:cNvSpPr>
            <a:spLocks noGrp="1"/>
          </p:cNvSpPr>
          <p:nvPr/>
        </p:nvSpPr>
        <p:spPr>
          <a:xfrm>
            <a:off x="2626234" y="12380913"/>
            <a:ext cx="1721358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成本与经营响应</a:t>
            </a:r>
          </a:p>
        </p:txBody>
      </p:sp>
      <p:sp>
        <p:nvSpPr>
          <p:cNvPr id="43" name="文字_43">
            <a:extLst>
              <a:ext uri="{FF2B5EF4-FFF2-40B4-BE49-F238E27FC236}">
                <a16:creationId xmlns:a16="http://schemas.microsoft.com/office/drawing/2014/main" id="{BD5F4DA9-FC2B-4883-9DA6-805E2AFE5D2C}"/>
              </a:ext>
            </a:extLst>
          </p:cNvPr>
          <p:cNvSpPr>
            <a:spLocks noGrp="1"/>
          </p:cNvSpPr>
          <p:nvPr/>
        </p:nvSpPr>
        <p:spPr>
          <a:xfrm>
            <a:off x="2635759" y="12676187"/>
            <a:ext cx="1702308" cy="39052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等待/航行/转运成本</a:t>
            </a:r>
          </a:p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港航经营收益变化</a:t>
            </a:r>
          </a:p>
        </p:txBody>
      </p:sp>
      <p:sp>
        <p:nvSpPr>
          <p:cNvPr id="44" name="节点_44">
            <a:extLst>
              <a:ext uri="{FF2B5EF4-FFF2-40B4-BE49-F238E27FC236}">
                <a16:creationId xmlns:a16="http://schemas.microsoft.com/office/drawing/2014/main" id="{9C217E77-7365-4F0B-A9C7-A4F1FCFC1816}"/>
              </a:ext>
            </a:extLst>
          </p:cNvPr>
          <p:cNvSpPr>
            <a:spLocks noGrp="1"/>
          </p:cNvSpPr>
          <p:nvPr/>
        </p:nvSpPr>
        <p:spPr>
          <a:xfrm>
            <a:off x="4724400" y="12295187"/>
            <a:ext cx="1816608" cy="847726"/>
          </a:xfrm>
          <a:prstGeom prst="roundRect">
            <a:avLst>
              <a:gd name="adj" fmla="val 1123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5" name="文字_45">
            <a:extLst>
              <a:ext uri="{FF2B5EF4-FFF2-40B4-BE49-F238E27FC236}">
                <a16:creationId xmlns:a16="http://schemas.microsoft.com/office/drawing/2014/main" id="{B4E7B945-9616-4EF6-93B2-6EB15FE1F13D}"/>
              </a:ext>
            </a:extLst>
          </p:cNvPr>
          <p:cNvSpPr>
            <a:spLocks noGrp="1"/>
          </p:cNvSpPr>
          <p:nvPr/>
        </p:nvSpPr>
        <p:spPr>
          <a:xfrm>
            <a:off x="4772026" y="12380913"/>
            <a:ext cx="1721358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运价与市场调整</a:t>
            </a:r>
          </a:p>
        </p:txBody>
      </p:sp>
      <p:sp>
        <p:nvSpPr>
          <p:cNvPr id="46" name="文字_46">
            <a:extLst>
              <a:ext uri="{FF2B5EF4-FFF2-40B4-BE49-F238E27FC236}">
                <a16:creationId xmlns:a16="http://schemas.microsoft.com/office/drawing/2014/main" id="{D5043BEE-CF43-406F-A2BB-F03C8ABD9064}"/>
              </a:ext>
            </a:extLst>
          </p:cNvPr>
          <p:cNvSpPr>
            <a:spLocks noGrp="1"/>
          </p:cNvSpPr>
          <p:nvPr/>
        </p:nvSpPr>
        <p:spPr>
          <a:xfrm>
            <a:off x="4781551" y="12676187"/>
            <a:ext cx="1702308" cy="39052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成本传导 · 供需失衡</a:t>
            </a:r>
          </a:p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货类/航线/船型差异</a:t>
            </a:r>
          </a:p>
        </p:txBody>
      </p:sp>
      <p:sp>
        <p:nvSpPr>
          <p:cNvPr id="47" name="节点_47">
            <a:extLst>
              <a:ext uri="{FF2B5EF4-FFF2-40B4-BE49-F238E27FC236}">
                <a16:creationId xmlns:a16="http://schemas.microsoft.com/office/drawing/2014/main" id="{034A75EB-7672-4D63-8192-B822335C7A9B}"/>
              </a:ext>
            </a:extLst>
          </p:cNvPr>
          <p:cNvSpPr>
            <a:spLocks noGrp="1"/>
          </p:cNvSpPr>
          <p:nvPr/>
        </p:nvSpPr>
        <p:spPr>
          <a:xfrm>
            <a:off x="6870192" y="12295187"/>
            <a:ext cx="1816608" cy="847726"/>
          </a:xfrm>
          <a:prstGeom prst="roundRect">
            <a:avLst>
              <a:gd name="adj" fmla="val 1123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8" name="文字_48">
            <a:extLst>
              <a:ext uri="{FF2B5EF4-FFF2-40B4-BE49-F238E27FC236}">
                <a16:creationId xmlns:a16="http://schemas.microsoft.com/office/drawing/2014/main" id="{DABC1CEB-0D44-434B-8AC7-58AE8A9057BE}"/>
              </a:ext>
            </a:extLst>
          </p:cNvPr>
          <p:cNvSpPr>
            <a:spLocks noGrp="1"/>
          </p:cNvSpPr>
          <p:nvPr/>
        </p:nvSpPr>
        <p:spPr>
          <a:xfrm>
            <a:off x="6917818" y="12380913"/>
            <a:ext cx="1721358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主体行为响应</a:t>
            </a:r>
          </a:p>
        </p:txBody>
      </p:sp>
      <p:sp>
        <p:nvSpPr>
          <p:cNvPr id="49" name="文字_49">
            <a:extLst>
              <a:ext uri="{FF2B5EF4-FFF2-40B4-BE49-F238E27FC236}">
                <a16:creationId xmlns:a16="http://schemas.microsoft.com/office/drawing/2014/main" id="{26D51D63-6FCC-459B-B885-CF78EAEE0CA7}"/>
              </a:ext>
            </a:extLst>
          </p:cNvPr>
          <p:cNvSpPr>
            <a:spLocks noGrp="1"/>
          </p:cNvSpPr>
          <p:nvPr/>
        </p:nvSpPr>
        <p:spPr>
          <a:xfrm>
            <a:off x="6927343" y="12676187"/>
            <a:ext cx="1702308" cy="39052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运力配置 · 航次调整</a:t>
            </a:r>
          </a:p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发运时点 · 通道选择</a:t>
            </a:r>
          </a:p>
        </p:txBody>
      </p:sp>
      <p:sp>
        <p:nvSpPr>
          <p:cNvPr id="50" name="流程箭头_50">
            <a:extLst>
              <a:ext uri="{FF2B5EF4-FFF2-40B4-BE49-F238E27FC236}">
                <a16:creationId xmlns:a16="http://schemas.microsoft.com/office/drawing/2014/main" id="{38018A67-04A1-46A2-A523-94D31A9B1490}"/>
              </a:ext>
            </a:extLst>
          </p:cNvPr>
          <p:cNvSpPr>
            <a:spLocks noGrp="1"/>
          </p:cNvSpPr>
          <p:nvPr/>
        </p:nvSpPr>
        <p:spPr>
          <a:xfrm>
            <a:off x="4431792" y="12628562"/>
            <a:ext cx="256032" cy="182880"/>
          </a:xfrm>
          <a:prstGeom prst="righ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51" name="流程箭头_51">
            <a:extLst>
              <a:ext uri="{FF2B5EF4-FFF2-40B4-BE49-F238E27FC236}">
                <a16:creationId xmlns:a16="http://schemas.microsoft.com/office/drawing/2014/main" id="{6E4DDC7D-3DE8-437F-81B5-5E3BA852747B}"/>
              </a:ext>
            </a:extLst>
          </p:cNvPr>
          <p:cNvSpPr>
            <a:spLocks noGrp="1"/>
          </p:cNvSpPr>
          <p:nvPr/>
        </p:nvSpPr>
        <p:spPr>
          <a:xfrm>
            <a:off x="6577584" y="12628562"/>
            <a:ext cx="256032" cy="182880"/>
          </a:xfrm>
          <a:prstGeom prst="righ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52" name="流程箭头_52">
            <a:extLst>
              <a:ext uri="{FF2B5EF4-FFF2-40B4-BE49-F238E27FC236}">
                <a16:creationId xmlns:a16="http://schemas.microsoft.com/office/drawing/2014/main" id="{CD9DFE8F-2195-4D23-B480-9C1A7EFC0467}"/>
              </a:ext>
            </a:extLst>
          </p:cNvPr>
          <p:cNvSpPr>
            <a:spLocks noGrp="1"/>
          </p:cNvSpPr>
          <p:nvPr/>
        </p:nvSpPr>
        <p:spPr>
          <a:xfrm>
            <a:off x="2914650" y="13342939"/>
            <a:ext cx="5429250" cy="66674"/>
          </a:xfrm>
          <a:prstGeom prst="lef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53" name="文字_53">
            <a:extLst>
              <a:ext uri="{FF2B5EF4-FFF2-40B4-BE49-F238E27FC236}">
                <a16:creationId xmlns:a16="http://schemas.microsoft.com/office/drawing/2014/main" id="{A02F6B56-2F96-44A6-8D95-235C34CBE8D9}"/>
              </a:ext>
            </a:extLst>
          </p:cNvPr>
          <p:cNvSpPr>
            <a:spLocks noGrp="1"/>
          </p:cNvSpPr>
          <p:nvPr/>
        </p:nvSpPr>
        <p:spPr>
          <a:xfrm>
            <a:off x="3333751" y="13161963"/>
            <a:ext cx="4810126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行为调整反馈至有效运力、到达流与运输需求</a:t>
            </a:r>
          </a:p>
        </p:txBody>
      </p:sp>
      <p:sp>
        <p:nvSpPr>
          <p:cNvPr id="54" name="文字_54">
            <a:extLst>
              <a:ext uri="{FF2B5EF4-FFF2-40B4-BE49-F238E27FC236}">
                <a16:creationId xmlns:a16="http://schemas.microsoft.com/office/drawing/2014/main" id="{8F30533A-A027-42FA-8ABB-B6B3AC966922}"/>
              </a:ext>
            </a:extLst>
          </p:cNvPr>
          <p:cNvSpPr>
            <a:spLocks noGrp="1"/>
          </p:cNvSpPr>
          <p:nvPr/>
        </p:nvSpPr>
        <p:spPr>
          <a:xfrm>
            <a:off x="2578608" y="13419138"/>
            <a:ext cx="6108192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975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方法：运输成本核算 · 运价响应分析 · 离散选择与行为弹性估计</a:t>
            </a:r>
          </a:p>
        </p:txBody>
      </p:sp>
      <p:sp>
        <p:nvSpPr>
          <p:cNvPr id="55" name="流程箭头_55">
            <a:extLst>
              <a:ext uri="{FF2B5EF4-FFF2-40B4-BE49-F238E27FC236}">
                <a16:creationId xmlns:a16="http://schemas.microsoft.com/office/drawing/2014/main" id="{99EBCC2A-1A4F-4315-AE0B-535EF046DA04}"/>
              </a:ext>
            </a:extLst>
          </p:cNvPr>
          <p:cNvSpPr>
            <a:spLocks noGrp="1"/>
          </p:cNvSpPr>
          <p:nvPr/>
        </p:nvSpPr>
        <p:spPr>
          <a:xfrm>
            <a:off x="5562601" y="13647739"/>
            <a:ext cx="146304" cy="142875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56" name="节点_56">
            <a:extLst>
              <a:ext uri="{FF2B5EF4-FFF2-40B4-BE49-F238E27FC236}">
                <a16:creationId xmlns:a16="http://schemas.microsoft.com/office/drawing/2014/main" id="{C3EA815A-CD2F-49B7-9269-BBFFB2037170}"/>
              </a:ext>
            </a:extLst>
          </p:cNvPr>
          <p:cNvSpPr>
            <a:spLocks noGrp="1"/>
          </p:cNvSpPr>
          <p:nvPr/>
        </p:nvSpPr>
        <p:spPr>
          <a:xfrm>
            <a:off x="2395728" y="13800137"/>
            <a:ext cx="6473952" cy="1917954"/>
          </a:xfrm>
          <a:prstGeom prst="roundRect">
            <a:avLst>
              <a:gd name="adj" fmla="val 4470"/>
            </a:avLst>
          </a:prstGeom>
          <a:solidFill>
            <a:srgbClr val="FFFFFF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7" name="节点_57">
            <a:extLst>
              <a:ext uri="{FF2B5EF4-FFF2-40B4-BE49-F238E27FC236}">
                <a16:creationId xmlns:a16="http://schemas.microsoft.com/office/drawing/2014/main" id="{EC77B50E-C643-4AC4-842B-8683C454CF67}"/>
              </a:ext>
            </a:extLst>
          </p:cNvPr>
          <p:cNvSpPr>
            <a:spLocks noGrp="1"/>
          </p:cNvSpPr>
          <p:nvPr/>
        </p:nvSpPr>
        <p:spPr>
          <a:xfrm>
            <a:off x="2459737" y="13864145"/>
            <a:ext cx="6345936" cy="365760"/>
          </a:xfrm>
          <a:prstGeom prst="roundRect">
            <a:avLst>
              <a:gd name="adj" fmla="val 26042"/>
            </a:avLst>
          </a:prstGeom>
          <a:solidFill>
            <a:srgbClr val="BF8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8" name="文字_58">
            <a:extLst>
              <a:ext uri="{FF2B5EF4-FFF2-40B4-BE49-F238E27FC236}">
                <a16:creationId xmlns:a16="http://schemas.microsoft.com/office/drawing/2014/main" id="{0C30B069-EADE-4F09-A5D3-73EC39ABB04D}"/>
              </a:ext>
            </a:extLst>
          </p:cNvPr>
          <p:cNvSpPr>
            <a:spLocks noGrp="1"/>
          </p:cNvSpPr>
          <p:nvPr/>
        </p:nvSpPr>
        <p:spPr>
          <a:xfrm>
            <a:off x="2628903" y="13864145"/>
            <a:ext cx="6048375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59" name="节点_59">
            <a:extLst>
              <a:ext uri="{FF2B5EF4-FFF2-40B4-BE49-F238E27FC236}">
                <a16:creationId xmlns:a16="http://schemas.microsoft.com/office/drawing/2014/main" id="{221DEEC9-F3DC-4759-A2C6-B5DBCEEDEC81}"/>
              </a:ext>
            </a:extLst>
          </p:cNvPr>
          <p:cNvSpPr>
            <a:spLocks noGrp="1"/>
          </p:cNvSpPr>
          <p:nvPr/>
        </p:nvSpPr>
        <p:spPr>
          <a:xfrm>
            <a:off x="2578608" y="14314487"/>
            <a:ext cx="1348740" cy="847726"/>
          </a:xfrm>
          <a:prstGeom prst="roundRect">
            <a:avLst>
              <a:gd name="adj" fmla="val 11236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0" name="文字_60">
            <a:extLst>
              <a:ext uri="{FF2B5EF4-FFF2-40B4-BE49-F238E27FC236}">
                <a16:creationId xmlns:a16="http://schemas.microsoft.com/office/drawing/2014/main" id="{4BB30D64-148A-4070-B650-B7B1CA4260D4}"/>
              </a:ext>
            </a:extLst>
          </p:cNvPr>
          <p:cNvSpPr>
            <a:spLocks noGrp="1"/>
          </p:cNvSpPr>
          <p:nvPr/>
        </p:nvSpPr>
        <p:spPr>
          <a:xfrm>
            <a:off x="2626233" y="14400212"/>
            <a:ext cx="125349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网络传播分析</a:t>
            </a:r>
          </a:p>
        </p:txBody>
      </p:sp>
      <p:sp>
        <p:nvSpPr>
          <p:cNvPr id="61" name="文字_61">
            <a:extLst>
              <a:ext uri="{FF2B5EF4-FFF2-40B4-BE49-F238E27FC236}">
                <a16:creationId xmlns:a16="http://schemas.microsoft.com/office/drawing/2014/main" id="{8D5119BB-84DB-481F-B3A0-98C4DADB5692}"/>
              </a:ext>
            </a:extLst>
          </p:cNvPr>
          <p:cNvSpPr>
            <a:spLocks noGrp="1"/>
          </p:cNvSpPr>
          <p:nvPr/>
        </p:nvSpPr>
        <p:spPr>
          <a:xfrm>
            <a:off x="2635759" y="14695487"/>
            <a:ext cx="1234441" cy="39052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坝区多通道</a:t>
            </a:r>
          </a:p>
          <a:p>
            <a:pPr algn="ctr"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上下游港航网络</a:t>
            </a:r>
          </a:p>
        </p:txBody>
      </p:sp>
      <p:sp>
        <p:nvSpPr>
          <p:cNvPr id="62" name="节点_62">
            <a:extLst>
              <a:ext uri="{FF2B5EF4-FFF2-40B4-BE49-F238E27FC236}">
                <a16:creationId xmlns:a16="http://schemas.microsoft.com/office/drawing/2014/main" id="{B9FE8CF9-3E1F-47E0-8F28-159C7FDC6F6D}"/>
              </a:ext>
            </a:extLst>
          </p:cNvPr>
          <p:cNvSpPr>
            <a:spLocks noGrp="1"/>
          </p:cNvSpPr>
          <p:nvPr/>
        </p:nvSpPr>
        <p:spPr>
          <a:xfrm>
            <a:off x="4165092" y="14314487"/>
            <a:ext cx="1348740" cy="847726"/>
          </a:xfrm>
          <a:prstGeom prst="roundRect">
            <a:avLst>
              <a:gd name="adj" fmla="val 11236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3" name="文字_63">
            <a:extLst>
              <a:ext uri="{FF2B5EF4-FFF2-40B4-BE49-F238E27FC236}">
                <a16:creationId xmlns:a16="http://schemas.microsoft.com/office/drawing/2014/main" id="{BDBE4E12-30B0-4022-A7E5-FF009B872A22}"/>
              </a:ext>
            </a:extLst>
          </p:cNvPr>
          <p:cNvSpPr>
            <a:spLocks noGrp="1"/>
          </p:cNvSpPr>
          <p:nvPr/>
        </p:nvSpPr>
        <p:spPr>
          <a:xfrm>
            <a:off x="4212717" y="14400212"/>
            <a:ext cx="125349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传播与恢复规律</a:t>
            </a:r>
          </a:p>
        </p:txBody>
      </p:sp>
      <p:sp>
        <p:nvSpPr>
          <p:cNvPr id="64" name="文字_64">
            <a:extLst>
              <a:ext uri="{FF2B5EF4-FFF2-40B4-BE49-F238E27FC236}">
                <a16:creationId xmlns:a16="http://schemas.microsoft.com/office/drawing/2014/main" id="{B03985B5-2C11-4981-B92B-44611FC3175D}"/>
              </a:ext>
            </a:extLst>
          </p:cNvPr>
          <p:cNvSpPr>
            <a:spLocks noGrp="1"/>
          </p:cNvSpPr>
          <p:nvPr/>
        </p:nvSpPr>
        <p:spPr>
          <a:xfrm>
            <a:off x="4222243" y="14695487"/>
            <a:ext cx="1234441" cy="39052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时滞 · 放大阈值</a:t>
            </a:r>
          </a:p>
          <a:p>
            <a:pPr algn="ctr"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积压消散 · 恢复</a:t>
            </a:r>
          </a:p>
        </p:txBody>
      </p:sp>
      <p:sp>
        <p:nvSpPr>
          <p:cNvPr id="65" name="节点_65">
            <a:extLst>
              <a:ext uri="{FF2B5EF4-FFF2-40B4-BE49-F238E27FC236}">
                <a16:creationId xmlns:a16="http://schemas.microsoft.com/office/drawing/2014/main" id="{C1C26433-A607-4CB2-8E5B-A4D90BA0639A}"/>
              </a:ext>
            </a:extLst>
          </p:cNvPr>
          <p:cNvSpPr>
            <a:spLocks noGrp="1"/>
          </p:cNvSpPr>
          <p:nvPr/>
        </p:nvSpPr>
        <p:spPr>
          <a:xfrm>
            <a:off x="5751577" y="14314487"/>
            <a:ext cx="1348740" cy="847726"/>
          </a:xfrm>
          <a:prstGeom prst="roundRect">
            <a:avLst>
              <a:gd name="adj" fmla="val 11236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6" name="文字_66">
            <a:extLst>
              <a:ext uri="{FF2B5EF4-FFF2-40B4-BE49-F238E27FC236}">
                <a16:creationId xmlns:a16="http://schemas.microsoft.com/office/drawing/2014/main" id="{3DA08C35-DA6C-4F16-9A53-D2E0E0991A24}"/>
              </a:ext>
            </a:extLst>
          </p:cNvPr>
          <p:cNvSpPr>
            <a:spLocks noGrp="1"/>
          </p:cNvSpPr>
          <p:nvPr/>
        </p:nvSpPr>
        <p:spPr>
          <a:xfrm>
            <a:off x="5799202" y="14400212"/>
            <a:ext cx="125349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动态响应建模</a:t>
            </a:r>
          </a:p>
        </p:txBody>
      </p:sp>
      <p:sp>
        <p:nvSpPr>
          <p:cNvPr id="67" name="文字_67">
            <a:extLst>
              <a:ext uri="{FF2B5EF4-FFF2-40B4-BE49-F238E27FC236}">
                <a16:creationId xmlns:a16="http://schemas.microsoft.com/office/drawing/2014/main" id="{559A1B3A-566C-4BC3-AE18-7D43244B4DD7}"/>
              </a:ext>
            </a:extLst>
          </p:cNvPr>
          <p:cNvSpPr>
            <a:spLocks noGrp="1"/>
          </p:cNvSpPr>
          <p:nvPr/>
        </p:nvSpPr>
        <p:spPr>
          <a:xfrm>
            <a:off x="5808729" y="14695487"/>
            <a:ext cx="1234441" cy="39052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运行—市场—行为</a:t>
            </a:r>
          </a:p>
          <a:p>
            <a:pPr algn="ctr"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耦合反馈模块</a:t>
            </a:r>
          </a:p>
        </p:txBody>
      </p:sp>
      <p:sp>
        <p:nvSpPr>
          <p:cNvPr id="68" name="节点_68">
            <a:extLst>
              <a:ext uri="{FF2B5EF4-FFF2-40B4-BE49-F238E27FC236}">
                <a16:creationId xmlns:a16="http://schemas.microsoft.com/office/drawing/2014/main" id="{59BDAD15-CF01-473B-BF2D-7E8CDF520E16}"/>
              </a:ext>
            </a:extLst>
          </p:cNvPr>
          <p:cNvSpPr>
            <a:spLocks noGrp="1"/>
          </p:cNvSpPr>
          <p:nvPr/>
        </p:nvSpPr>
        <p:spPr>
          <a:xfrm>
            <a:off x="7338061" y="14314487"/>
            <a:ext cx="1348740" cy="847726"/>
          </a:xfrm>
          <a:prstGeom prst="roundRect">
            <a:avLst>
              <a:gd name="adj" fmla="val 11236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9" name="文字_69">
            <a:extLst>
              <a:ext uri="{FF2B5EF4-FFF2-40B4-BE49-F238E27FC236}">
                <a16:creationId xmlns:a16="http://schemas.microsoft.com/office/drawing/2014/main" id="{F8674356-B3C4-4390-BF0A-5AAF86E8527C}"/>
              </a:ext>
            </a:extLst>
          </p:cNvPr>
          <p:cNvSpPr>
            <a:spLocks noGrp="1"/>
          </p:cNvSpPr>
          <p:nvPr/>
        </p:nvSpPr>
        <p:spPr>
          <a:xfrm>
            <a:off x="7385686" y="14400212"/>
            <a:ext cx="125349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校准与情景检验</a:t>
            </a:r>
          </a:p>
        </p:txBody>
      </p:sp>
      <p:sp>
        <p:nvSpPr>
          <p:cNvPr id="70" name="文字_70">
            <a:extLst>
              <a:ext uri="{FF2B5EF4-FFF2-40B4-BE49-F238E27FC236}">
                <a16:creationId xmlns:a16="http://schemas.microsoft.com/office/drawing/2014/main" id="{15AF5283-B6C8-4444-A9E9-0444B46EFD5F}"/>
              </a:ext>
            </a:extLst>
          </p:cNvPr>
          <p:cNvSpPr>
            <a:spLocks noGrp="1"/>
          </p:cNvSpPr>
          <p:nvPr/>
        </p:nvSpPr>
        <p:spPr>
          <a:xfrm>
            <a:off x="7395212" y="14695487"/>
            <a:ext cx="1234441" cy="39052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典型历史事件</a:t>
            </a:r>
          </a:p>
          <a:p>
            <a:pPr algn="ctr"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多情景 · 敏感性</a:t>
            </a:r>
          </a:p>
        </p:txBody>
      </p:sp>
      <p:sp>
        <p:nvSpPr>
          <p:cNvPr id="71" name="流程箭头_71">
            <a:extLst>
              <a:ext uri="{FF2B5EF4-FFF2-40B4-BE49-F238E27FC236}">
                <a16:creationId xmlns:a16="http://schemas.microsoft.com/office/drawing/2014/main" id="{98146B87-3667-4214-B9CA-F2499268A09B}"/>
              </a:ext>
            </a:extLst>
          </p:cNvPr>
          <p:cNvSpPr>
            <a:spLocks noGrp="1"/>
          </p:cNvSpPr>
          <p:nvPr/>
        </p:nvSpPr>
        <p:spPr>
          <a:xfrm>
            <a:off x="3945636" y="14647862"/>
            <a:ext cx="201168" cy="164592"/>
          </a:xfrm>
          <a:prstGeom prst="righ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72" name="流程箭头_72">
            <a:extLst>
              <a:ext uri="{FF2B5EF4-FFF2-40B4-BE49-F238E27FC236}">
                <a16:creationId xmlns:a16="http://schemas.microsoft.com/office/drawing/2014/main" id="{76AAE1C6-3E64-41EF-A2FD-3D75CC69C7D8}"/>
              </a:ext>
            </a:extLst>
          </p:cNvPr>
          <p:cNvSpPr>
            <a:spLocks noGrp="1"/>
          </p:cNvSpPr>
          <p:nvPr/>
        </p:nvSpPr>
        <p:spPr>
          <a:xfrm>
            <a:off x="5532121" y="14647862"/>
            <a:ext cx="201168" cy="164592"/>
          </a:xfrm>
          <a:prstGeom prst="righ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73" name="流程箭头_73">
            <a:extLst>
              <a:ext uri="{FF2B5EF4-FFF2-40B4-BE49-F238E27FC236}">
                <a16:creationId xmlns:a16="http://schemas.microsoft.com/office/drawing/2014/main" id="{CCB8FC0A-7A09-4B40-AE73-6827FDC3C28A}"/>
              </a:ext>
            </a:extLst>
          </p:cNvPr>
          <p:cNvSpPr>
            <a:spLocks noGrp="1"/>
          </p:cNvSpPr>
          <p:nvPr/>
        </p:nvSpPr>
        <p:spPr>
          <a:xfrm>
            <a:off x="7118605" y="14647862"/>
            <a:ext cx="201168" cy="164592"/>
          </a:xfrm>
          <a:prstGeom prst="righ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74" name="文字_74">
            <a:extLst>
              <a:ext uri="{FF2B5EF4-FFF2-40B4-BE49-F238E27FC236}">
                <a16:creationId xmlns:a16="http://schemas.microsoft.com/office/drawing/2014/main" id="{9FBC4929-9ADA-4B68-8FDA-8560BD5AB837}"/>
              </a:ext>
            </a:extLst>
          </p:cNvPr>
          <p:cNvSpPr>
            <a:spLocks noGrp="1"/>
          </p:cNvSpPr>
          <p:nvPr/>
        </p:nvSpPr>
        <p:spPr>
          <a:xfrm>
            <a:off x="2578608" y="15238413"/>
            <a:ext cx="6108192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975" b="0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方法：动态排队理论 · 时变网络 · 离散事件仿真</a:t>
            </a:r>
          </a:p>
        </p:txBody>
      </p:sp>
      <p:sp>
        <p:nvSpPr>
          <p:cNvPr id="75" name="文字_75">
            <a:extLst>
              <a:ext uri="{FF2B5EF4-FFF2-40B4-BE49-F238E27FC236}">
                <a16:creationId xmlns:a16="http://schemas.microsoft.com/office/drawing/2014/main" id="{62BC4B03-1CFE-4D93-95B7-563B3BF967BC}"/>
              </a:ext>
            </a:extLst>
          </p:cNvPr>
          <p:cNvSpPr>
            <a:spLocks noGrp="1"/>
          </p:cNvSpPr>
          <p:nvPr/>
        </p:nvSpPr>
        <p:spPr>
          <a:xfrm>
            <a:off x="2578608" y="15447963"/>
            <a:ext cx="6108192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938" b="0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校验：能力/排队/船期/运价响应 · 参数辨识 · 误差与不确定性评估</a:t>
            </a:r>
          </a:p>
        </p:txBody>
      </p:sp>
      <p:sp>
        <p:nvSpPr>
          <p:cNvPr id="76" name="节点_76">
            <a:extLst>
              <a:ext uri="{FF2B5EF4-FFF2-40B4-BE49-F238E27FC236}">
                <a16:creationId xmlns:a16="http://schemas.microsoft.com/office/drawing/2014/main" id="{512F6271-BB70-4D63-96E7-D4D2E3E9A758}"/>
              </a:ext>
            </a:extLst>
          </p:cNvPr>
          <p:cNvSpPr>
            <a:spLocks noGrp="1"/>
          </p:cNvSpPr>
          <p:nvPr/>
        </p:nvSpPr>
        <p:spPr>
          <a:xfrm>
            <a:off x="9784080" y="10030524"/>
            <a:ext cx="2084832" cy="1024128"/>
          </a:xfrm>
          <a:prstGeom prst="roundRect">
            <a:avLst>
              <a:gd name="adj" fmla="val 9301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7" name="文字_77">
            <a:extLst>
              <a:ext uri="{FF2B5EF4-FFF2-40B4-BE49-F238E27FC236}">
                <a16:creationId xmlns:a16="http://schemas.microsoft.com/office/drawing/2014/main" id="{E7BDF336-E849-4505-AE46-8D6B5F427B70}"/>
              </a:ext>
            </a:extLst>
          </p:cNvPr>
          <p:cNvSpPr>
            <a:spLocks noGrp="1"/>
          </p:cNvSpPr>
          <p:nvPr/>
        </p:nvSpPr>
        <p:spPr>
          <a:xfrm>
            <a:off x="9831706" y="10116248"/>
            <a:ext cx="198958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指标体系与响应规律</a:t>
            </a:r>
          </a:p>
        </p:txBody>
      </p:sp>
      <p:sp>
        <p:nvSpPr>
          <p:cNvPr id="78" name="文字_78">
            <a:extLst>
              <a:ext uri="{FF2B5EF4-FFF2-40B4-BE49-F238E27FC236}">
                <a16:creationId xmlns:a16="http://schemas.microsoft.com/office/drawing/2014/main" id="{C535A015-80B4-4E96-81DD-CD2C86450D29}"/>
              </a:ext>
            </a:extLst>
          </p:cNvPr>
          <p:cNvSpPr>
            <a:spLocks noGrp="1"/>
          </p:cNvSpPr>
          <p:nvPr/>
        </p:nvSpPr>
        <p:spPr>
          <a:xfrm>
            <a:off x="9841231" y="10411524"/>
            <a:ext cx="1970532" cy="5669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 · 流量 · 拥堵</a:t>
            </a:r>
          </a:p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时效 · 可靠性</a:t>
            </a:r>
          </a:p>
        </p:txBody>
      </p:sp>
      <p:sp>
        <p:nvSpPr>
          <p:cNvPr id="79" name="节点_79">
            <a:extLst>
              <a:ext uri="{FF2B5EF4-FFF2-40B4-BE49-F238E27FC236}">
                <a16:creationId xmlns:a16="http://schemas.microsoft.com/office/drawing/2014/main" id="{15DBF7F6-0441-4413-BCD3-2D1E6BBAB32F}"/>
              </a:ext>
            </a:extLst>
          </p:cNvPr>
          <p:cNvSpPr>
            <a:spLocks noGrp="1"/>
          </p:cNvSpPr>
          <p:nvPr/>
        </p:nvSpPr>
        <p:spPr>
          <a:xfrm>
            <a:off x="9784080" y="11255820"/>
            <a:ext cx="2084832" cy="1024128"/>
          </a:xfrm>
          <a:prstGeom prst="roundRect">
            <a:avLst>
              <a:gd name="adj" fmla="val 9301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0" name="文字_80">
            <a:extLst>
              <a:ext uri="{FF2B5EF4-FFF2-40B4-BE49-F238E27FC236}">
                <a16:creationId xmlns:a16="http://schemas.microsoft.com/office/drawing/2014/main" id="{A42A3FDE-CC31-413D-B23F-73347D41E8AC}"/>
              </a:ext>
            </a:extLst>
          </p:cNvPr>
          <p:cNvSpPr>
            <a:spLocks noGrp="1"/>
          </p:cNvSpPr>
          <p:nvPr/>
        </p:nvSpPr>
        <p:spPr>
          <a:xfrm>
            <a:off x="9831706" y="11341544"/>
            <a:ext cx="198958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市场响应与行为参数</a:t>
            </a:r>
          </a:p>
        </p:txBody>
      </p:sp>
      <p:sp>
        <p:nvSpPr>
          <p:cNvPr id="81" name="文字_81">
            <a:extLst>
              <a:ext uri="{FF2B5EF4-FFF2-40B4-BE49-F238E27FC236}">
                <a16:creationId xmlns:a16="http://schemas.microsoft.com/office/drawing/2014/main" id="{799FB099-DED4-4E94-A6D6-26A31D06DC4D}"/>
              </a:ext>
            </a:extLst>
          </p:cNvPr>
          <p:cNvSpPr>
            <a:spLocks noGrp="1"/>
          </p:cNvSpPr>
          <p:nvPr/>
        </p:nvSpPr>
        <p:spPr>
          <a:xfrm>
            <a:off x="9841231" y="11636820"/>
            <a:ext cx="1970532" cy="5669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成本 · 运价 · 收益变化</a:t>
            </a:r>
          </a:p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选择弹性 · 调整时滞</a:t>
            </a:r>
          </a:p>
        </p:txBody>
      </p:sp>
      <p:sp>
        <p:nvSpPr>
          <p:cNvPr id="82" name="节点_82">
            <a:extLst>
              <a:ext uri="{FF2B5EF4-FFF2-40B4-BE49-F238E27FC236}">
                <a16:creationId xmlns:a16="http://schemas.microsoft.com/office/drawing/2014/main" id="{C82FA156-E9DB-4FB6-9930-51B5E9136A20}"/>
              </a:ext>
            </a:extLst>
          </p:cNvPr>
          <p:cNvSpPr>
            <a:spLocks noGrp="1"/>
          </p:cNvSpPr>
          <p:nvPr/>
        </p:nvSpPr>
        <p:spPr>
          <a:xfrm>
            <a:off x="9784080" y="12481116"/>
            <a:ext cx="2084832" cy="1024128"/>
          </a:xfrm>
          <a:prstGeom prst="roundRect">
            <a:avLst>
              <a:gd name="adj" fmla="val 9301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3" name="文字_83">
            <a:extLst>
              <a:ext uri="{FF2B5EF4-FFF2-40B4-BE49-F238E27FC236}">
                <a16:creationId xmlns:a16="http://schemas.microsoft.com/office/drawing/2014/main" id="{7706700E-F243-4867-AA6B-27CEDFFDBC63}"/>
              </a:ext>
            </a:extLst>
          </p:cNvPr>
          <p:cNvSpPr>
            <a:spLocks noGrp="1"/>
          </p:cNvSpPr>
          <p:nvPr/>
        </p:nvSpPr>
        <p:spPr>
          <a:xfrm>
            <a:off x="9831706" y="12566840"/>
            <a:ext cx="198958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波动传播与恢复参数</a:t>
            </a:r>
          </a:p>
        </p:txBody>
      </p:sp>
      <p:sp>
        <p:nvSpPr>
          <p:cNvPr id="84" name="文字_84">
            <a:extLst>
              <a:ext uri="{FF2B5EF4-FFF2-40B4-BE49-F238E27FC236}">
                <a16:creationId xmlns:a16="http://schemas.microsoft.com/office/drawing/2014/main" id="{08023EC9-1D57-4CE1-A0E6-DDF854104C38}"/>
              </a:ext>
            </a:extLst>
          </p:cNvPr>
          <p:cNvSpPr>
            <a:spLocks noGrp="1"/>
          </p:cNvSpPr>
          <p:nvPr/>
        </p:nvSpPr>
        <p:spPr>
          <a:xfrm>
            <a:off x="9841231" y="12862116"/>
            <a:ext cx="1970532" cy="5669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传播时滞 · 非线性阈值</a:t>
            </a:r>
          </a:p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积压消散 · 系统恢复</a:t>
            </a:r>
          </a:p>
        </p:txBody>
      </p:sp>
      <p:sp>
        <p:nvSpPr>
          <p:cNvPr id="85" name="节点_85">
            <a:extLst>
              <a:ext uri="{FF2B5EF4-FFF2-40B4-BE49-F238E27FC236}">
                <a16:creationId xmlns:a16="http://schemas.microsoft.com/office/drawing/2014/main" id="{2AD43059-9E54-4241-ADEA-53C4BF15AD7B}"/>
              </a:ext>
            </a:extLst>
          </p:cNvPr>
          <p:cNvSpPr>
            <a:spLocks noGrp="1"/>
          </p:cNvSpPr>
          <p:nvPr/>
        </p:nvSpPr>
        <p:spPr>
          <a:xfrm>
            <a:off x="9784080" y="13706412"/>
            <a:ext cx="2084832" cy="1024128"/>
          </a:xfrm>
          <a:prstGeom prst="roundRect">
            <a:avLst>
              <a:gd name="adj" fmla="val 9301"/>
            </a:avLst>
          </a:prstGeom>
          <a:solidFill>
            <a:srgbClr val="FDEBE0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6" name="文字_86">
            <a:extLst>
              <a:ext uri="{FF2B5EF4-FFF2-40B4-BE49-F238E27FC236}">
                <a16:creationId xmlns:a16="http://schemas.microsoft.com/office/drawing/2014/main" id="{2970AB4E-0AC8-4991-B491-BFEEB82984A7}"/>
              </a:ext>
            </a:extLst>
          </p:cNvPr>
          <p:cNvSpPr>
            <a:spLocks noGrp="1"/>
          </p:cNvSpPr>
          <p:nvPr/>
        </p:nvSpPr>
        <p:spPr>
          <a:xfrm>
            <a:off x="9831706" y="13792136"/>
            <a:ext cx="198958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航运动态响应模块</a:t>
            </a:r>
          </a:p>
        </p:txBody>
      </p:sp>
      <p:sp>
        <p:nvSpPr>
          <p:cNvPr id="87" name="文字_87">
            <a:extLst>
              <a:ext uri="{FF2B5EF4-FFF2-40B4-BE49-F238E27FC236}">
                <a16:creationId xmlns:a16="http://schemas.microsoft.com/office/drawing/2014/main" id="{33A937B4-00DC-44F4-8795-194078F1C482}"/>
              </a:ext>
            </a:extLst>
          </p:cNvPr>
          <p:cNvSpPr>
            <a:spLocks noGrp="1"/>
          </p:cNvSpPr>
          <p:nvPr/>
        </p:nvSpPr>
        <p:spPr>
          <a:xfrm>
            <a:off x="9841231" y="14087412"/>
            <a:ext cx="1970532" cy="5669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运行—市场—行为耦合</a:t>
            </a:r>
          </a:p>
          <a:p>
            <a:pPr algn="ctr"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标准化参数与输入输出接口</a:t>
            </a:r>
          </a:p>
        </p:txBody>
      </p:sp>
      <p:sp>
        <p:nvSpPr>
          <p:cNvPr id="88" name="流程箭头_88">
            <a:extLst>
              <a:ext uri="{FF2B5EF4-FFF2-40B4-BE49-F238E27FC236}">
                <a16:creationId xmlns:a16="http://schemas.microsoft.com/office/drawing/2014/main" id="{C4320992-0512-4296-835F-42C74042440D}"/>
              </a:ext>
            </a:extLst>
          </p:cNvPr>
          <p:cNvSpPr>
            <a:spLocks noGrp="1"/>
          </p:cNvSpPr>
          <p:nvPr/>
        </p:nvSpPr>
        <p:spPr>
          <a:xfrm>
            <a:off x="10753344" y="11085512"/>
            <a:ext cx="146304" cy="146304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89" name="流程箭头_89">
            <a:extLst>
              <a:ext uri="{FF2B5EF4-FFF2-40B4-BE49-F238E27FC236}">
                <a16:creationId xmlns:a16="http://schemas.microsoft.com/office/drawing/2014/main" id="{4173A505-3A9E-427B-9401-6597CD958C66}"/>
              </a:ext>
            </a:extLst>
          </p:cNvPr>
          <p:cNvSpPr>
            <a:spLocks noGrp="1"/>
          </p:cNvSpPr>
          <p:nvPr/>
        </p:nvSpPr>
        <p:spPr>
          <a:xfrm>
            <a:off x="10753344" y="12309475"/>
            <a:ext cx="146304" cy="146304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90" name="流程箭头_90">
            <a:extLst>
              <a:ext uri="{FF2B5EF4-FFF2-40B4-BE49-F238E27FC236}">
                <a16:creationId xmlns:a16="http://schemas.microsoft.com/office/drawing/2014/main" id="{9E8BE217-68BF-4719-8D0E-7BF0ACE76A56}"/>
              </a:ext>
            </a:extLst>
          </p:cNvPr>
          <p:cNvSpPr>
            <a:spLocks noGrp="1"/>
          </p:cNvSpPr>
          <p:nvPr/>
        </p:nvSpPr>
        <p:spPr>
          <a:xfrm>
            <a:off x="10753344" y="13533437"/>
            <a:ext cx="146304" cy="146304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91" name="节点_91">
            <a:extLst>
              <a:ext uri="{FF2B5EF4-FFF2-40B4-BE49-F238E27FC236}">
                <a16:creationId xmlns:a16="http://schemas.microsoft.com/office/drawing/2014/main" id="{84EA81F0-292A-4CB0-A995-FC128D0E99A7}"/>
              </a:ext>
            </a:extLst>
          </p:cNvPr>
          <p:cNvSpPr>
            <a:spLocks noGrp="1"/>
          </p:cNvSpPr>
          <p:nvPr/>
        </p:nvSpPr>
        <p:spPr>
          <a:xfrm>
            <a:off x="9784080" y="14931708"/>
            <a:ext cx="2084832" cy="658368"/>
          </a:xfrm>
          <a:prstGeom prst="roundRect">
            <a:avLst>
              <a:gd name="adj" fmla="val 14468"/>
            </a:avLst>
          </a:prstGeom>
          <a:solidFill>
            <a:srgbClr val="1F4E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2" name="文字_92">
            <a:extLst>
              <a:ext uri="{FF2B5EF4-FFF2-40B4-BE49-F238E27FC236}">
                <a16:creationId xmlns:a16="http://schemas.microsoft.com/office/drawing/2014/main" id="{980AC525-08C7-40F3-92AF-0CCBD7D58568}"/>
              </a:ext>
            </a:extLst>
          </p:cNvPr>
          <p:cNvSpPr>
            <a:spLocks noGrp="1"/>
          </p:cNvSpPr>
          <p:nvPr/>
        </p:nvSpPr>
        <p:spPr>
          <a:xfrm>
            <a:off x="9848852" y="14971711"/>
            <a:ext cx="1952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支撑子课题五</a:t>
            </a:r>
          </a:p>
          <a:p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级联模型集成与验证</a:t>
            </a:r>
          </a:p>
        </p:txBody>
      </p:sp>
      <p:sp>
        <p:nvSpPr>
          <p:cNvPr id="93" name="文字_93">
            <a:extLst>
              <a:ext uri="{FF2B5EF4-FFF2-40B4-BE49-F238E27FC236}">
                <a16:creationId xmlns:a16="http://schemas.microsoft.com/office/drawing/2014/main" id="{3CC412CA-89E5-46E5-A0ED-A25A54065AB0}"/>
              </a:ext>
            </a:extLst>
          </p:cNvPr>
          <p:cNvSpPr>
            <a:spLocks noGrp="1"/>
          </p:cNvSpPr>
          <p:nvPr/>
        </p:nvSpPr>
        <p:spPr>
          <a:xfrm>
            <a:off x="2395731" y="15790863"/>
            <a:ext cx="947737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研究边界：航运运行、服务及直接市场经营响应；区域经济与产业链响应由相关子课题开展。</a:t>
            </a:r>
          </a:p>
        </p:txBody>
      </p:sp>
    </p:spTree>
    <p:extLst>
      <p:ext uri="{BB962C8B-B14F-4D97-AF65-F5344CB8AC3E}">
        <p14:creationId xmlns:p14="http://schemas.microsoft.com/office/powerpoint/2010/main" val="1279339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596378BD0A034CA010BCA7B12858A4" ma:contentTypeVersion="14" ma:contentTypeDescription="Create a new document." ma:contentTypeScope="" ma:versionID="9369bf9e028bb3ca07af097fb0267f78">
  <xsd:schema xmlns:xsd="http://www.w3.org/2001/XMLSchema" xmlns:xs="http://www.w3.org/2001/XMLSchema" xmlns:p="http://schemas.microsoft.com/office/2006/metadata/properties" xmlns:ns3="2840ae5c-a96c-4873-9eff-317269bfd306" targetNamespace="http://schemas.microsoft.com/office/2006/metadata/properties" ma:root="true" ma:fieldsID="63f35e9d30a0212470227851159404e3" ns3:_="">
    <xsd:import namespace="2840ae5c-a96c-4873-9eff-317269bfd3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0ae5c-a96c-4873-9eff-317269bfd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40ae5c-a96c-4873-9eff-317269bfd306" xsi:nil="true"/>
  </documentManagement>
</p:properties>
</file>

<file path=customXml/itemProps1.xml><?xml version="1.0" encoding="utf-8"?>
<ds:datastoreItem xmlns:ds="http://schemas.openxmlformats.org/officeDocument/2006/customXml" ds:itemID="{7650E56E-0C26-4510-AFD8-606AF34A3A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0ae5c-a96c-4873-9eff-317269bfd3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3D5EB6-ED5A-4013-BAAD-2CE11AACDC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0766A0-2E15-467E-82A8-07DF070064B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2840ae5c-a96c-4873-9eff-317269bfd306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383</Words>
  <Application>Microsoft Office PowerPoint</Application>
  <PresentationFormat>自定义</PresentationFormat>
  <Paragraphs>176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微软雅黑</vt:lpstr>
      <vt:lpstr>Arial</vt:lpstr>
      <vt:lpstr>Calibri</vt:lpstr>
      <vt:lpstr>Office Theme</vt:lpstr>
      <vt:lpstr>ChatGPT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子课题3 技术路线图</dc:title>
  <dc:subject/>
  <dc:creator>xindodo</dc:creator>
  <cp:keywords/>
  <dc:description>generated using python-pptx</dc:description>
  <cp:lastModifiedBy>赵欣</cp:lastModifiedBy>
  <cp:revision>3</cp:revision>
  <dcterms:created xsi:type="dcterms:W3CDTF">2013-01-27T09:14:16Z</dcterms:created>
  <dcterms:modified xsi:type="dcterms:W3CDTF">2026-10-05T03:50:27Z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0x0101003E596378BD0A034CA010BCA7B12858A4</vt:lpwstr>
  </property>
</Properties>
</file>