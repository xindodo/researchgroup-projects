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4" r:id="rId5"/>
    <p:sldMasterId id="2147483666" r:id="rId6"/>
  </p:sldMasterIdLst>
  <p:notesMasterIdLst>
    <p:notesMasterId r:id="rId8"/>
  </p:notesMasterIdLst>
  <p:sldIdLst>
    <p:sldId id="259" r:id="rId7"/>
    <p:sldId id="260" r:id="R330b98e49a29459d"/>
  </p:sldIdLst>
  <p:sldSz cx="1219200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3538" y="106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notesMasters/notesMaster1.xml" Id="rId8" /><Relationship Type="http://schemas.openxmlformats.org/officeDocument/2006/relationships/customXml" Target="../customXml/item3.xml" Id="rId3" /><Relationship Type="http://schemas.openxmlformats.org/officeDocument/2006/relationships/slide" Target="slides/slide1.xml" Id="rId7" /><Relationship Type="http://schemas.openxmlformats.org/officeDocument/2006/relationships/tableStyles" Target="tableStyles.xml" Id="rId12" /><Relationship Type="http://schemas.openxmlformats.org/officeDocument/2006/relationships/customXml" Target="../customXml/item2.xml" Id="rId2" /><Relationship Type="http://schemas.openxmlformats.org/officeDocument/2006/relationships/customXml" Target="../customXml/item1.xml" Id="rId1" /><Relationship Type="http://schemas.openxmlformats.org/officeDocument/2006/relationships/slideMaster" Target="slideMasters/slideMaster3.xml" Id="rId6" /><Relationship Type="http://schemas.openxmlformats.org/officeDocument/2006/relationships/theme" Target="theme/theme1.xml" Id="rId11" /><Relationship Type="http://schemas.openxmlformats.org/officeDocument/2006/relationships/slideMaster" Target="slideMasters/slideMaster2.xml" Id="rId5" /><Relationship Type="http://schemas.openxmlformats.org/officeDocument/2006/relationships/viewProps" Target="viewProps.xml" Id="rId10" /><Relationship Type="http://schemas.openxmlformats.org/officeDocument/2006/relationships/slideMaster" Target="slideMasters/slideMaster1.xml" Id="rId4" /><Relationship Type="http://schemas.openxmlformats.org/officeDocument/2006/relationships/presProps" Target="presProps.xml" Id="rId9" /><Relationship Type="http://schemas.openxmlformats.org/officeDocument/2006/relationships/slide" Target="/ppt/slides/slide2.xml" Id="R330b98e49a29459d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新版技术路线保留原第一页。子课题1提供系统特征、常态基准及需求基础；子课题2提供施工扰动、通航约束及机理参数。子课题3统筹运输能力、排队、锚地、船舶周转、物流时间与成本、运输需求反馈建模，形成多情景量化输出。实际通过量与有效能力分别计算，暂时积压不等于需求消失。子课题4负责跨运输方式选择与产业链、供应链后果测算，并向本模型反馈需求更新。费用与货物时间价值分别输出，避免重复计入产业损失。锚地布置作为配置情景研究，未承诺开展独立的设施选址优化。模型数据与参数尚需获取、校准及独立事件检验。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2fcaaaddf4267" /><Relationship Type="http://schemas.openxmlformats.org/officeDocument/2006/relationships/notesSlide" Target="/ppt/notesSlides/notesSlide2.xml" Id="R4fc3e37c50df4d5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总标题_1">
            <a:extLst>
              <a:ext uri="{FF2B5EF4-FFF2-40B4-BE49-F238E27FC236}">
                <a16:creationId xmlns:a16="http://schemas.microsoft.com/office/drawing/2014/main" id="{F2E36D8F-4E05-41BD-9C38-1F58AFD546EC}"/>
              </a:ext>
            </a:extLst>
          </p:cNvPr>
          <p:cNvSpPr>
            <a:spLocks noGrp="1"/>
          </p:cNvSpPr>
          <p:nvPr/>
        </p:nvSpPr>
        <p:spPr>
          <a:xfrm>
            <a:off x="566928" y="209550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>
              <a:ext uri="{FF2B5EF4-FFF2-40B4-BE49-F238E27FC236}">
                <a16:creationId xmlns:a16="http://schemas.microsoft.com/office/drawing/2014/main" id="{1D196D72-FD71-43A0-A10F-444D14ECAE12}"/>
              </a:ext>
            </a:extLst>
          </p:cNvPr>
          <p:cNvSpPr>
            <a:spLocks noGrp="1"/>
          </p:cNvSpPr>
          <p:nvPr/>
        </p:nvSpPr>
        <p:spPr>
          <a:xfrm>
            <a:off x="5810250" y="266700"/>
            <a:ext cx="5810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>
              <a:ext uri="{FF2B5EF4-FFF2-40B4-BE49-F238E27FC236}">
                <a16:creationId xmlns:a16="http://schemas.microsoft.com/office/drawing/2014/main" id="{4CA63308-4EA1-403A-B6DC-D864E6371F27}"/>
              </a:ext>
            </a:extLst>
          </p:cNvPr>
          <p:cNvSpPr>
            <a:spLocks noGrp="1"/>
          </p:cNvSpPr>
          <p:nvPr/>
        </p:nvSpPr>
        <p:spPr>
          <a:xfrm>
            <a:off x="566928" y="685800"/>
            <a:ext cx="11057858" cy="14288"/>
          </a:xfrm>
          <a:prstGeom prst="rect">
            <a:avLst/>
          </a:prstGeom>
          <a:solidFill>
            <a:srgbClr val="BDD7EE"/>
          </a:solidFill>
          <a:ln w="0">
            <a:noFill/>
          </a:ln>
        </p:spPr>
      </p:sp>
      <p:sp>
        <p:nvSpPr>
          <p:cNvPr id="4" name="数据侧栏_4">
            <a:extLst>
              <a:ext uri="{FF2B5EF4-FFF2-40B4-BE49-F238E27FC236}">
                <a16:creationId xmlns:a16="http://schemas.microsoft.com/office/drawing/2014/main" id="{8659C039-FC91-49D1-9CBC-FD196C16C3AF}"/>
              </a:ext>
            </a:extLst>
          </p:cNvPr>
          <p:cNvSpPr>
            <a:spLocks noGrp="1"/>
          </p:cNvSpPr>
          <p:nvPr/>
        </p:nvSpPr>
        <p:spPr>
          <a:xfrm>
            <a:off x="32918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C55A1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" name="成果侧栏_5">
            <a:extLst>
              <a:ext uri="{FF2B5EF4-FFF2-40B4-BE49-F238E27FC236}">
                <a16:creationId xmlns:a16="http://schemas.microsoft.com/office/drawing/2014/main" id="{77744A0F-742F-4B30-BDC5-E5B90A6CC18B}"/>
              </a:ext>
            </a:extLst>
          </p:cNvPr>
          <p:cNvSpPr>
            <a:spLocks noGrp="1"/>
          </p:cNvSpPr>
          <p:nvPr/>
        </p:nvSpPr>
        <p:spPr>
          <a:xfrm>
            <a:off x="9198864" y="790575"/>
            <a:ext cx="457200" cy="1790699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" name="文字_6">
            <a:extLst>
              <a:ext uri="{FF2B5EF4-FFF2-40B4-BE49-F238E27FC236}">
                <a16:creationId xmlns:a16="http://schemas.microsoft.com/office/drawing/2014/main" id="{81C887F2-635F-4E3F-AE2F-031A57100510}"/>
              </a:ext>
            </a:extLst>
          </p:cNvPr>
          <p:cNvSpPr>
            <a:spLocks noGrp="1"/>
          </p:cNvSpPr>
          <p:nvPr/>
        </p:nvSpPr>
        <p:spPr>
          <a:xfrm>
            <a:off x="329184" y="8349888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  <a:endParaRPr sz="165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字_9">
            <a:extLst>
              <a:ext uri="{FF2B5EF4-FFF2-40B4-BE49-F238E27FC236}">
                <a16:creationId xmlns:a16="http://schemas.microsoft.com/office/drawing/2014/main" id="{1C740A2E-C413-45A6-B0C0-2DB1709B0F57}"/>
              </a:ext>
            </a:extLst>
          </p:cNvPr>
          <p:cNvSpPr>
            <a:spLocks noGrp="1"/>
          </p:cNvSpPr>
          <p:nvPr/>
        </p:nvSpPr>
        <p:spPr>
          <a:xfrm>
            <a:off x="9198864" y="8191500"/>
            <a:ext cx="4572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>
              <a:ext uri="{FF2B5EF4-FFF2-40B4-BE49-F238E27FC236}">
                <a16:creationId xmlns:a16="http://schemas.microsoft.com/office/drawing/2014/main" id="{31F1A1B7-89C6-4098-BB84-275537F84BAD}"/>
              </a:ext>
            </a:extLst>
          </p:cNvPr>
          <p:cNvSpPr>
            <a:spLocks noGrp="1"/>
          </p:cNvSpPr>
          <p:nvPr/>
        </p:nvSpPr>
        <p:spPr>
          <a:xfrm>
            <a:off x="896112" y="1381125"/>
            <a:ext cx="1188720" cy="17335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" name="文字_13">
            <a:extLst>
              <a:ext uri="{FF2B5EF4-FFF2-40B4-BE49-F238E27FC236}">
                <a16:creationId xmlns:a16="http://schemas.microsoft.com/office/drawing/2014/main" id="{8F3D4E8A-50B4-4FF8-9DF5-2D062A59FF1A}"/>
              </a:ext>
            </a:extLst>
          </p:cNvPr>
          <p:cNvSpPr>
            <a:spLocks noGrp="1"/>
          </p:cNvSpPr>
          <p:nvPr/>
        </p:nvSpPr>
        <p:spPr>
          <a:xfrm>
            <a:off x="972312" y="14478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>
              <a:ext uri="{FF2B5EF4-FFF2-40B4-BE49-F238E27FC236}">
                <a16:creationId xmlns:a16="http://schemas.microsoft.com/office/drawing/2014/main" id="{C60ABC95-820E-4FC2-8DAE-5679E559EB5D}"/>
              </a:ext>
            </a:extLst>
          </p:cNvPr>
          <p:cNvSpPr>
            <a:spLocks noGrp="1"/>
          </p:cNvSpPr>
          <p:nvPr/>
        </p:nvSpPr>
        <p:spPr>
          <a:xfrm>
            <a:off x="1000887" y="1943100"/>
            <a:ext cx="97917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>
              <a:ext uri="{FF2B5EF4-FFF2-40B4-BE49-F238E27FC236}">
                <a16:creationId xmlns:a16="http://schemas.microsoft.com/office/drawing/2014/main" id="{981076E2-DC8A-435C-AE19-1F73D3153EAE}"/>
              </a:ext>
            </a:extLst>
          </p:cNvPr>
          <p:cNvSpPr>
            <a:spLocks noGrp="1"/>
          </p:cNvSpPr>
          <p:nvPr/>
        </p:nvSpPr>
        <p:spPr>
          <a:xfrm>
            <a:off x="896112" y="3476625"/>
            <a:ext cx="1188720" cy="203835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" name="文字_16">
            <a:extLst>
              <a:ext uri="{FF2B5EF4-FFF2-40B4-BE49-F238E27FC236}">
                <a16:creationId xmlns:a16="http://schemas.microsoft.com/office/drawing/2014/main" id="{C010C31F-D4DA-4E9B-B52D-B006145C12E4}"/>
              </a:ext>
            </a:extLst>
          </p:cNvPr>
          <p:cNvSpPr>
            <a:spLocks noGrp="1"/>
          </p:cNvSpPr>
          <p:nvPr/>
        </p:nvSpPr>
        <p:spPr>
          <a:xfrm>
            <a:off x="972312" y="35433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>
              <a:ext uri="{FF2B5EF4-FFF2-40B4-BE49-F238E27FC236}">
                <a16:creationId xmlns:a16="http://schemas.microsoft.com/office/drawing/2014/main" id="{1A5C8449-DE4E-49E2-82DD-CCB315E0F813}"/>
              </a:ext>
            </a:extLst>
          </p:cNvPr>
          <p:cNvSpPr>
            <a:spLocks noGrp="1"/>
          </p:cNvSpPr>
          <p:nvPr/>
        </p:nvSpPr>
        <p:spPr>
          <a:xfrm>
            <a:off x="1000887" y="4038600"/>
            <a:ext cx="97917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>
              <a:ext uri="{FF2B5EF4-FFF2-40B4-BE49-F238E27FC236}">
                <a16:creationId xmlns:a16="http://schemas.microsoft.com/office/drawing/2014/main" id="{FE3000DC-D390-4E91-992E-FBC1D94907D4}"/>
              </a:ext>
            </a:extLst>
          </p:cNvPr>
          <p:cNvSpPr>
            <a:spLocks noGrp="1"/>
          </p:cNvSpPr>
          <p:nvPr/>
        </p:nvSpPr>
        <p:spPr>
          <a:xfrm>
            <a:off x="896112" y="5724525"/>
            <a:ext cx="1188720" cy="1571625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文字_19">
            <a:extLst>
              <a:ext uri="{FF2B5EF4-FFF2-40B4-BE49-F238E27FC236}">
                <a16:creationId xmlns:a16="http://schemas.microsoft.com/office/drawing/2014/main" id="{B5213921-2C7D-4DB9-8585-2C58D9EE9687}"/>
              </a:ext>
            </a:extLst>
          </p:cNvPr>
          <p:cNvSpPr>
            <a:spLocks noGrp="1"/>
          </p:cNvSpPr>
          <p:nvPr/>
        </p:nvSpPr>
        <p:spPr>
          <a:xfrm>
            <a:off x="972312" y="5791200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>
              <a:ext uri="{FF2B5EF4-FFF2-40B4-BE49-F238E27FC236}">
                <a16:creationId xmlns:a16="http://schemas.microsoft.com/office/drawing/2014/main" id="{13B8E336-2E9F-4CA7-8CE2-0D198DDB5383}"/>
              </a:ext>
            </a:extLst>
          </p:cNvPr>
          <p:cNvSpPr>
            <a:spLocks noGrp="1"/>
          </p:cNvSpPr>
          <p:nvPr/>
        </p:nvSpPr>
        <p:spPr>
          <a:xfrm>
            <a:off x="1000887" y="6286500"/>
            <a:ext cx="97917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>
              <a:ext uri="{FF2B5EF4-FFF2-40B4-BE49-F238E27FC236}">
                <a16:creationId xmlns:a16="http://schemas.microsoft.com/office/drawing/2014/main" id="{F875BD76-991A-41EC-BE88-C792F8E52A49}"/>
              </a:ext>
            </a:extLst>
          </p:cNvPr>
          <p:cNvSpPr>
            <a:spLocks noGrp="1"/>
          </p:cNvSpPr>
          <p:nvPr/>
        </p:nvSpPr>
        <p:spPr>
          <a:xfrm>
            <a:off x="896112" y="8210550"/>
            <a:ext cx="1188720" cy="18288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2" name="文字_22">
            <a:extLst>
              <a:ext uri="{FF2B5EF4-FFF2-40B4-BE49-F238E27FC236}">
                <a16:creationId xmlns:a16="http://schemas.microsoft.com/office/drawing/2014/main" id="{C77157A8-02FB-49C3-81A6-67779E7C3A98}"/>
              </a:ext>
            </a:extLst>
          </p:cNvPr>
          <p:cNvSpPr>
            <a:spLocks noGrp="1"/>
          </p:cNvSpPr>
          <p:nvPr/>
        </p:nvSpPr>
        <p:spPr>
          <a:xfrm>
            <a:off x="972312" y="827722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>
              <a:ext uri="{FF2B5EF4-FFF2-40B4-BE49-F238E27FC236}">
                <a16:creationId xmlns:a16="http://schemas.microsoft.com/office/drawing/2014/main" id="{40D3831F-5306-4821-B611-7822B0FBD44E}"/>
              </a:ext>
            </a:extLst>
          </p:cNvPr>
          <p:cNvSpPr>
            <a:spLocks noGrp="1"/>
          </p:cNvSpPr>
          <p:nvPr/>
        </p:nvSpPr>
        <p:spPr>
          <a:xfrm>
            <a:off x="1000887" y="8772525"/>
            <a:ext cx="97917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>
              <a:ext uri="{FF2B5EF4-FFF2-40B4-BE49-F238E27FC236}">
                <a16:creationId xmlns:a16="http://schemas.microsoft.com/office/drawing/2014/main" id="{2298CE8A-71EB-4755-9B54-6D1158BDFBF4}"/>
              </a:ext>
            </a:extLst>
          </p:cNvPr>
          <p:cNvSpPr>
            <a:spLocks noGrp="1"/>
          </p:cNvSpPr>
          <p:nvPr/>
        </p:nvSpPr>
        <p:spPr>
          <a:xfrm>
            <a:off x="896112" y="14592300"/>
            <a:ext cx="1188720" cy="1943100"/>
          </a:xfrm>
          <a:prstGeom prst="roundRect">
            <a:avLst>
              <a:gd name="adj" fmla="val 8013"/>
            </a:avLst>
          </a:prstGeom>
          <a:solidFill>
            <a:srgbClr val="FFFFFF"/>
          </a:solidFill>
          <a:ln w="16193">
            <a:solidFill>
              <a:srgbClr val="C55A1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5" name="文字_25">
            <a:extLst>
              <a:ext uri="{FF2B5EF4-FFF2-40B4-BE49-F238E27FC236}">
                <a16:creationId xmlns:a16="http://schemas.microsoft.com/office/drawing/2014/main" id="{F140D7BF-700B-42FE-9AE0-D9057B785CF8}"/>
              </a:ext>
            </a:extLst>
          </p:cNvPr>
          <p:cNvSpPr>
            <a:spLocks noGrp="1"/>
          </p:cNvSpPr>
          <p:nvPr/>
        </p:nvSpPr>
        <p:spPr>
          <a:xfrm>
            <a:off x="972312" y="14658975"/>
            <a:ext cx="103632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>
              <a:ext uri="{FF2B5EF4-FFF2-40B4-BE49-F238E27FC236}">
                <a16:creationId xmlns:a16="http://schemas.microsoft.com/office/drawing/2014/main" id="{B0C92E80-024A-4C4D-965B-71EBF80CF25E}"/>
              </a:ext>
            </a:extLst>
          </p:cNvPr>
          <p:cNvSpPr>
            <a:spLocks noGrp="1"/>
          </p:cNvSpPr>
          <p:nvPr/>
        </p:nvSpPr>
        <p:spPr>
          <a:xfrm>
            <a:off x="1000887" y="15154275"/>
            <a:ext cx="97917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>
              <a:ext uri="{FF2B5EF4-FFF2-40B4-BE49-F238E27FC236}">
                <a16:creationId xmlns:a16="http://schemas.microsoft.com/office/drawing/2014/main" id="{139392C6-8A38-4CB4-A0D8-E59C6E9BFC6E}"/>
              </a:ext>
            </a:extLst>
          </p:cNvPr>
          <p:cNvSpPr>
            <a:spLocks noGrp="1"/>
          </p:cNvSpPr>
          <p:nvPr/>
        </p:nvSpPr>
        <p:spPr>
          <a:xfrm>
            <a:off x="2395728" y="790575"/>
            <a:ext cx="6473952" cy="6677025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8" name="模块标题背景_28">
            <a:extLst>
              <a:ext uri="{FF2B5EF4-FFF2-40B4-BE49-F238E27FC236}">
                <a16:creationId xmlns:a16="http://schemas.microsoft.com/office/drawing/2014/main" id="{8265C9F0-ABE8-40ED-8A13-0FD9CFB662CB}"/>
              </a:ext>
            </a:extLst>
          </p:cNvPr>
          <p:cNvSpPr>
            <a:spLocks noGrp="1"/>
          </p:cNvSpPr>
          <p:nvPr/>
        </p:nvSpPr>
        <p:spPr>
          <a:xfrm>
            <a:off x="2459736" y="85458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E75B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9" name="模块标题_29">
            <a:extLst>
              <a:ext uri="{FF2B5EF4-FFF2-40B4-BE49-F238E27FC236}">
                <a16:creationId xmlns:a16="http://schemas.microsoft.com/office/drawing/2014/main" id="{5B297A9C-4584-4919-A55E-9C89CF38982B}"/>
              </a:ext>
            </a:extLst>
          </p:cNvPr>
          <p:cNvSpPr>
            <a:spLocks noGrp="1"/>
          </p:cNvSpPr>
          <p:nvPr/>
        </p:nvSpPr>
        <p:spPr>
          <a:xfrm>
            <a:off x="2638425" y="85725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>
              <a:ext uri="{FF2B5EF4-FFF2-40B4-BE49-F238E27FC236}">
                <a16:creationId xmlns:a16="http://schemas.microsoft.com/office/drawing/2014/main" id="{8E037D6A-715B-4994-A19F-D573C206C195}"/>
              </a:ext>
            </a:extLst>
          </p:cNvPr>
          <p:cNvSpPr>
            <a:spLocks noGrp="1"/>
          </p:cNvSpPr>
          <p:nvPr/>
        </p:nvSpPr>
        <p:spPr>
          <a:xfrm>
            <a:off x="2578608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1" name="文字_31">
            <a:extLst>
              <a:ext uri="{FF2B5EF4-FFF2-40B4-BE49-F238E27FC236}">
                <a16:creationId xmlns:a16="http://schemas.microsoft.com/office/drawing/2014/main" id="{C2BAC2F1-CC52-484F-B559-9B947D4B359E}"/>
              </a:ext>
            </a:extLst>
          </p:cNvPr>
          <p:cNvSpPr>
            <a:spLocks noGrp="1"/>
          </p:cNvSpPr>
          <p:nvPr/>
        </p:nvSpPr>
        <p:spPr>
          <a:xfrm>
            <a:off x="2654808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>
              <a:ext uri="{FF2B5EF4-FFF2-40B4-BE49-F238E27FC236}">
                <a16:creationId xmlns:a16="http://schemas.microsoft.com/office/drawing/2014/main" id="{C73D7BD9-44D2-40C7-AB99-2610ECB35495}"/>
              </a:ext>
            </a:extLst>
          </p:cNvPr>
          <p:cNvSpPr>
            <a:spLocks noGrp="1"/>
          </p:cNvSpPr>
          <p:nvPr/>
        </p:nvSpPr>
        <p:spPr>
          <a:xfrm>
            <a:off x="2683383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强度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通航约束变化_33">
            <a:extLst>
              <a:ext uri="{FF2B5EF4-FFF2-40B4-BE49-F238E27FC236}">
                <a16:creationId xmlns:a16="http://schemas.microsoft.com/office/drawing/2014/main" id="{C4CD26A3-F19C-472D-A08A-368970DC0A05}"/>
              </a:ext>
            </a:extLst>
          </p:cNvPr>
          <p:cNvSpPr>
            <a:spLocks noGrp="1"/>
          </p:cNvSpPr>
          <p:nvPr/>
        </p:nvSpPr>
        <p:spPr>
          <a:xfrm>
            <a:off x="4724400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4" name="文字_34">
            <a:extLst>
              <a:ext uri="{FF2B5EF4-FFF2-40B4-BE49-F238E27FC236}">
                <a16:creationId xmlns:a16="http://schemas.microsoft.com/office/drawing/2014/main" id="{151F7659-D244-4C6A-A764-1683043602E1}"/>
              </a:ext>
            </a:extLst>
          </p:cNvPr>
          <p:cNvSpPr>
            <a:spLocks noGrp="1"/>
          </p:cNvSpPr>
          <p:nvPr/>
        </p:nvSpPr>
        <p:spPr>
          <a:xfrm>
            <a:off x="4800600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>
              <a:ext uri="{FF2B5EF4-FFF2-40B4-BE49-F238E27FC236}">
                <a16:creationId xmlns:a16="http://schemas.microsoft.com/office/drawing/2014/main" id="{7C05D0DF-FBB3-4EE9-86D7-4F2439F15009}"/>
              </a:ext>
            </a:extLst>
          </p:cNvPr>
          <p:cNvSpPr>
            <a:spLocks noGrp="1"/>
          </p:cNvSpPr>
          <p:nvPr/>
        </p:nvSpPr>
        <p:spPr>
          <a:xfrm>
            <a:off x="4829175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</a:t>
            </a:r>
            <a:r>
              <a:rPr lang="zh-CN" altLang="en-US" sz="1350" b="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350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船型限制</a:t>
            </a:r>
            <a:endParaRPr sz="1350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施工扰动情景_36">
            <a:extLst>
              <a:ext uri="{FF2B5EF4-FFF2-40B4-BE49-F238E27FC236}">
                <a16:creationId xmlns:a16="http://schemas.microsoft.com/office/drawing/2014/main" id="{EFDC3BB5-2E96-49F4-BF71-37B3F2F33A9A}"/>
              </a:ext>
            </a:extLst>
          </p:cNvPr>
          <p:cNvSpPr>
            <a:spLocks noGrp="1"/>
          </p:cNvSpPr>
          <p:nvPr/>
        </p:nvSpPr>
        <p:spPr>
          <a:xfrm>
            <a:off x="6870192" y="1381125"/>
            <a:ext cx="1816608" cy="1028700"/>
          </a:xfrm>
          <a:prstGeom prst="roundRect">
            <a:avLst>
              <a:gd name="adj" fmla="val 9259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37" name="文字_37">
            <a:extLst>
              <a:ext uri="{FF2B5EF4-FFF2-40B4-BE49-F238E27FC236}">
                <a16:creationId xmlns:a16="http://schemas.microsoft.com/office/drawing/2014/main" id="{E66EA0CE-AFA3-4F5D-9927-DA77C4B6B99F}"/>
              </a:ext>
            </a:extLst>
          </p:cNvPr>
          <p:cNvSpPr>
            <a:spLocks noGrp="1"/>
          </p:cNvSpPr>
          <p:nvPr/>
        </p:nvSpPr>
        <p:spPr>
          <a:xfrm>
            <a:off x="6946392" y="1447800"/>
            <a:ext cx="1664208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>
              <a:ext uri="{FF2B5EF4-FFF2-40B4-BE49-F238E27FC236}">
                <a16:creationId xmlns:a16="http://schemas.microsoft.com/office/drawing/2014/main" id="{FDC75616-EA25-4D7B-A421-43CB4494AD66}"/>
              </a:ext>
            </a:extLst>
          </p:cNvPr>
          <p:cNvSpPr>
            <a:spLocks noGrp="1"/>
          </p:cNvSpPr>
          <p:nvPr/>
        </p:nvSpPr>
        <p:spPr>
          <a:xfrm>
            <a:off x="6974967" y="1847850"/>
            <a:ext cx="1607058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>
              <a:ext uri="{FF2B5EF4-FFF2-40B4-BE49-F238E27FC236}">
                <a16:creationId xmlns:a16="http://schemas.microsoft.com/office/drawing/2014/main" id="{EEB53247-5968-4246-8CA1-F29D534BCB5E}"/>
              </a:ext>
            </a:extLst>
          </p:cNvPr>
          <p:cNvSpPr>
            <a:spLocks noGrp="1"/>
          </p:cNvSpPr>
          <p:nvPr/>
        </p:nvSpPr>
        <p:spPr>
          <a:xfrm>
            <a:off x="4431792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0" name="流程箭头_40">
            <a:extLst>
              <a:ext uri="{FF2B5EF4-FFF2-40B4-BE49-F238E27FC236}">
                <a16:creationId xmlns:a16="http://schemas.microsoft.com/office/drawing/2014/main" id="{7E21ED61-71F2-4036-B84B-1E0CB224EB8F}"/>
              </a:ext>
            </a:extLst>
          </p:cNvPr>
          <p:cNvSpPr>
            <a:spLocks noGrp="1"/>
          </p:cNvSpPr>
          <p:nvPr/>
        </p:nvSpPr>
        <p:spPr>
          <a:xfrm>
            <a:off x="6577584" y="1800225"/>
            <a:ext cx="256032" cy="190500"/>
          </a:xfrm>
          <a:prstGeom prst="right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1" name="连接线_41">
            <a:extLst>
              <a:ext uri="{FF2B5EF4-FFF2-40B4-BE49-F238E27FC236}">
                <a16:creationId xmlns:a16="http://schemas.microsoft.com/office/drawing/2014/main" id="{47B67F8D-7D62-4AF3-B5CD-488A72478F2C}"/>
              </a:ext>
            </a:extLst>
          </p:cNvPr>
          <p:cNvSpPr>
            <a:spLocks noGrp="1"/>
          </p:cNvSpPr>
          <p:nvPr/>
        </p:nvSpPr>
        <p:spPr>
          <a:xfrm>
            <a:off x="7778496" y="2428875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2" name="连接线_42">
            <a:extLst>
              <a:ext uri="{FF2B5EF4-FFF2-40B4-BE49-F238E27FC236}">
                <a16:creationId xmlns:a16="http://schemas.microsoft.com/office/drawing/2014/main" id="{E8DF94EE-0112-4C45-893C-2DE8BFFB4739}"/>
              </a:ext>
            </a:extLst>
          </p:cNvPr>
          <p:cNvSpPr>
            <a:spLocks noGrp="1"/>
          </p:cNvSpPr>
          <p:nvPr/>
        </p:nvSpPr>
        <p:spPr>
          <a:xfrm>
            <a:off x="5638800" y="2543175"/>
            <a:ext cx="2139696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3" name="连接线_43">
            <a:extLst>
              <a:ext uri="{FF2B5EF4-FFF2-40B4-BE49-F238E27FC236}">
                <a16:creationId xmlns:a16="http://schemas.microsoft.com/office/drawing/2014/main" id="{02C4FB4C-7983-430F-81EE-EC9F266EFE93}"/>
              </a:ext>
            </a:extLst>
          </p:cNvPr>
          <p:cNvSpPr>
            <a:spLocks noGrp="1"/>
          </p:cNvSpPr>
          <p:nvPr/>
        </p:nvSpPr>
        <p:spPr>
          <a:xfrm>
            <a:off x="5638800" y="2552700"/>
            <a:ext cx="19050" cy="1143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4" name="连接线_44">
            <a:extLst>
              <a:ext uri="{FF2B5EF4-FFF2-40B4-BE49-F238E27FC236}">
                <a16:creationId xmlns:a16="http://schemas.microsoft.com/office/drawing/2014/main" id="{FCF25854-7A6D-4462-B76B-FD437DD45790}"/>
              </a:ext>
            </a:extLst>
          </p:cNvPr>
          <p:cNvSpPr>
            <a:spLocks noGrp="1"/>
          </p:cNvSpPr>
          <p:nvPr/>
        </p:nvSpPr>
        <p:spPr>
          <a:xfrm>
            <a:off x="4010025" y="26670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5" name="流程箭头_45">
            <a:extLst>
              <a:ext uri="{FF2B5EF4-FFF2-40B4-BE49-F238E27FC236}">
                <a16:creationId xmlns:a16="http://schemas.microsoft.com/office/drawing/2014/main" id="{C8828C49-C7B1-4345-87CE-E7FFB91E23A1}"/>
              </a:ext>
            </a:extLst>
          </p:cNvPr>
          <p:cNvSpPr>
            <a:spLocks noGrp="1"/>
          </p:cNvSpPr>
          <p:nvPr/>
        </p:nvSpPr>
        <p:spPr>
          <a:xfrm>
            <a:off x="3933825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6" name="流程箭头_46">
            <a:extLst>
              <a:ext uri="{FF2B5EF4-FFF2-40B4-BE49-F238E27FC236}">
                <a16:creationId xmlns:a16="http://schemas.microsoft.com/office/drawing/2014/main" id="{B82BFA36-4CE8-4243-BEEF-D7D0F43A80E8}"/>
              </a:ext>
            </a:extLst>
          </p:cNvPr>
          <p:cNvSpPr>
            <a:spLocks noGrp="1"/>
          </p:cNvSpPr>
          <p:nvPr/>
        </p:nvSpPr>
        <p:spPr>
          <a:xfrm>
            <a:off x="7181850" y="2676525"/>
            <a:ext cx="152400" cy="1905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47" name="容器_47">
            <a:extLst>
              <a:ext uri="{FF2B5EF4-FFF2-40B4-BE49-F238E27FC236}">
                <a16:creationId xmlns:a16="http://schemas.microsoft.com/office/drawing/2014/main" id="{B456F31F-511B-4488-919D-E48F7DCA3EF8}"/>
              </a:ext>
            </a:extLst>
          </p:cNvPr>
          <p:cNvSpPr>
            <a:spLocks noGrp="1"/>
          </p:cNvSpPr>
          <p:nvPr/>
        </p:nvSpPr>
        <p:spPr>
          <a:xfrm>
            <a:off x="257860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8" name="容器_48">
            <a:extLst>
              <a:ext uri="{FF2B5EF4-FFF2-40B4-BE49-F238E27FC236}">
                <a16:creationId xmlns:a16="http://schemas.microsoft.com/office/drawing/2014/main" id="{AB35EC32-53D7-4591-AC29-239D7164E529}"/>
              </a:ext>
            </a:extLst>
          </p:cNvPr>
          <p:cNvSpPr>
            <a:spLocks noGrp="1"/>
          </p:cNvSpPr>
          <p:nvPr/>
        </p:nvSpPr>
        <p:spPr>
          <a:xfrm>
            <a:off x="5824728" y="2876550"/>
            <a:ext cx="2862072" cy="2952750"/>
          </a:xfrm>
          <a:prstGeom prst="roundRect">
            <a:avLst>
              <a:gd name="adj" fmla="val 2995"/>
            </a:avLst>
          </a:prstGeom>
          <a:solidFill>
            <a:srgbClr val="F6FAFE"/>
          </a:solidFill>
          <a:ln w="16193">
            <a:solidFill>
              <a:srgbClr val="2E75B6"/>
            </a:solidFill>
          </a:ln>
        </p:spPr>
      </p:sp>
      <p:sp>
        <p:nvSpPr>
          <p:cNvPr id="49" name="文字_49">
            <a:extLst>
              <a:ext uri="{FF2B5EF4-FFF2-40B4-BE49-F238E27FC236}">
                <a16:creationId xmlns:a16="http://schemas.microsoft.com/office/drawing/2014/main" id="{F68B4646-00B3-4F19-8492-1E21D3EA1BE3}"/>
              </a:ext>
            </a:extLst>
          </p:cNvPr>
          <p:cNvSpPr>
            <a:spLocks noGrp="1"/>
          </p:cNvSpPr>
          <p:nvPr/>
        </p:nvSpPr>
        <p:spPr>
          <a:xfrm>
            <a:off x="2667000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>
              <a:ext uri="{FF2B5EF4-FFF2-40B4-BE49-F238E27FC236}">
                <a16:creationId xmlns:a16="http://schemas.microsoft.com/office/drawing/2014/main" id="{ECBD5C32-0B37-4718-A16A-E858FD202AF1}"/>
              </a:ext>
            </a:extLst>
          </p:cNvPr>
          <p:cNvSpPr>
            <a:spLocks noGrp="1"/>
          </p:cNvSpPr>
          <p:nvPr/>
        </p:nvSpPr>
        <p:spPr>
          <a:xfrm>
            <a:off x="5915025" y="2952750"/>
            <a:ext cx="26765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>
              <a:ext uri="{FF2B5EF4-FFF2-40B4-BE49-F238E27FC236}">
                <a16:creationId xmlns:a16="http://schemas.microsoft.com/office/drawing/2014/main" id="{CD749E83-A2AF-45C7-A5CE-7D1BB2C04C03}"/>
              </a:ext>
            </a:extLst>
          </p:cNvPr>
          <p:cNvSpPr>
            <a:spLocks noGrp="1"/>
          </p:cNvSpPr>
          <p:nvPr/>
        </p:nvSpPr>
        <p:spPr>
          <a:xfrm>
            <a:off x="2667000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2" name="文字_52">
            <a:extLst>
              <a:ext uri="{FF2B5EF4-FFF2-40B4-BE49-F238E27FC236}">
                <a16:creationId xmlns:a16="http://schemas.microsoft.com/office/drawing/2014/main" id="{B263A993-76E1-44AD-B4B4-C83A9C2B0494}"/>
              </a:ext>
            </a:extLst>
          </p:cNvPr>
          <p:cNvSpPr>
            <a:spLocks noGrp="1"/>
          </p:cNvSpPr>
          <p:nvPr/>
        </p:nvSpPr>
        <p:spPr>
          <a:xfrm>
            <a:off x="2743200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>
              <a:ext uri="{FF2B5EF4-FFF2-40B4-BE49-F238E27FC236}">
                <a16:creationId xmlns:a16="http://schemas.microsoft.com/office/drawing/2014/main" id="{D99702E2-AD08-4ADF-9B59-D1CC1EBEF545}"/>
              </a:ext>
            </a:extLst>
          </p:cNvPr>
          <p:cNvSpPr>
            <a:spLocks noGrp="1"/>
          </p:cNvSpPr>
          <p:nvPr/>
        </p:nvSpPr>
        <p:spPr>
          <a:xfrm>
            <a:off x="2771775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>
              <a:ext uri="{FF2B5EF4-FFF2-40B4-BE49-F238E27FC236}">
                <a16:creationId xmlns:a16="http://schemas.microsoft.com/office/drawing/2014/main" id="{DF2B4DDF-7CB8-48E4-B3DA-ADD11B48FB4F}"/>
              </a:ext>
            </a:extLst>
          </p:cNvPr>
          <p:cNvSpPr>
            <a:spLocks noGrp="1"/>
          </p:cNvSpPr>
          <p:nvPr/>
        </p:nvSpPr>
        <p:spPr>
          <a:xfrm>
            <a:off x="2667000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5" name="文字_55">
            <a:extLst>
              <a:ext uri="{FF2B5EF4-FFF2-40B4-BE49-F238E27FC236}">
                <a16:creationId xmlns:a16="http://schemas.microsoft.com/office/drawing/2014/main" id="{B5CAA6AE-EA5C-412B-A976-8436EA745629}"/>
              </a:ext>
            </a:extLst>
          </p:cNvPr>
          <p:cNvSpPr>
            <a:spLocks noGrp="1"/>
          </p:cNvSpPr>
          <p:nvPr/>
        </p:nvSpPr>
        <p:spPr>
          <a:xfrm>
            <a:off x="2743200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>
              <a:ext uri="{FF2B5EF4-FFF2-40B4-BE49-F238E27FC236}">
                <a16:creationId xmlns:a16="http://schemas.microsoft.com/office/drawing/2014/main" id="{2ED01D95-A461-4503-B20D-0F5E6089D4B9}"/>
              </a:ext>
            </a:extLst>
          </p:cNvPr>
          <p:cNvSpPr>
            <a:spLocks noGrp="1"/>
          </p:cNvSpPr>
          <p:nvPr/>
        </p:nvSpPr>
        <p:spPr>
          <a:xfrm>
            <a:off x="2771775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>
              <a:ext uri="{FF2B5EF4-FFF2-40B4-BE49-F238E27FC236}">
                <a16:creationId xmlns:a16="http://schemas.microsoft.com/office/drawing/2014/main" id="{5E839F80-7181-484C-9FC2-34206FA8589E}"/>
              </a:ext>
            </a:extLst>
          </p:cNvPr>
          <p:cNvSpPr>
            <a:spLocks noGrp="1"/>
          </p:cNvSpPr>
          <p:nvPr/>
        </p:nvSpPr>
        <p:spPr>
          <a:xfrm>
            <a:off x="2667000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58" name="文字_58">
            <a:extLst>
              <a:ext uri="{FF2B5EF4-FFF2-40B4-BE49-F238E27FC236}">
                <a16:creationId xmlns:a16="http://schemas.microsoft.com/office/drawing/2014/main" id="{43D73B42-80BA-459A-8B9A-A9FDFF7551A4}"/>
              </a:ext>
            </a:extLst>
          </p:cNvPr>
          <p:cNvSpPr>
            <a:spLocks noGrp="1"/>
          </p:cNvSpPr>
          <p:nvPr/>
        </p:nvSpPr>
        <p:spPr>
          <a:xfrm>
            <a:off x="2743200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>
              <a:ext uri="{FF2B5EF4-FFF2-40B4-BE49-F238E27FC236}">
                <a16:creationId xmlns:a16="http://schemas.microsoft.com/office/drawing/2014/main" id="{885EBF2A-0673-4A9F-87C2-4E796DA5215E}"/>
              </a:ext>
            </a:extLst>
          </p:cNvPr>
          <p:cNvSpPr>
            <a:spLocks noGrp="1"/>
          </p:cNvSpPr>
          <p:nvPr/>
        </p:nvSpPr>
        <p:spPr>
          <a:xfrm>
            <a:off x="2771775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>
              <a:ext uri="{FF2B5EF4-FFF2-40B4-BE49-F238E27FC236}">
                <a16:creationId xmlns:a16="http://schemas.microsoft.com/office/drawing/2014/main" id="{629456BA-A5B0-443A-BAAF-03714DFAF5BD}"/>
              </a:ext>
            </a:extLst>
          </p:cNvPr>
          <p:cNvSpPr>
            <a:spLocks noGrp="1"/>
          </p:cNvSpPr>
          <p:nvPr/>
        </p:nvSpPr>
        <p:spPr>
          <a:xfrm>
            <a:off x="5915025" y="3333750"/>
            <a:ext cx="2676525" cy="838200"/>
          </a:xfrm>
          <a:prstGeom prst="roundRect">
            <a:avLst>
              <a:gd name="adj" fmla="val 113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1" name="文字_61">
            <a:extLst>
              <a:ext uri="{FF2B5EF4-FFF2-40B4-BE49-F238E27FC236}">
                <a16:creationId xmlns:a16="http://schemas.microsoft.com/office/drawing/2014/main" id="{95EEE848-C702-43C5-8072-6D61842237C1}"/>
              </a:ext>
            </a:extLst>
          </p:cNvPr>
          <p:cNvSpPr>
            <a:spLocks noGrp="1"/>
          </p:cNvSpPr>
          <p:nvPr/>
        </p:nvSpPr>
        <p:spPr>
          <a:xfrm>
            <a:off x="5991225" y="34004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>
              <a:ext uri="{FF2B5EF4-FFF2-40B4-BE49-F238E27FC236}">
                <a16:creationId xmlns:a16="http://schemas.microsoft.com/office/drawing/2014/main" id="{34B9F7BA-3BF7-498F-B464-01123909CC1D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  <a:endParaRPr sz="1313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常态波动_63">
            <a:extLst>
              <a:ext uri="{FF2B5EF4-FFF2-40B4-BE49-F238E27FC236}">
                <a16:creationId xmlns:a16="http://schemas.microsoft.com/office/drawing/2014/main" id="{1A61DDDD-884C-47A2-AA08-6E89F56AAF21}"/>
              </a:ext>
            </a:extLst>
          </p:cNvPr>
          <p:cNvSpPr>
            <a:spLocks noGrp="1"/>
          </p:cNvSpPr>
          <p:nvPr/>
        </p:nvSpPr>
        <p:spPr>
          <a:xfrm>
            <a:off x="5915025" y="4276725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4" name="文字_64">
            <a:extLst>
              <a:ext uri="{FF2B5EF4-FFF2-40B4-BE49-F238E27FC236}">
                <a16:creationId xmlns:a16="http://schemas.microsoft.com/office/drawing/2014/main" id="{F223D80C-1E16-4348-A136-42471D5FBCA7}"/>
              </a:ext>
            </a:extLst>
          </p:cNvPr>
          <p:cNvSpPr>
            <a:spLocks noGrp="1"/>
          </p:cNvSpPr>
          <p:nvPr/>
        </p:nvSpPr>
        <p:spPr>
          <a:xfrm>
            <a:off x="5991225" y="4343400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>
              <a:ext uri="{FF2B5EF4-FFF2-40B4-BE49-F238E27FC236}">
                <a16:creationId xmlns:a16="http://schemas.microsoft.com/office/drawing/2014/main" id="{9537AA7C-F3CC-4400-8847-2DB405D57977}"/>
              </a:ext>
            </a:extLst>
          </p:cNvPr>
          <p:cNvSpPr>
            <a:spLocks noGrp="1"/>
          </p:cNvSpPr>
          <p:nvPr/>
        </p:nvSpPr>
        <p:spPr>
          <a:xfrm>
            <a:off x="6019800" y="4657725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>
              <a:ext uri="{FF2B5EF4-FFF2-40B4-BE49-F238E27FC236}">
                <a16:creationId xmlns:a16="http://schemas.microsoft.com/office/drawing/2014/main" id="{DD415B62-D2ED-4488-A20F-2E1A6948E0D1}"/>
              </a:ext>
            </a:extLst>
          </p:cNvPr>
          <p:cNvSpPr>
            <a:spLocks noGrp="1"/>
          </p:cNvSpPr>
          <p:nvPr/>
        </p:nvSpPr>
        <p:spPr>
          <a:xfrm>
            <a:off x="5915025" y="5048250"/>
            <a:ext cx="2676525" cy="666750"/>
          </a:xfrm>
          <a:prstGeom prst="roundRect">
            <a:avLst>
              <a:gd name="adj" fmla="val 14286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67" name="文字_67">
            <a:extLst>
              <a:ext uri="{FF2B5EF4-FFF2-40B4-BE49-F238E27FC236}">
                <a16:creationId xmlns:a16="http://schemas.microsoft.com/office/drawing/2014/main" id="{221ABC27-608B-4F9B-98E8-2451BB5CF2B5}"/>
              </a:ext>
            </a:extLst>
          </p:cNvPr>
          <p:cNvSpPr>
            <a:spLocks noGrp="1"/>
          </p:cNvSpPr>
          <p:nvPr/>
        </p:nvSpPr>
        <p:spPr>
          <a:xfrm>
            <a:off x="5991225" y="5114925"/>
            <a:ext cx="2524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>
              <a:ext uri="{FF2B5EF4-FFF2-40B4-BE49-F238E27FC236}">
                <a16:creationId xmlns:a16="http://schemas.microsoft.com/office/drawing/2014/main" id="{DA3680D2-C93A-4030-8EE0-864AEC82C438}"/>
              </a:ext>
            </a:extLst>
          </p:cNvPr>
          <p:cNvSpPr>
            <a:spLocks noGrp="1"/>
          </p:cNvSpPr>
          <p:nvPr/>
        </p:nvSpPr>
        <p:spPr>
          <a:xfrm>
            <a:off x="6019800" y="5429250"/>
            <a:ext cx="24669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>
              <a:ext uri="{FF2B5EF4-FFF2-40B4-BE49-F238E27FC236}">
                <a16:creationId xmlns:a16="http://schemas.microsoft.com/office/drawing/2014/main" id="{7E2023E1-B6AC-43C1-9708-176938A0C64D}"/>
              </a:ext>
            </a:extLst>
          </p:cNvPr>
          <p:cNvSpPr>
            <a:spLocks noGrp="1"/>
          </p:cNvSpPr>
          <p:nvPr/>
        </p:nvSpPr>
        <p:spPr>
          <a:xfrm>
            <a:off x="4010025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0" name="连接线_70">
            <a:extLst>
              <a:ext uri="{FF2B5EF4-FFF2-40B4-BE49-F238E27FC236}">
                <a16:creationId xmlns:a16="http://schemas.microsoft.com/office/drawing/2014/main" id="{95FCCE1E-2061-40E3-B4D5-8CA0DF3A26A8}"/>
              </a:ext>
            </a:extLst>
          </p:cNvPr>
          <p:cNvSpPr>
            <a:spLocks noGrp="1"/>
          </p:cNvSpPr>
          <p:nvPr/>
        </p:nvSpPr>
        <p:spPr>
          <a:xfrm>
            <a:off x="7258050" y="5905500"/>
            <a:ext cx="19050" cy="76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1" name="连接线_71">
            <a:extLst>
              <a:ext uri="{FF2B5EF4-FFF2-40B4-BE49-F238E27FC236}">
                <a16:creationId xmlns:a16="http://schemas.microsoft.com/office/drawing/2014/main" id="{40653072-B33C-4175-9063-ABBA15E28A9C}"/>
              </a:ext>
            </a:extLst>
          </p:cNvPr>
          <p:cNvSpPr>
            <a:spLocks noGrp="1"/>
          </p:cNvSpPr>
          <p:nvPr/>
        </p:nvSpPr>
        <p:spPr>
          <a:xfrm>
            <a:off x="4010025" y="5981700"/>
            <a:ext cx="3248025" cy="1905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2" name="流程箭头_72">
            <a:extLst>
              <a:ext uri="{FF2B5EF4-FFF2-40B4-BE49-F238E27FC236}">
                <a16:creationId xmlns:a16="http://schemas.microsoft.com/office/drawing/2014/main" id="{2E2C6C30-5371-484E-9BD5-647F39D7CAAC}"/>
              </a:ext>
            </a:extLst>
          </p:cNvPr>
          <p:cNvSpPr>
            <a:spLocks noGrp="1"/>
          </p:cNvSpPr>
          <p:nvPr/>
        </p:nvSpPr>
        <p:spPr>
          <a:xfrm>
            <a:off x="5562600" y="5991225"/>
            <a:ext cx="152400" cy="13335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3" name="供需失配与运输服务响应_73">
            <a:extLst>
              <a:ext uri="{FF2B5EF4-FFF2-40B4-BE49-F238E27FC236}">
                <a16:creationId xmlns:a16="http://schemas.microsoft.com/office/drawing/2014/main" id="{DDD2DB27-BDEE-462D-B0B1-D7181BC66980}"/>
              </a:ext>
            </a:extLst>
          </p:cNvPr>
          <p:cNvSpPr>
            <a:spLocks noGrp="1"/>
          </p:cNvSpPr>
          <p:nvPr/>
        </p:nvSpPr>
        <p:spPr>
          <a:xfrm>
            <a:off x="2578608" y="6191250"/>
            <a:ext cx="6108192" cy="1152525"/>
          </a:xfrm>
          <a:prstGeom prst="roundRect">
            <a:avLst>
              <a:gd name="adj" fmla="val 8264"/>
            </a:avLst>
          </a:prstGeom>
          <a:solidFill>
            <a:srgbClr val="DEEBF7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4" name="文字_74">
            <a:extLst>
              <a:ext uri="{FF2B5EF4-FFF2-40B4-BE49-F238E27FC236}">
                <a16:creationId xmlns:a16="http://schemas.microsoft.com/office/drawing/2014/main" id="{88B01A74-DE08-45B9-B3AC-0E8511222DED}"/>
              </a:ext>
            </a:extLst>
          </p:cNvPr>
          <p:cNvSpPr>
            <a:spLocks noGrp="1"/>
          </p:cNvSpPr>
          <p:nvPr/>
        </p:nvSpPr>
        <p:spPr>
          <a:xfrm>
            <a:off x="2654808" y="62579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>
              <a:ext uri="{FF2B5EF4-FFF2-40B4-BE49-F238E27FC236}">
                <a16:creationId xmlns:a16="http://schemas.microsoft.com/office/drawing/2014/main" id="{175F8366-A46F-427C-825D-151AEAAE3E52}"/>
              </a:ext>
            </a:extLst>
          </p:cNvPr>
          <p:cNvSpPr>
            <a:spLocks noGrp="1"/>
          </p:cNvSpPr>
          <p:nvPr/>
        </p:nvSpPr>
        <p:spPr>
          <a:xfrm>
            <a:off x="2683383" y="6600825"/>
            <a:ext cx="5898642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>
              <a:ext uri="{FF2B5EF4-FFF2-40B4-BE49-F238E27FC236}">
                <a16:creationId xmlns:a16="http://schemas.microsoft.com/office/drawing/2014/main" id="{D5AD84F9-5FD3-4577-BAE0-605C8FD11D6B}"/>
              </a:ext>
            </a:extLst>
          </p:cNvPr>
          <p:cNvSpPr>
            <a:spLocks noGrp="1"/>
          </p:cNvSpPr>
          <p:nvPr/>
        </p:nvSpPr>
        <p:spPr>
          <a:xfrm>
            <a:off x="5562600" y="7486650"/>
            <a:ext cx="152400" cy="152400"/>
          </a:xfrm>
          <a:prstGeom prst="downArrow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77" name="研究模块_77">
            <a:extLst>
              <a:ext uri="{FF2B5EF4-FFF2-40B4-BE49-F238E27FC236}">
                <a16:creationId xmlns:a16="http://schemas.microsoft.com/office/drawing/2014/main" id="{5FB5BB77-660C-49F8-9C23-605DA91EE02B}"/>
              </a:ext>
            </a:extLst>
          </p:cNvPr>
          <p:cNvSpPr>
            <a:spLocks noGrp="1"/>
          </p:cNvSpPr>
          <p:nvPr/>
        </p:nvSpPr>
        <p:spPr>
          <a:xfrm>
            <a:off x="2395728" y="7658100"/>
            <a:ext cx="6473952" cy="3800475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8" name="模块标题背景_78">
            <a:extLst>
              <a:ext uri="{FF2B5EF4-FFF2-40B4-BE49-F238E27FC236}">
                <a16:creationId xmlns:a16="http://schemas.microsoft.com/office/drawing/2014/main" id="{1A47A5E3-2695-4902-964C-0891C1823D90}"/>
              </a:ext>
            </a:extLst>
          </p:cNvPr>
          <p:cNvSpPr>
            <a:spLocks noGrp="1"/>
          </p:cNvSpPr>
          <p:nvPr/>
        </p:nvSpPr>
        <p:spPr>
          <a:xfrm>
            <a:off x="2459736" y="7722108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2186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79" name="模块标题_79">
            <a:extLst>
              <a:ext uri="{FF2B5EF4-FFF2-40B4-BE49-F238E27FC236}">
                <a16:creationId xmlns:a16="http://schemas.microsoft.com/office/drawing/2014/main" id="{E9ED1DCC-1E95-471A-9E2E-CE01E9A6DFD1}"/>
              </a:ext>
            </a:extLst>
          </p:cNvPr>
          <p:cNvSpPr>
            <a:spLocks noGrp="1"/>
          </p:cNvSpPr>
          <p:nvPr/>
        </p:nvSpPr>
        <p:spPr>
          <a:xfrm>
            <a:off x="2638425" y="7724775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>
              <a:ext uri="{FF2B5EF4-FFF2-40B4-BE49-F238E27FC236}">
                <a16:creationId xmlns:a16="http://schemas.microsoft.com/office/drawing/2014/main" id="{93EDCCA6-6865-4B2D-93B9-208F7E36EFBE}"/>
              </a:ext>
            </a:extLst>
          </p:cNvPr>
          <p:cNvSpPr>
            <a:spLocks noGrp="1"/>
          </p:cNvSpPr>
          <p:nvPr/>
        </p:nvSpPr>
        <p:spPr>
          <a:xfrm>
            <a:off x="2578608" y="821055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1" name="文字_81">
            <a:extLst>
              <a:ext uri="{FF2B5EF4-FFF2-40B4-BE49-F238E27FC236}">
                <a16:creationId xmlns:a16="http://schemas.microsoft.com/office/drawing/2014/main" id="{99602CDF-DF72-4543-8639-B9638AE2E6E3}"/>
              </a:ext>
            </a:extLst>
          </p:cNvPr>
          <p:cNvSpPr>
            <a:spLocks noGrp="1"/>
          </p:cNvSpPr>
          <p:nvPr/>
        </p:nvSpPr>
        <p:spPr>
          <a:xfrm>
            <a:off x="2654808" y="827722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>
              <a:ext uri="{FF2B5EF4-FFF2-40B4-BE49-F238E27FC236}">
                <a16:creationId xmlns:a16="http://schemas.microsoft.com/office/drawing/2014/main" id="{19309BDA-B6F5-4024-BCAB-F5BBA0C71B51}"/>
              </a:ext>
            </a:extLst>
          </p:cNvPr>
          <p:cNvSpPr>
            <a:spLocks noGrp="1"/>
          </p:cNvSpPr>
          <p:nvPr/>
        </p:nvSpPr>
        <p:spPr>
          <a:xfrm>
            <a:off x="2683383" y="858202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>
              <a:ext uri="{FF2B5EF4-FFF2-40B4-BE49-F238E27FC236}">
                <a16:creationId xmlns:a16="http://schemas.microsoft.com/office/drawing/2014/main" id="{C67DFCE2-3633-461F-A7B5-A093B650C8D9}"/>
              </a:ext>
            </a:extLst>
          </p:cNvPr>
          <p:cNvSpPr>
            <a:spLocks noGrp="1"/>
          </p:cNvSpPr>
          <p:nvPr/>
        </p:nvSpPr>
        <p:spPr>
          <a:xfrm>
            <a:off x="5638800" y="8867775"/>
            <a:ext cx="19050" cy="1143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4" name="连接线_84">
            <a:extLst>
              <a:ext uri="{FF2B5EF4-FFF2-40B4-BE49-F238E27FC236}">
                <a16:creationId xmlns:a16="http://schemas.microsoft.com/office/drawing/2014/main" id="{A3702AEB-70EE-426D-9F11-1E8895321953}"/>
              </a:ext>
            </a:extLst>
          </p:cNvPr>
          <p:cNvSpPr>
            <a:spLocks noGrp="1"/>
          </p:cNvSpPr>
          <p:nvPr/>
        </p:nvSpPr>
        <p:spPr>
          <a:xfrm>
            <a:off x="4010025" y="89820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5" name="流程箭头_85">
            <a:extLst>
              <a:ext uri="{FF2B5EF4-FFF2-40B4-BE49-F238E27FC236}">
                <a16:creationId xmlns:a16="http://schemas.microsoft.com/office/drawing/2014/main" id="{7A71D8AD-8755-4559-BF92-8F75464DC566}"/>
              </a:ext>
            </a:extLst>
          </p:cNvPr>
          <p:cNvSpPr>
            <a:spLocks noGrp="1"/>
          </p:cNvSpPr>
          <p:nvPr/>
        </p:nvSpPr>
        <p:spPr>
          <a:xfrm>
            <a:off x="3933825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6" name="流程箭头_86">
            <a:extLst>
              <a:ext uri="{FF2B5EF4-FFF2-40B4-BE49-F238E27FC236}">
                <a16:creationId xmlns:a16="http://schemas.microsoft.com/office/drawing/2014/main" id="{3A3D335C-FF65-4325-BB99-1C3373C08B62}"/>
              </a:ext>
            </a:extLst>
          </p:cNvPr>
          <p:cNvSpPr>
            <a:spLocks noGrp="1"/>
          </p:cNvSpPr>
          <p:nvPr/>
        </p:nvSpPr>
        <p:spPr>
          <a:xfrm>
            <a:off x="7181850" y="8991600"/>
            <a:ext cx="152400" cy="19050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87" name="船舶组织调整_87">
            <a:extLst>
              <a:ext uri="{FF2B5EF4-FFF2-40B4-BE49-F238E27FC236}">
                <a16:creationId xmlns:a16="http://schemas.microsoft.com/office/drawing/2014/main" id="{9F32A2F0-D328-44E1-B4E7-968105B90D15}"/>
              </a:ext>
            </a:extLst>
          </p:cNvPr>
          <p:cNvSpPr>
            <a:spLocks noGrp="1"/>
          </p:cNvSpPr>
          <p:nvPr/>
        </p:nvSpPr>
        <p:spPr>
          <a:xfrm>
            <a:off x="257860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8" name="文字_88">
            <a:extLst>
              <a:ext uri="{FF2B5EF4-FFF2-40B4-BE49-F238E27FC236}">
                <a16:creationId xmlns:a16="http://schemas.microsoft.com/office/drawing/2014/main" id="{036BEF02-A320-486F-9A61-B3DE3F2E7CD7}"/>
              </a:ext>
            </a:extLst>
          </p:cNvPr>
          <p:cNvSpPr>
            <a:spLocks noGrp="1"/>
          </p:cNvSpPr>
          <p:nvPr/>
        </p:nvSpPr>
        <p:spPr>
          <a:xfrm>
            <a:off x="265480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>
              <a:ext uri="{FF2B5EF4-FFF2-40B4-BE49-F238E27FC236}">
                <a16:creationId xmlns:a16="http://schemas.microsoft.com/office/drawing/2014/main" id="{C06D1AC5-DB53-497A-BEC5-7CB4FF85EE5D}"/>
              </a:ext>
            </a:extLst>
          </p:cNvPr>
          <p:cNvSpPr>
            <a:spLocks noGrp="1"/>
          </p:cNvSpPr>
          <p:nvPr/>
        </p:nvSpPr>
        <p:spPr>
          <a:xfrm>
            <a:off x="268338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>
              <a:ext uri="{FF2B5EF4-FFF2-40B4-BE49-F238E27FC236}">
                <a16:creationId xmlns:a16="http://schemas.microsoft.com/office/drawing/2014/main" id="{1299C0C8-C864-46B7-B234-8C64D57416B6}"/>
              </a:ext>
            </a:extLst>
          </p:cNvPr>
          <p:cNvSpPr>
            <a:spLocks noGrp="1"/>
          </p:cNvSpPr>
          <p:nvPr/>
        </p:nvSpPr>
        <p:spPr>
          <a:xfrm>
            <a:off x="5824728" y="9201150"/>
            <a:ext cx="2862072" cy="1133475"/>
          </a:xfrm>
          <a:prstGeom prst="roundRect">
            <a:avLst>
              <a:gd name="adj" fmla="val 8403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1" name="文字_91">
            <a:extLst>
              <a:ext uri="{FF2B5EF4-FFF2-40B4-BE49-F238E27FC236}">
                <a16:creationId xmlns:a16="http://schemas.microsoft.com/office/drawing/2014/main" id="{CC994F48-95F1-4612-959E-C1FEE2E5A838}"/>
              </a:ext>
            </a:extLst>
          </p:cNvPr>
          <p:cNvSpPr>
            <a:spLocks noGrp="1"/>
          </p:cNvSpPr>
          <p:nvPr/>
        </p:nvSpPr>
        <p:spPr>
          <a:xfrm>
            <a:off x="5900928" y="926782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>
              <a:ext uri="{FF2B5EF4-FFF2-40B4-BE49-F238E27FC236}">
                <a16:creationId xmlns:a16="http://schemas.microsoft.com/office/drawing/2014/main" id="{5DBD1F1F-915C-4EE1-96C7-482106EC9C6B}"/>
              </a:ext>
            </a:extLst>
          </p:cNvPr>
          <p:cNvSpPr>
            <a:spLocks noGrp="1"/>
          </p:cNvSpPr>
          <p:nvPr/>
        </p:nvSpPr>
        <p:spPr>
          <a:xfrm>
            <a:off x="5929503" y="9610725"/>
            <a:ext cx="2652522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>
              <a:ext uri="{FF2B5EF4-FFF2-40B4-BE49-F238E27FC236}">
                <a16:creationId xmlns:a16="http://schemas.microsoft.com/office/drawing/2014/main" id="{09FE51E9-A13B-499D-92AA-D6A0B34A0F55}"/>
              </a:ext>
            </a:extLst>
          </p:cNvPr>
          <p:cNvSpPr>
            <a:spLocks noGrp="1"/>
          </p:cNvSpPr>
          <p:nvPr/>
        </p:nvSpPr>
        <p:spPr>
          <a:xfrm>
            <a:off x="4010025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4" name="连接线_94">
            <a:extLst>
              <a:ext uri="{FF2B5EF4-FFF2-40B4-BE49-F238E27FC236}">
                <a16:creationId xmlns:a16="http://schemas.microsoft.com/office/drawing/2014/main" id="{30C42F40-01E1-47EC-9E07-0E05056BE560}"/>
              </a:ext>
            </a:extLst>
          </p:cNvPr>
          <p:cNvSpPr>
            <a:spLocks noGrp="1"/>
          </p:cNvSpPr>
          <p:nvPr/>
        </p:nvSpPr>
        <p:spPr>
          <a:xfrm>
            <a:off x="7258050" y="10391775"/>
            <a:ext cx="19050" cy="7620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5" name="连接线_95">
            <a:extLst>
              <a:ext uri="{FF2B5EF4-FFF2-40B4-BE49-F238E27FC236}">
                <a16:creationId xmlns:a16="http://schemas.microsoft.com/office/drawing/2014/main" id="{13AE47C5-15DD-4CDF-B9A7-D73C3F732480}"/>
              </a:ext>
            </a:extLst>
          </p:cNvPr>
          <p:cNvSpPr>
            <a:spLocks noGrp="1"/>
          </p:cNvSpPr>
          <p:nvPr/>
        </p:nvSpPr>
        <p:spPr>
          <a:xfrm>
            <a:off x="4010025" y="10467975"/>
            <a:ext cx="32480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6" name="流程箭头_96">
            <a:extLst>
              <a:ext uri="{FF2B5EF4-FFF2-40B4-BE49-F238E27FC236}">
                <a16:creationId xmlns:a16="http://schemas.microsoft.com/office/drawing/2014/main" id="{30E462DA-830C-42CA-9CF6-BDC0EC20CEA4}"/>
              </a:ext>
            </a:extLst>
          </p:cNvPr>
          <p:cNvSpPr>
            <a:spLocks noGrp="1"/>
          </p:cNvSpPr>
          <p:nvPr/>
        </p:nvSpPr>
        <p:spPr>
          <a:xfrm>
            <a:off x="5562600" y="10477500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97" name="组织调整对运行的反馈_97">
            <a:extLst>
              <a:ext uri="{FF2B5EF4-FFF2-40B4-BE49-F238E27FC236}">
                <a16:creationId xmlns:a16="http://schemas.microsoft.com/office/drawing/2014/main" id="{9D72EA26-8A5C-4347-9786-BE33D33E391E}"/>
              </a:ext>
            </a:extLst>
          </p:cNvPr>
          <p:cNvSpPr>
            <a:spLocks noGrp="1"/>
          </p:cNvSpPr>
          <p:nvPr/>
        </p:nvSpPr>
        <p:spPr>
          <a:xfrm>
            <a:off x="2578608" y="10668000"/>
            <a:ext cx="6108192" cy="666750"/>
          </a:xfrm>
          <a:prstGeom prst="roundRect">
            <a:avLst>
              <a:gd name="adj" fmla="val 14286"/>
            </a:avLst>
          </a:prstGeom>
          <a:solidFill>
            <a:srgbClr val="E5F1E9"/>
          </a:solidFill>
          <a:ln w="16193">
            <a:solidFill>
              <a:srgbClr val="21864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98" name="文字_98">
            <a:extLst>
              <a:ext uri="{FF2B5EF4-FFF2-40B4-BE49-F238E27FC236}">
                <a16:creationId xmlns:a16="http://schemas.microsoft.com/office/drawing/2014/main" id="{98AFC31B-5309-4CE7-8C49-9757EFDAC978}"/>
              </a:ext>
            </a:extLst>
          </p:cNvPr>
          <p:cNvSpPr>
            <a:spLocks noGrp="1"/>
          </p:cNvSpPr>
          <p:nvPr/>
        </p:nvSpPr>
        <p:spPr>
          <a:xfrm>
            <a:off x="2654808" y="10734675"/>
            <a:ext cx="5955792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>
              <a:ext uri="{FF2B5EF4-FFF2-40B4-BE49-F238E27FC236}">
                <a16:creationId xmlns:a16="http://schemas.microsoft.com/office/drawing/2014/main" id="{EA9BD973-0F85-4A69-A3AE-715255410A8F}"/>
              </a:ext>
            </a:extLst>
          </p:cNvPr>
          <p:cNvSpPr>
            <a:spLocks noGrp="1"/>
          </p:cNvSpPr>
          <p:nvPr/>
        </p:nvSpPr>
        <p:spPr>
          <a:xfrm>
            <a:off x="2683383" y="11039475"/>
            <a:ext cx="5898642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>
              <a:ext uri="{FF2B5EF4-FFF2-40B4-BE49-F238E27FC236}">
                <a16:creationId xmlns:a16="http://schemas.microsoft.com/office/drawing/2014/main" id="{C2A07F48-7800-4663-9FC2-B414B7FC242B}"/>
              </a:ext>
            </a:extLst>
          </p:cNvPr>
          <p:cNvSpPr>
            <a:spLocks noGrp="1"/>
          </p:cNvSpPr>
          <p:nvPr/>
        </p:nvSpPr>
        <p:spPr>
          <a:xfrm>
            <a:off x="2276475" y="11001375"/>
            <a:ext cx="302133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1" name="连接线_101">
            <a:extLst>
              <a:ext uri="{FF2B5EF4-FFF2-40B4-BE49-F238E27FC236}">
                <a16:creationId xmlns:a16="http://schemas.microsoft.com/office/drawing/2014/main" id="{B7C5CB12-2AC7-46B7-B880-F3B44F871279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2" name="连接线_102">
            <a:extLst>
              <a:ext uri="{FF2B5EF4-FFF2-40B4-BE49-F238E27FC236}">
                <a16:creationId xmlns:a16="http://schemas.microsoft.com/office/drawing/2014/main" id="{DBC7F092-D227-44AA-9514-704438744B7D}"/>
              </a:ext>
            </a:extLst>
          </p:cNvPr>
          <p:cNvSpPr>
            <a:spLocks noGrp="1"/>
          </p:cNvSpPr>
          <p:nvPr/>
        </p:nvSpPr>
        <p:spPr>
          <a:xfrm>
            <a:off x="2276475" y="3752850"/>
            <a:ext cx="1428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3" name="流程箭头_103">
            <a:extLst>
              <a:ext uri="{FF2B5EF4-FFF2-40B4-BE49-F238E27FC236}">
                <a16:creationId xmlns:a16="http://schemas.microsoft.com/office/drawing/2014/main" id="{6B6BBC56-D463-4280-A7B9-DE1E52401950}"/>
              </a:ext>
            </a:extLst>
          </p:cNvPr>
          <p:cNvSpPr>
            <a:spLocks noGrp="1"/>
          </p:cNvSpPr>
          <p:nvPr/>
        </p:nvSpPr>
        <p:spPr>
          <a:xfrm>
            <a:off x="2419350" y="3686175"/>
            <a:ext cx="152400" cy="152400"/>
          </a:xfrm>
          <a:prstGeom prst="righ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4" name="连接线_104">
            <a:extLst>
              <a:ext uri="{FF2B5EF4-FFF2-40B4-BE49-F238E27FC236}">
                <a16:creationId xmlns:a16="http://schemas.microsoft.com/office/drawing/2014/main" id="{7DD80BC2-133D-408B-8B3C-CA39CF566169}"/>
              </a:ext>
            </a:extLst>
          </p:cNvPr>
          <p:cNvSpPr>
            <a:spLocks noGrp="1"/>
          </p:cNvSpPr>
          <p:nvPr/>
        </p:nvSpPr>
        <p:spPr>
          <a:xfrm>
            <a:off x="8686800" y="11001375"/>
            <a:ext cx="33337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5" name="连接线_105">
            <a:extLst>
              <a:ext uri="{FF2B5EF4-FFF2-40B4-BE49-F238E27FC236}">
                <a16:creationId xmlns:a16="http://schemas.microsoft.com/office/drawing/2014/main" id="{A6EF3012-AFA3-4DB7-B44C-05B8562BD895}"/>
              </a:ext>
            </a:extLst>
          </p:cNvPr>
          <p:cNvSpPr>
            <a:spLocks noGrp="1"/>
          </p:cNvSpPr>
          <p:nvPr/>
        </p:nvSpPr>
        <p:spPr>
          <a:xfrm>
            <a:off x="9020175" y="3752850"/>
            <a:ext cx="19050" cy="7248525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6" name="连接线_106">
            <a:extLst>
              <a:ext uri="{FF2B5EF4-FFF2-40B4-BE49-F238E27FC236}">
                <a16:creationId xmlns:a16="http://schemas.microsoft.com/office/drawing/2014/main" id="{B527A078-0DAE-4249-92B6-2BEC5D2B8DFD}"/>
              </a:ext>
            </a:extLst>
          </p:cNvPr>
          <p:cNvSpPr>
            <a:spLocks noGrp="1"/>
          </p:cNvSpPr>
          <p:nvPr/>
        </p:nvSpPr>
        <p:spPr>
          <a:xfrm>
            <a:off x="8858250" y="3752850"/>
            <a:ext cx="161925" cy="19050"/>
          </a:xfrm>
          <a:prstGeom prst="rect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7" name="流程箭头_107">
            <a:extLst>
              <a:ext uri="{FF2B5EF4-FFF2-40B4-BE49-F238E27FC236}">
                <a16:creationId xmlns:a16="http://schemas.microsoft.com/office/drawing/2014/main" id="{9BBD8FEE-62C6-4D26-A968-F17DF424A8D3}"/>
              </a:ext>
            </a:extLst>
          </p:cNvPr>
          <p:cNvSpPr>
            <a:spLocks noGrp="1"/>
          </p:cNvSpPr>
          <p:nvPr/>
        </p:nvSpPr>
        <p:spPr>
          <a:xfrm>
            <a:off x="8686800" y="3686175"/>
            <a:ext cx="171450" cy="152400"/>
          </a:xfrm>
          <a:prstGeom prst="left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08" name="容器_108">
            <a:extLst>
              <a:ext uri="{FF2B5EF4-FFF2-40B4-BE49-F238E27FC236}">
                <a16:creationId xmlns:a16="http://schemas.microsoft.com/office/drawing/2014/main" id="{66DF3DFA-D4E6-4232-9883-431BBF6A2729}"/>
              </a:ext>
            </a:extLst>
          </p:cNvPr>
          <p:cNvSpPr>
            <a:spLocks noGrp="1"/>
          </p:cNvSpPr>
          <p:nvPr/>
        </p:nvSpPr>
        <p:spPr>
          <a:xfrm>
            <a:off x="213360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9" name="容器_109">
            <a:extLst>
              <a:ext uri="{FF2B5EF4-FFF2-40B4-BE49-F238E27FC236}">
                <a16:creationId xmlns:a16="http://schemas.microsoft.com/office/drawing/2014/main" id="{84B55F2F-F2AC-4437-A0EB-ACCD4AA63D46}"/>
              </a:ext>
            </a:extLst>
          </p:cNvPr>
          <p:cNvSpPr>
            <a:spLocks noGrp="1"/>
          </p:cNvSpPr>
          <p:nvPr/>
        </p:nvSpPr>
        <p:spPr>
          <a:xfrm>
            <a:off x="8896350" y="885825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0" name="文字_110">
            <a:extLst>
              <a:ext uri="{FF2B5EF4-FFF2-40B4-BE49-F238E27FC236}">
                <a16:creationId xmlns:a16="http://schemas.microsoft.com/office/drawing/2014/main" id="{F1FFB147-272D-4E18-9D90-91B78C2E291C}"/>
              </a:ext>
            </a:extLst>
          </p:cNvPr>
          <p:cNvSpPr>
            <a:spLocks noGrp="1"/>
          </p:cNvSpPr>
          <p:nvPr/>
        </p:nvSpPr>
        <p:spPr>
          <a:xfrm>
            <a:off x="214312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>
              <a:ext uri="{FF2B5EF4-FFF2-40B4-BE49-F238E27FC236}">
                <a16:creationId xmlns:a16="http://schemas.microsoft.com/office/drawing/2014/main" id="{F5C24B70-70AF-4CC3-B40B-617295E9D0F3}"/>
              </a:ext>
            </a:extLst>
          </p:cNvPr>
          <p:cNvSpPr>
            <a:spLocks noGrp="1"/>
          </p:cNvSpPr>
          <p:nvPr/>
        </p:nvSpPr>
        <p:spPr>
          <a:xfrm>
            <a:off x="8905875" y="885825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>
              <a:ext uri="{FF2B5EF4-FFF2-40B4-BE49-F238E27FC236}">
                <a16:creationId xmlns:a16="http://schemas.microsoft.com/office/drawing/2014/main" id="{5074DF3A-4548-484F-84EB-C4752BFFBBBD}"/>
              </a:ext>
            </a:extLst>
          </p:cNvPr>
          <p:cNvSpPr>
            <a:spLocks noGrp="1"/>
          </p:cNvSpPr>
          <p:nvPr/>
        </p:nvSpPr>
        <p:spPr>
          <a:xfrm>
            <a:off x="5562600" y="11477625"/>
            <a:ext cx="152400" cy="133350"/>
          </a:xfrm>
          <a:prstGeom prst="downArrow">
            <a:avLst/>
          </a:prstGeom>
          <a:solidFill>
            <a:srgbClr val="21864B"/>
          </a:solidFill>
          <a:ln w="0">
            <a:noFill/>
          </a:ln>
        </p:spPr>
      </p:sp>
      <p:sp>
        <p:nvSpPr>
          <p:cNvPr id="113" name="研究模块_113">
            <a:extLst>
              <a:ext uri="{FF2B5EF4-FFF2-40B4-BE49-F238E27FC236}">
                <a16:creationId xmlns:a16="http://schemas.microsoft.com/office/drawing/2014/main" id="{3111B377-50C6-4741-ADFC-10A2D7751663}"/>
              </a:ext>
            </a:extLst>
          </p:cNvPr>
          <p:cNvSpPr>
            <a:spLocks noGrp="1"/>
          </p:cNvSpPr>
          <p:nvPr/>
        </p:nvSpPr>
        <p:spPr>
          <a:xfrm>
            <a:off x="2395728" y="11630025"/>
            <a:ext cx="6473952" cy="699135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4" name="模块标题背景_114">
            <a:extLst>
              <a:ext uri="{FF2B5EF4-FFF2-40B4-BE49-F238E27FC236}">
                <a16:creationId xmlns:a16="http://schemas.microsoft.com/office/drawing/2014/main" id="{D3AEDE59-EAAB-46C3-AFC5-F06A95D144DD}"/>
              </a:ext>
            </a:extLst>
          </p:cNvPr>
          <p:cNvSpPr>
            <a:spLocks noGrp="1"/>
          </p:cNvSpPr>
          <p:nvPr/>
        </p:nvSpPr>
        <p:spPr>
          <a:xfrm>
            <a:off x="2459736" y="11694033"/>
            <a:ext cx="6345936" cy="400050"/>
          </a:xfrm>
          <a:prstGeom prst="roundRect">
            <a:avLst>
              <a:gd name="adj" fmla="val 23810"/>
            </a:avLst>
          </a:prstGeom>
          <a:solidFill>
            <a:srgbClr val="BF8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5" name="模块标题_115">
            <a:extLst>
              <a:ext uri="{FF2B5EF4-FFF2-40B4-BE49-F238E27FC236}">
                <a16:creationId xmlns:a16="http://schemas.microsoft.com/office/drawing/2014/main" id="{396C3BDD-1D5C-4329-BE06-A2D3D1F52BBD}"/>
              </a:ext>
            </a:extLst>
          </p:cNvPr>
          <p:cNvSpPr>
            <a:spLocks noGrp="1"/>
          </p:cNvSpPr>
          <p:nvPr/>
        </p:nvSpPr>
        <p:spPr>
          <a:xfrm>
            <a:off x="2638425" y="11696700"/>
            <a:ext cx="6038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>
              <a:ext uri="{FF2B5EF4-FFF2-40B4-BE49-F238E27FC236}">
                <a16:creationId xmlns:a16="http://schemas.microsoft.com/office/drawing/2014/main" id="{CABD9FB6-5390-4B58-BEB4-B38B2C7F39B8}"/>
              </a:ext>
            </a:extLst>
          </p:cNvPr>
          <p:cNvSpPr>
            <a:spLocks noGrp="1"/>
          </p:cNvSpPr>
          <p:nvPr/>
        </p:nvSpPr>
        <p:spPr>
          <a:xfrm>
            <a:off x="2578608" y="12182475"/>
            <a:ext cx="6108192" cy="895350"/>
          </a:xfrm>
          <a:prstGeom prst="roundRect">
            <a:avLst>
              <a:gd name="adj" fmla="val 10638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17" name="文字_117">
            <a:extLst>
              <a:ext uri="{FF2B5EF4-FFF2-40B4-BE49-F238E27FC236}">
                <a16:creationId xmlns:a16="http://schemas.microsoft.com/office/drawing/2014/main" id="{407C5048-A075-4DCF-8522-0876E45CF37C}"/>
              </a:ext>
            </a:extLst>
          </p:cNvPr>
          <p:cNvSpPr>
            <a:spLocks noGrp="1"/>
          </p:cNvSpPr>
          <p:nvPr/>
        </p:nvSpPr>
        <p:spPr>
          <a:xfrm>
            <a:off x="2654808" y="12249150"/>
            <a:ext cx="5955792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>
              <a:ext uri="{FF2B5EF4-FFF2-40B4-BE49-F238E27FC236}">
                <a16:creationId xmlns:a16="http://schemas.microsoft.com/office/drawing/2014/main" id="{7F0484F8-ABF5-4515-A154-F592DB6B2E48}"/>
              </a:ext>
            </a:extLst>
          </p:cNvPr>
          <p:cNvSpPr>
            <a:spLocks noGrp="1"/>
          </p:cNvSpPr>
          <p:nvPr/>
        </p:nvSpPr>
        <p:spPr>
          <a:xfrm>
            <a:off x="2683383" y="12573000"/>
            <a:ext cx="5898642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>
              <a:ext uri="{FF2B5EF4-FFF2-40B4-BE49-F238E27FC236}">
                <a16:creationId xmlns:a16="http://schemas.microsoft.com/office/drawing/2014/main" id="{8681455A-04F3-4EE9-868C-A3E2C31EAE52}"/>
              </a:ext>
            </a:extLst>
          </p:cNvPr>
          <p:cNvSpPr>
            <a:spLocks noGrp="1"/>
          </p:cNvSpPr>
          <p:nvPr/>
        </p:nvSpPr>
        <p:spPr>
          <a:xfrm>
            <a:off x="5562600" y="1313497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0" name="航运动态响应模型_120">
            <a:extLst>
              <a:ext uri="{FF2B5EF4-FFF2-40B4-BE49-F238E27FC236}">
                <a16:creationId xmlns:a16="http://schemas.microsoft.com/office/drawing/2014/main" id="{B4D13BA2-F919-4A6C-8870-6498B85EA1BD}"/>
              </a:ext>
            </a:extLst>
          </p:cNvPr>
          <p:cNvSpPr>
            <a:spLocks noGrp="1"/>
          </p:cNvSpPr>
          <p:nvPr/>
        </p:nvSpPr>
        <p:spPr>
          <a:xfrm>
            <a:off x="2578608" y="13315950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1" name="文字_121">
            <a:extLst>
              <a:ext uri="{FF2B5EF4-FFF2-40B4-BE49-F238E27FC236}">
                <a16:creationId xmlns:a16="http://schemas.microsoft.com/office/drawing/2014/main" id="{C170CB81-506D-4364-A344-5C1B96CBE1B7}"/>
              </a:ext>
            </a:extLst>
          </p:cNvPr>
          <p:cNvSpPr>
            <a:spLocks noGrp="1"/>
          </p:cNvSpPr>
          <p:nvPr/>
        </p:nvSpPr>
        <p:spPr>
          <a:xfrm>
            <a:off x="2654808" y="13382625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>
              <a:ext uri="{FF2B5EF4-FFF2-40B4-BE49-F238E27FC236}">
                <a16:creationId xmlns:a16="http://schemas.microsoft.com/office/drawing/2014/main" id="{CFA15C00-8D9E-4A0A-853C-0F60FE2C65D7}"/>
              </a:ext>
            </a:extLst>
          </p:cNvPr>
          <p:cNvSpPr>
            <a:spLocks noGrp="1"/>
          </p:cNvSpPr>
          <p:nvPr/>
        </p:nvSpPr>
        <p:spPr>
          <a:xfrm>
            <a:off x="2683383" y="13725525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>
              <a:ext uri="{FF2B5EF4-FFF2-40B4-BE49-F238E27FC236}">
                <a16:creationId xmlns:a16="http://schemas.microsoft.com/office/drawing/2014/main" id="{47D7619E-0D78-496D-B35C-609990BDAF59}"/>
              </a:ext>
            </a:extLst>
          </p:cNvPr>
          <p:cNvSpPr>
            <a:spLocks noGrp="1"/>
          </p:cNvSpPr>
          <p:nvPr/>
        </p:nvSpPr>
        <p:spPr>
          <a:xfrm>
            <a:off x="5638800" y="14249400"/>
            <a:ext cx="19050" cy="1143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4" name="连接线_124">
            <a:extLst>
              <a:ext uri="{FF2B5EF4-FFF2-40B4-BE49-F238E27FC236}">
                <a16:creationId xmlns:a16="http://schemas.microsoft.com/office/drawing/2014/main" id="{259900F8-4126-4E1A-96D3-6388E94D9107}"/>
              </a:ext>
            </a:extLst>
          </p:cNvPr>
          <p:cNvSpPr>
            <a:spLocks noGrp="1"/>
          </p:cNvSpPr>
          <p:nvPr/>
        </p:nvSpPr>
        <p:spPr>
          <a:xfrm>
            <a:off x="4010025" y="14363700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5" name="流程箭头_125">
            <a:extLst>
              <a:ext uri="{FF2B5EF4-FFF2-40B4-BE49-F238E27FC236}">
                <a16:creationId xmlns:a16="http://schemas.microsoft.com/office/drawing/2014/main" id="{994A456F-7BE5-4361-9F38-B8461A759EF2}"/>
              </a:ext>
            </a:extLst>
          </p:cNvPr>
          <p:cNvSpPr>
            <a:spLocks noGrp="1"/>
          </p:cNvSpPr>
          <p:nvPr/>
        </p:nvSpPr>
        <p:spPr>
          <a:xfrm>
            <a:off x="3933825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6" name="流程箭头_126">
            <a:extLst>
              <a:ext uri="{FF2B5EF4-FFF2-40B4-BE49-F238E27FC236}">
                <a16:creationId xmlns:a16="http://schemas.microsoft.com/office/drawing/2014/main" id="{A73A1500-458D-4673-B48F-95F365BFB8D5}"/>
              </a:ext>
            </a:extLst>
          </p:cNvPr>
          <p:cNvSpPr>
            <a:spLocks noGrp="1"/>
          </p:cNvSpPr>
          <p:nvPr/>
        </p:nvSpPr>
        <p:spPr>
          <a:xfrm>
            <a:off x="7181850" y="14373225"/>
            <a:ext cx="152400" cy="19050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27" name="典型事件校准_127">
            <a:extLst>
              <a:ext uri="{FF2B5EF4-FFF2-40B4-BE49-F238E27FC236}">
                <a16:creationId xmlns:a16="http://schemas.microsoft.com/office/drawing/2014/main" id="{DBF912FE-8CB1-4955-9E6D-6D5DACA07AFC}"/>
              </a:ext>
            </a:extLst>
          </p:cNvPr>
          <p:cNvSpPr>
            <a:spLocks noGrp="1"/>
          </p:cNvSpPr>
          <p:nvPr/>
        </p:nvSpPr>
        <p:spPr>
          <a:xfrm>
            <a:off x="257860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28" name="文字_128">
            <a:extLst>
              <a:ext uri="{FF2B5EF4-FFF2-40B4-BE49-F238E27FC236}">
                <a16:creationId xmlns:a16="http://schemas.microsoft.com/office/drawing/2014/main" id="{D8ACA816-C547-4B87-978A-B3B1C74DE1D7}"/>
              </a:ext>
            </a:extLst>
          </p:cNvPr>
          <p:cNvSpPr>
            <a:spLocks noGrp="1"/>
          </p:cNvSpPr>
          <p:nvPr/>
        </p:nvSpPr>
        <p:spPr>
          <a:xfrm>
            <a:off x="265480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>
              <a:ext uri="{FF2B5EF4-FFF2-40B4-BE49-F238E27FC236}">
                <a16:creationId xmlns:a16="http://schemas.microsoft.com/office/drawing/2014/main" id="{BE5C334C-FE3E-48BF-9E4C-E11781C71AC0}"/>
              </a:ext>
            </a:extLst>
          </p:cNvPr>
          <p:cNvSpPr>
            <a:spLocks noGrp="1"/>
          </p:cNvSpPr>
          <p:nvPr/>
        </p:nvSpPr>
        <p:spPr>
          <a:xfrm>
            <a:off x="268338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>
              <a:ext uri="{FF2B5EF4-FFF2-40B4-BE49-F238E27FC236}">
                <a16:creationId xmlns:a16="http://schemas.microsoft.com/office/drawing/2014/main" id="{943C15DB-2626-44FE-97AA-5B8E47554A6A}"/>
              </a:ext>
            </a:extLst>
          </p:cNvPr>
          <p:cNvSpPr>
            <a:spLocks noGrp="1"/>
          </p:cNvSpPr>
          <p:nvPr/>
        </p:nvSpPr>
        <p:spPr>
          <a:xfrm>
            <a:off x="5824728" y="14592300"/>
            <a:ext cx="2862072" cy="1143000"/>
          </a:xfrm>
          <a:prstGeom prst="roundRect">
            <a:avLst>
              <a:gd name="adj" fmla="val 8333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31" name="文字_131">
            <a:extLst>
              <a:ext uri="{FF2B5EF4-FFF2-40B4-BE49-F238E27FC236}">
                <a16:creationId xmlns:a16="http://schemas.microsoft.com/office/drawing/2014/main" id="{80577CD2-BEC6-4E89-B7BE-563243638FFD}"/>
              </a:ext>
            </a:extLst>
          </p:cNvPr>
          <p:cNvSpPr>
            <a:spLocks noGrp="1"/>
          </p:cNvSpPr>
          <p:nvPr/>
        </p:nvSpPr>
        <p:spPr>
          <a:xfrm>
            <a:off x="5900928" y="14658975"/>
            <a:ext cx="270967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>
              <a:ext uri="{FF2B5EF4-FFF2-40B4-BE49-F238E27FC236}">
                <a16:creationId xmlns:a16="http://schemas.microsoft.com/office/drawing/2014/main" id="{FF972709-8827-4F84-9F59-CD17BF841D71}"/>
              </a:ext>
            </a:extLst>
          </p:cNvPr>
          <p:cNvSpPr>
            <a:spLocks noGrp="1"/>
          </p:cNvSpPr>
          <p:nvPr/>
        </p:nvSpPr>
        <p:spPr>
          <a:xfrm>
            <a:off x="5929503" y="15001875"/>
            <a:ext cx="2652522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>
              <a:ext uri="{FF2B5EF4-FFF2-40B4-BE49-F238E27FC236}">
                <a16:creationId xmlns:a16="http://schemas.microsoft.com/office/drawing/2014/main" id="{5913357C-E87D-4F38-8B99-14A265C2E7D8}"/>
              </a:ext>
            </a:extLst>
          </p:cNvPr>
          <p:cNvSpPr>
            <a:spLocks noGrp="1"/>
          </p:cNvSpPr>
          <p:nvPr/>
        </p:nvSpPr>
        <p:spPr>
          <a:xfrm>
            <a:off x="2276475" y="15163800"/>
            <a:ext cx="302133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4" name="连接线_134">
            <a:extLst>
              <a:ext uri="{FF2B5EF4-FFF2-40B4-BE49-F238E27FC236}">
                <a16:creationId xmlns:a16="http://schemas.microsoft.com/office/drawing/2014/main" id="{E2BBDB38-0C10-4CCF-9B94-1261A765675D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5" name="连接线_135">
            <a:extLst>
              <a:ext uri="{FF2B5EF4-FFF2-40B4-BE49-F238E27FC236}">
                <a16:creationId xmlns:a16="http://schemas.microsoft.com/office/drawing/2014/main" id="{6AD12765-AA57-4A9E-9D90-BB769813E3CF}"/>
              </a:ext>
            </a:extLst>
          </p:cNvPr>
          <p:cNvSpPr>
            <a:spLocks noGrp="1"/>
          </p:cNvSpPr>
          <p:nvPr/>
        </p:nvSpPr>
        <p:spPr>
          <a:xfrm>
            <a:off x="2276475" y="13782675"/>
            <a:ext cx="1428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6" name="流程箭头_136">
            <a:extLst>
              <a:ext uri="{FF2B5EF4-FFF2-40B4-BE49-F238E27FC236}">
                <a16:creationId xmlns:a16="http://schemas.microsoft.com/office/drawing/2014/main" id="{26D5E78E-C53A-4FCB-BFF0-3869464FDD48}"/>
              </a:ext>
            </a:extLst>
          </p:cNvPr>
          <p:cNvSpPr>
            <a:spLocks noGrp="1"/>
          </p:cNvSpPr>
          <p:nvPr/>
        </p:nvSpPr>
        <p:spPr>
          <a:xfrm>
            <a:off x="2419350" y="13716000"/>
            <a:ext cx="152400" cy="152400"/>
          </a:xfrm>
          <a:prstGeom prst="righ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7" name="连接线_137">
            <a:extLst>
              <a:ext uri="{FF2B5EF4-FFF2-40B4-BE49-F238E27FC236}">
                <a16:creationId xmlns:a16="http://schemas.microsoft.com/office/drawing/2014/main" id="{2231D7A2-0EE9-4BD5-B263-132032BFC2D5}"/>
              </a:ext>
            </a:extLst>
          </p:cNvPr>
          <p:cNvSpPr>
            <a:spLocks noGrp="1"/>
          </p:cNvSpPr>
          <p:nvPr/>
        </p:nvSpPr>
        <p:spPr>
          <a:xfrm>
            <a:off x="8686800" y="15163800"/>
            <a:ext cx="33337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8" name="连接线_138">
            <a:extLst>
              <a:ext uri="{FF2B5EF4-FFF2-40B4-BE49-F238E27FC236}">
                <a16:creationId xmlns:a16="http://schemas.microsoft.com/office/drawing/2014/main" id="{26B87A27-7B68-4890-AFE2-B4F9C8F284AF}"/>
              </a:ext>
            </a:extLst>
          </p:cNvPr>
          <p:cNvSpPr>
            <a:spLocks noGrp="1"/>
          </p:cNvSpPr>
          <p:nvPr/>
        </p:nvSpPr>
        <p:spPr>
          <a:xfrm>
            <a:off x="9020175" y="13782675"/>
            <a:ext cx="19050" cy="1381125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39" name="连接线_139">
            <a:extLst>
              <a:ext uri="{FF2B5EF4-FFF2-40B4-BE49-F238E27FC236}">
                <a16:creationId xmlns:a16="http://schemas.microsoft.com/office/drawing/2014/main" id="{A40346C1-C692-4E5F-BF4C-DE32A74B6D08}"/>
              </a:ext>
            </a:extLst>
          </p:cNvPr>
          <p:cNvSpPr>
            <a:spLocks noGrp="1"/>
          </p:cNvSpPr>
          <p:nvPr/>
        </p:nvSpPr>
        <p:spPr>
          <a:xfrm>
            <a:off x="8858250" y="13782675"/>
            <a:ext cx="1619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0" name="流程箭头_140">
            <a:extLst>
              <a:ext uri="{FF2B5EF4-FFF2-40B4-BE49-F238E27FC236}">
                <a16:creationId xmlns:a16="http://schemas.microsoft.com/office/drawing/2014/main" id="{491D7638-6D2E-4577-9204-A373965AB256}"/>
              </a:ext>
            </a:extLst>
          </p:cNvPr>
          <p:cNvSpPr>
            <a:spLocks noGrp="1"/>
          </p:cNvSpPr>
          <p:nvPr/>
        </p:nvSpPr>
        <p:spPr>
          <a:xfrm>
            <a:off x="8686800" y="13716000"/>
            <a:ext cx="171450" cy="152400"/>
          </a:xfrm>
          <a:prstGeom prst="left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1" name="容器_141">
            <a:extLst>
              <a:ext uri="{FF2B5EF4-FFF2-40B4-BE49-F238E27FC236}">
                <a16:creationId xmlns:a16="http://schemas.microsoft.com/office/drawing/2014/main" id="{7F1EB35D-1999-4E55-BBEA-0A0BC927F3D4}"/>
              </a:ext>
            </a:extLst>
          </p:cNvPr>
          <p:cNvSpPr>
            <a:spLocks noGrp="1"/>
          </p:cNvSpPr>
          <p:nvPr/>
        </p:nvSpPr>
        <p:spPr>
          <a:xfrm>
            <a:off x="213360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2" name="容器_142">
            <a:extLst>
              <a:ext uri="{FF2B5EF4-FFF2-40B4-BE49-F238E27FC236}">
                <a16:creationId xmlns:a16="http://schemas.microsoft.com/office/drawing/2014/main" id="{029A256A-8058-4235-90E6-0795D632E0E2}"/>
              </a:ext>
            </a:extLst>
          </p:cNvPr>
          <p:cNvSpPr>
            <a:spLocks noGrp="1"/>
          </p:cNvSpPr>
          <p:nvPr/>
        </p:nvSpPr>
        <p:spPr>
          <a:xfrm>
            <a:off x="8896350" y="14211300"/>
            <a:ext cx="24765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3" name="文字_143">
            <a:extLst>
              <a:ext uri="{FF2B5EF4-FFF2-40B4-BE49-F238E27FC236}">
                <a16:creationId xmlns:a16="http://schemas.microsoft.com/office/drawing/2014/main" id="{0FC30761-EE63-4E0A-A311-9D60CCD6AAA2}"/>
              </a:ext>
            </a:extLst>
          </p:cNvPr>
          <p:cNvSpPr>
            <a:spLocks noGrp="1"/>
          </p:cNvSpPr>
          <p:nvPr/>
        </p:nvSpPr>
        <p:spPr>
          <a:xfrm>
            <a:off x="214312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>
              <a:ext uri="{FF2B5EF4-FFF2-40B4-BE49-F238E27FC236}">
                <a16:creationId xmlns:a16="http://schemas.microsoft.com/office/drawing/2014/main" id="{9AA26497-B3E2-4D1C-BA0F-75759074D00B}"/>
              </a:ext>
            </a:extLst>
          </p:cNvPr>
          <p:cNvSpPr>
            <a:spLocks noGrp="1"/>
          </p:cNvSpPr>
          <p:nvPr/>
        </p:nvSpPr>
        <p:spPr>
          <a:xfrm>
            <a:off x="8905875" y="14211300"/>
            <a:ext cx="238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>
              <a:ext uri="{FF2B5EF4-FFF2-40B4-BE49-F238E27FC236}">
                <a16:creationId xmlns:a16="http://schemas.microsoft.com/office/drawing/2014/main" id="{ECDEC4FA-9D93-4AF8-A055-666C383F49FE}"/>
              </a:ext>
            </a:extLst>
          </p:cNvPr>
          <p:cNvSpPr>
            <a:spLocks noGrp="1"/>
          </p:cNvSpPr>
          <p:nvPr/>
        </p:nvSpPr>
        <p:spPr>
          <a:xfrm>
            <a:off x="4010025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6" name="连接线_146">
            <a:extLst>
              <a:ext uri="{FF2B5EF4-FFF2-40B4-BE49-F238E27FC236}">
                <a16:creationId xmlns:a16="http://schemas.microsoft.com/office/drawing/2014/main" id="{5937B027-7D0C-4CEA-8124-D563A2460AAB}"/>
              </a:ext>
            </a:extLst>
          </p:cNvPr>
          <p:cNvSpPr>
            <a:spLocks noGrp="1"/>
          </p:cNvSpPr>
          <p:nvPr/>
        </p:nvSpPr>
        <p:spPr>
          <a:xfrm>
            <a:off x="7258050" y="15801975"/>
            <a:ext cx="19050" cy="76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7" name="连接线_147">
            <a:extLst>
              <a:ext uri="{FF2B5EF4-FFF2-40B4-BE49-F238E27FC236}">
                <a16:creationId xmlns:a16="http://schemas.microsoft.com/office/drawing/2014/main" id="{02EA1BF7-A713-4558-96C1-F5EF95986BC7}"/>
              </a:ext>
            </a:extLst>
          </p:cNvPr>
          <p:cNvSpPr>
            <a:spLocks noGrp="1"/>
          </p:cNvSpPr>
          <p:nvPr/>
        </p:nvSpPr>
        <p:spPr>
          <a:xfrm>
            <a:off x="4010025" y="15878175"/>
            <a:ext cx="3248025" cy="1905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8" name="流程箭头_148">
            <a:extLst>
              <a:ext uri="{FF2B5EF4-FFF2-40B4-BE49-F238E27FC236}">
                <a16:creationId xmlns:a16="http://schemas.microsoft.com/office/drawing/2014/main" id="{A6C8EED8-E28B-4E3D-88CA-6AF7F8C71C7A}"/>
              </a:ext>
            </a:extLst>
          </p:cNvPr>
          <p:cNvSpPr>
            <a:spLocks noGrp="1"/>
          </p:cNvSpPr>
          <p:nvPr/>
        </p:nvSpPr>
        <p:spPr>
          <a:xfrm>
            <a:off x="5562600" y="15887700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49" name="多情景传播与恢复响应_149">
            <a:extLst>
              <a:ext uri="{FF2B5EF4-FFF2-40B4-BE49-F238E27FC236}">
                <a16:creationId xmlns:a16="http://schemas.microsoft.com/office/drawing/2014/main" id="{6C7CE143-C313-4EF8-B501-A314E2C9180C}"/>
              </a:ext>
            </a:extLst>
          </p:cNvPr>
          <p:cNvSpPr>
            <a:spLocks noGrp="1"/>
          </p:cNvSpPr>
          <p:nvPr/>
        </p:nvSpPr>
        <p:spPr>
          <a:xfrm>
            <a:off x="2578608" y="16068675"/>
            <a:ext cx="6108192" cy="933450"/>
          </a:xfrm>
          <a:prstGeom prst="roundRect">
            <a:avLst>
              <a:gd name="adj" fmla="val 1020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0" name="文字_150">
            <a:extLst>
              <a:ext uri="{FF2B5EF4-FFF2-40B4-BE49-F238E27FC236}">
                <a16:creationId xmlns:a16="http://schemas.microsoft.com/office/drawing/2014/main" id="{122A3893-8235-4AE0-B410-EBC415D689EB}"/>
              </a:ext>
            </a:extLst>
          </p:cNvPr>
          <p:cNvSpPr>
            <a:spLocks noGrp="1"/>
          </p:cNvSpPr>
          <p:nvPr/>
        </p:nvSpPr>
        <p:spPr>
          <a:xfrm>
            <a:off x="2654808" y="16135350"/>
            <a:ext cx="5955792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 err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  <a:endParaRPr sz="1575" b="1" dirty="0">
              <a:solidFill>
                <a:srgbClr val="BF8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1" name="文字_151">
            <a:extLst>
              <a:ext uri="{FF2B5EF4-FFF2-40B4-BE49-F238E27FC236}">
                <a16:creationId xmlns:a16="http://schemas.microsoft.com/office/drawing/2014/main" id="{180A2082-FAC2-445F-956C-4FF48F97371B}"/>
              </a:ext>
            </a:extLst>
          </p:cNvPr>
          <p:cNvSpPr>
            <a:spLocks noGrp="1"/>
          </p:cNvSpPr>
          <p:nvPr/>
        </p:nvSpPr>
        <p:spPr>
          <a:xfrm>
            <a:off x="2683383" y="16478250"/>
            <a:ext cx="5898642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  <a:endParaRPr sz="1425" b="0" dirty="0">
              <a:solidFill>
                <a:srgbClr val="6666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2" name="流程箭头_152">
            <a:extLst>
              <a:ext uri="{FF2B5EF4-FFF2-40B4-BE49-F238E27FC236}">
                <a16:creationId xmlns:a16="http://schemas.microsoft.com/office/drawing/2014/main" id="{7ED00986-6757-4A23-A2A7-AFC5823886EC}"/>
              </a:ext>
            </a:extLst>
          </p:cNvPr>
          <p:cNvSpPr>
            <a:spLocks noGrp="1"/>
          </p:cNvSpPr>
          <p:nvPr/>
        </p:nvSpPr>
        <p:spPr>
          <a:xfrm>
            <a:off x="5562600" y="17078325"/>
            <a:ext cx="152400" cy="133350"/>
          </a:xfrm>
          <a:prstGeom prst="downArrow">
            <a:avLst/>
          </a:prstGeom>
          <a:solidFill>
            <a:srgbClr val="BF8F00"/>
          </a:solidFill>
          <a:ln w="0">
            <a:noFill/>
          </a:ln>
        </p:spPr>
      </p:sp>
      <p:sp>
        <p:nvSpPr>
          <p:cNvPr id="153" name="供需失配与阈值_153">
            <a:extLst>
              <a:ext uri="{FF2B5EF4-FFF2-40B4-BE49-F238E27FC236}">
                <a16:creationId xmlns:a16="http://schemas.microsoft.com/office/drawing/2014/main" id="{BFC9FA0E-57C2-4CF4-A689-B86A86480E76}"/>
              </a:ext>
            </a:extLst>
          </p:cNvPr>
          <p:cNvSpPr>
            <a:spLocks noGrp="1"/>
          </p:cNvSpPr>
          <p:nvPr/>
        </p:nvSpPr>
        <p:spPr>
          <a:xfrm>
            <a:off x="2578608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4" name="文字_154">
            <a:extLst>
              <a:ext uri="{FF2B5EF4-FFF2-40B4-BE49-F238E27FC236}">
                <a16:creationId xmlns:a16="http://schemas.microsoft.com/office/drawing/2014/main" id="{65F163A0-BE7F-45E7-B0DC-09859E6AAA4A}"/>
              </a:ext>
            </a:extLst>
          </p:cNvPr>
          <p:cNvSpPr>
            <a:spLocks noGrp="1"/>
          </p:cNvSpPr>
          <p:nvPr/>
        </p:nvSpPr>
        <p:spPr>
          <a:xfrm>
            <a:off x="2654808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>
              <a:ext uri="{FF2B5EF4-FFF2-40B4-BE49-F238E27FC236}">
                <a16:creationId xmlns:a16="http://schemas.microsoft.com/office/drawing/2014/main" id="{A38CCA64-ABEE-4796-9C3B-4D4A1285C049}"/>
              </a:ext>
            </a:extLst>
          </p:cNvPr>
          <p:cNvSpPr>
            <a:spLocks noGrp="1"/>
          </p:cNvSpPr>
          <p:nvPr/>
        </p:nvSpPr>
        <p:spPr>
          <a:xfrm>
            <a:off x="2683383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>
              <a:ext uri="{FF2B5EF4-FFF2-40B4-BE49-F238E27FC236}">
                <a16:creationId xmlns:a16="http://schemas.microsoft.com/office/drawing/2014/main" id="{5F999AD4-E522-4663-9965-B9288318C49A}"/>
              </a:ext>
            </a:extLst>
          </p:cNvPr>
          <p:cNvSpPr>
            <a:spLocks noGrp="1"/>
          </p:cNvSpPr>
          <p:nvPr/>
        </p:nvSpPr>
        <p:spPr>
          <a:xfrm>
            <a:off x="4724400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57" name="文字_157">
            <a:extLst>
              <a:ext uri="{FF2B5EF4-FFF2-40B4-BE49-F238E27FC236}">
                <a16:creationId xmlns:a16="http://schemas.microsoft.com/office/drawing/2014/main" id="{1042632E-CE14-4DE7-B212-7EFF3A5E1AE0}"/>
              </a:ext>
            </a:extLst>
          </p:cNvPr>
          <p:cNvSpPr>
            <a:spLocks noGrp="1"/>
          </p:cNvSpPr>
          <p:nvPr/>
        </p:nvSpPr>
        <p:spPr>
          <a:xfrm>
            <a:off x="4800600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>
              <a:ext uri="{FF2B5EF4-FFF2-40B4-BE49-F238E27FC236}">
                <a16:creationId xmlns:a16="http://schemas.microsoft.com/office/drawing/2014/main" id="{AFC00A5E-2866-4DFD-92B5-E1BAB6D0F641}"/>
              </a:ext>
            </a:extLst>
          </p:cNvPr>
          <p:cNvSpPr>
            <a:spLocks noGrp="1"/>
          </p:cNvSpPr>
          <p:nvPr/>
        </p:nvSpPr>
        <p:spPr>
          <a:xfrm>
            <a:off x="4829175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>
              <a:ext uri="{FF2B5EF4-FFF2-40B4-BE49-F238E27FC236}">
                <a16:creationId xmlns:a16="http://schemas.microsoft.com/office/drawing/2014/main" id="{08F00903-68A7-4E7F-9857-5CC99D696F66}"/>
              </a:ext>
            </a:extLst>
          </p:cNvPr>
          <p:cNvSpPr>
            <a:spLocks noGrp="1"/>
          </p:cNvSpPr>
          <p:nvPr/>
        </p:nvSpPr>
        <p:spPr>
          <a:xfrm>
            <a:off x="6870192" y="17287875"/>
            <a:ext cx="1816608" cy="1247775"/>
          </a:xfrm>
          <a:prstGeom prst="roundRect">
            <a:avLst>
              <a:gd name="adj" fmla="val 7634"/>
            </a:avLst>
          </a:prstGeom>
          <a:solidFill>
            <a:srgbClr val="FCF3D8"/>
          </a:solidFill>
          <a:ln w="16193">
            <a:solidFill>
              <a:srgbClr val="BF8F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60" name="文字_160">
            <a:extLst>
              <a:ext uri="{FF2B5EF4-FFF2-40B4-BE49-F238E27FC236}">
                <a16:creationId xmlns:a16="http://schemas.microsoft.com/office/drawing/2014/main" id="{2F99A5F3-5F47-434C-A8D3-2F037CF5ED38}"/>
              </a:ext>
            </a:extLst>
          </p:cNvPr>
          <p:cNvSpPr>
            <a:spLocks noGrp="1"/>
          </p:cNvSpPr>
          <p:nvPr/>
        </p:nvSpPr>
        <p:spPr>
          <a:xfrm>
            <a:off x="6946392" y="17354550"/>
            <a:ext cx="1664208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>
              <a:ext uri="{FF2B5EF4-FFF2-40B4-BE49-F238E27FC236}">
                <a16:creationId xmlns:a16="http://schemas.microsoft.com/office/drawing/2014/main" id="{2DDFBE40-BCF4-49CB-B9DB-A2EFA7BEB05F}"/>
              </a:ext>
            </a:extLst>
          </p:cNvPr>
          <p:cNvSpPr>
            <a:spLocks noGrp="1"/>
          </p:cNvSpPr>
          <p:nvPr/>
        </p:nvSpPr>
        <p:spPr>
          <a:xfrm>
            <a:off x="6974967" y="17716500"/>
            <a:ext cx="1607058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2000" name="核心成果_1">
            <a:extLst>
              <a:ext uri="{FF2B5EF4-FFF2-40B4-BE49-F238E27FC236}">
                <a16:creationId xmlns:a16="http://schemas.microsoft.com/office/drawing/2014/main" id="{3783E2D8-1E1D-47CA-9FF8-8A79EDC6C9F4}"/>
              </a:ext>
            </a:extLst>
          </p:cNvPr>
          <p:cNvSpPr>
            <a:spLocks noGrp="1"/>
          </p:cNvSpPr>
          <p:nvPr/>
        </p:nvSpPr>
        <p:spPr>
          <a:xfrm>
            <a:off x="9784080" y="3238500"/>
            <a:ext cx="2084832" cy="1476375"/>
          </a:xfrm>
          <a:prstGeom prst="roundRect">
            <a:avLst>
              <a:gd name="adj" fmla="val 645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01" name="成果文字_2">
            <a:extLst>
              <a:ext uri="{FF2B5EF4-FFF2-40B4-BE49-F238E27FC236}">
                <a16:creationId xmlns:a16="http://schemas.microsoft.com/office/drawing/2014/main" id="{48C9F03C-1808-4C3A-9488-5ACD488F4BF6}"/>
              </a:ext>
            </a:extLst>
          </p:cNvPr>
          <p:cNvSpPr>
            <a:spLocks noGrp="1"/>
          </p:cNvSpPr>
          <p:nvPr/>
        </p:nvSpPr>
        <p:spPr>
          <a:xfrm>
            <a:off x="9860280" y="3305175"/>
            <a:ext cx="1932432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航运能力与需求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</p:txBody>
      </p:sp>
      <p:sp>
        <p:nvSpPr>
          <p:cNvPr id="2002" name="成果文字_3">
            <a:extLst>
              <a:ext uri="{FF2B5EF4-FFF2-40B4-BE49-F238E27FC236}">
                <a16:creationId xmlns:a16="http://schemas.microsoft.com/office/drawing/2014/main" id="{F8FCBF3B-78E4-432E-B28C-A219AD8D744F}"/>
              </a:ext>
            </a:extLst>
          </p:cNvPr>
          <p:cNvSpPr>
            <a:spLocks noGrp="1"/>
          </p:cNvSpPr>
          <p:nvPr/>
        </p:nvSpPr>
        <p:spPr>
          <a:xfrm>
            <a:off x="9888855" y="3876675"/>
            <a:ext cx="1875282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耦合通航能力与需求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刻画排队与服务变化</a:t>
            </a:r>
          </a:p>
        </p:txBody>
      </p:sp>
      <p:sp>
        <p:nvSpPr>
          <p:cNvPr id="2003" name="核心成果_4">
            <a:extLst>
              <a:ext uri="{FF2B5EF4-FFF2-40B4-BE49-F238E27FC236}">
                <a16:creationId xmlns:a16="http://schemas.microsoft.com/office/drawing/2014/main" id="{78C430A2-25A0-416F-B47B-4C4AC4AF7E21}"/>
              </a:ext>
            </a:extLst>
          </p:cNvPr>
          <p:cNvSpPr>
            <a:spLocks noGrp="1"/>
          </p:cNvSpPr>
          <p:nvPr/>
        </p:nvSpPr>
        <p:spPr>
          <a:xfrm>
            <a:off x="9784080" y="8858250"/>
            <a:ext cx="2084832" cy="1476375"/>
          </a:xfrm>
          <a:prstGeom prst="roundRect">
            <a:avLst>
              <a:gd name="adj" fmla="val 6452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04" name="成果文字_5">
            <a:extLst>
              <a:ext uri="{FF2B5EF4-FFF2-40B4-BE49-F238E27FC236}">
                <a16:creationId xmlns:a16="http://schemas.microsoft.com/office/drawing/2014/main" id="{2C3827DE-3FC2-48D7-B6C5-E16CBCAB647C}"/>
              </a:ext>
            </a:extLst>
          </p:cNvPr>
          <p:cNvSpPr>
            <a:spLocks noGrp="1"/>
          </p:cNvSpPr>
          <p:nvPr/>
        </p:nvSpPr>
        <p:spPr>
          <a:xfrm>
            <a:off x="9860280" y="8924925"/>
            <a:ext cx="1932432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运输组织调整与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运行反馈模型</a:t>
            </a:r>
          </a:p>
        </p:txBody>
      </p:sp>
      <p:sp>
        <p:nvSpPr>
          <p:cNvPr id="2005" name="成果文字_6">
            <a:extLst>
              <a:ext uri="{FF2B5EF4-FFF2-40B4-BE49-F238E27FC236}">
                <a16:creationId xmlns:a16="http://schemas.microsoft.com/office/drawing/2014/main" id="{20B9B707-AD53-410A-B2B5-C8B7BFB9BC4F}"/>
              </a:ext>
            </a:extLst>
          </p:cNvPr>
          <p:cNvSpPr>
            <a:spLocks noGrp="1"/>
          </p:cNvSpPr>
          <p:nvPr/>
        </p:nvSpPr>
        <p:spPr>
          <a:xfrm>
            <a:off x="9888855" y="9496425"/>
            <a:ext cx="1875282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刻画航次与发运调整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反馈运力与到达变化</a:t>
            </a:r>
          </a:p>
        </p:txBody>
      </p:sp>
      <p:sp>
        <p:nvSpPr>
          <p:cNvPr id="2006" name="核心成果_7">
            <a:extLst>
              <a:ext uri="{FF2B5EF4-FFF2-40B4-BE49-F238E27FC236}">
                <a16:creationId xmlns:a16="http://schemas.microsoft.com/office/drawing/2014/main" id="{A983E9E4-5EDD-4B8B-B031-CD8012108B97}"/>
              </a:ext>
            </a:extLst>
          </p:cNvPr>
          <p:cNvSpPr>
            <a:spLocks noGrp="1"/>
          </p:cNvSpPr>
          <p:nvPr/>
        </p:nvSpPr>
        <p:spPr>
          <a:xfrm>
            <a:off x="9784080" y="14097000"/>
            <a:ext cx="2084832" cy="1666875"/>
          </a:xfrm>
          <a:prstGeom prst="roundRect">
            <a:avLst>
              <a:gd name="adj" fmla="val 5714"/>
            </a:avLst>
          </a:prstGeom>
          <a:solidFill>
            <a:srgbClr val="F0F6FC"/>
          </a:solidFill>
          <a:ln w="16193">
            <a:solidFill>
              <a:srgbClr val="2E75B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2007" name="成果文字_8">
            <a:extLst>
              <a:ext uri="{FF2B5EF4-FFF2-40B4-BE49-F238E27FC236}">
                <a16:creationId xmlns:a16="http://schemas.microsoft.com/office/drawing/2014/main" id="{DF01AA62-7073-428F-B1A5-F68010F5A262}"/>
              </a:ext>
            </a:extLst>
          </p:cNvPr>
          <p:cNvSpPr>
            <a:spLocks noGrp="1"/>
          </p:cNvSpPr>
          <p:nvPr/>
        </p:nvSpPr>
        <p:spPr>
          <a:xfrm>
            <a:off x="9860280" y="14163675"/>
            <a:ext cx="1932432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航运波动传播与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动态推演技术</a:t>
            </a:r>
          </a:p>
        </p:txBody>
      </p:sp>
      <p:sp>
        <p:nvSpPr>
          <p:cNvPr id="2008" name="成果文字_9">
            <a:extLst>
              <a:ext uri="{FF2B5EF4-FFF2-40B4-BE49-F238E27FC236}">
                <a16:creationId xmlns:a16="http://schemas.microsoft.com/office/drawing/2014/main" id="{409BC3CC-D6F4-4703-9DF7-CD938C43C973}"/>
              </a:ext>
            </a:extLst>
          </p:cNvPr>
          <p:cNvSpPr>
            <a:spLocks noGrp="1"/>
          </p:cNvSpPr>
          <p:nvPr/>
        </p:nvSpPr>
        <p:spPr>
          <a:xfrm>
            <a:off x="9888855" y="14735175"/>
            <a:ext cx="1875282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集成航运动态响应模型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推演波动传播与恢复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完成模型校准与验证</a:t>
            </a:r>
          </a:p>
        </p:txBody>
      </p:sp>
    </p:spTree>
    <p:extLst>
      <p:ext uri="{BB962C8B-B14F-4D97-AF65-F5344CB8AC3E}">
        <p14:creationId xmlns:p14="http://schemas.microsoft.com/office/powerpoint/2010/main" val="95280317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总标题"/>
          <p:cNvSpPr/>
          <p:nvPr/>
        </p:nvSpPr>
        <p:spPr>
          <a:xfrm xmlns:a="http://schemas.openxmlformats.org/drawingml/2006/main">
            <a:off x="635000" y="330200"/>
            <a:ext cx="107188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>
                <a:solidFill>
                  <a:srgbClr val="1F4E79"/>
                </a:solidFill>
                <a:latin typeface="微软雅黑"/>
                <a:ea typeface="微软雅黑"/>
              </a:rPr>
              <a:t>子课题3  技术路线图</a:t>
            </a:r>
          </a:p>
        </p:txBody>
      </p:sp>
      <p:sp>
        <p:nvSpPr>
          <p:cNvPr id="100001" name="研究题目"/>
          <p:cNvSpPr/>
          <p:nvPr/>
        </p:nvSpPr>
        <p:spPr>
          <a:xfrm xmlns:a="http://schemas.openxmlformats.org/drawingml/2006/main">
            <a:off x="635000" y="1041400"/>
            <a:ext cx="107188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rgbClr val="24445F"/>
                </a:solidFill>
                <a:latin typeface="微软雅黑"/>
                <a:ea typeface="微软雅黑"/>
              </a:rPr>
              <a:t>枢纽施工扰动下航运系统运输能力与需求波动响应研究</a:t>
            </a:r>
          </a:p>
        </p:txBody>
      </p:sp>
      <p:sp>
        <p:nvSpPr>
          <p:cNvPr id="100002" name="研究基础与数据支撑"/>
          <p:cNvSpPr/>
          <p:nvPr/>
        </p:nvSpPr>
        <p:spPr>
          <a:xfrm xmlns:a="http://schemas.openxmlformats.org/drawingml/2006/main">
            <a:off x="635000" y="1803400"/>
            <a:ext cx="10718800" cy="414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>
            <a:solidFill>
              <a:srgbClr val="C55A11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03" name="研究基础与数据支撑标题"/>
          <p:cNvSpPr/>
          <p:nvPr/>
        </p:nvSpPr>
        <p:spPr>
          <a:xfrm xmlns:a="http://schemas.openxmlformats.org/drawingml/2006/main">
            <a:off x="787400" y="1930400"/>
            <a:ext cx="104140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研究基础与数据支撑</a:t>
            </a:r>
          </a:p>
        </p:txBody>
      </p:sp>
      <p:sp>
        <p:nvSpPr>
          <p:cNvPr id="100004" name="子课题1输入"/>
          <p:cNvSpPr/>
          <p:nvPr/>
        </p:nvSpPr>
        <p:spPr>
          <a:xfrm xmlns:a="http://schemas.openxmlformats.org/drawingml/2006/main">
            <a:off x="965200" y="2667000"/>
            <a:ext cx="49530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55A11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05" name="子课题1输入标题"/>
          <p:cNvSpPr/>
          <p:nvPr/>
        </p:nvSpPr>
        <p:spPr>
          <a:xfrm xmlns:a="http://schemas.openxmlformats.org/drawingml/2006/main">
            <a:off x="1066800" y="2743200"/>
            <a:ext cx="4749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子课题1：系统特征与常态基准</a:t>
            </a:r>
          </a:p>
        </p:txBody>
      </p:sp>
      <p:sp>
        <p:nvSpPr>
          <p:cNvPr id="100006" name="子课题1输入正文"/>
          <p:cNvSpPr/>
          <p:nvPr/>
        </p:nvSpPr>
        <p:spPr>
          <a:xfrm xmlns:a="http://schemas.openxmlformats.org/drawingml/2006/main">
            <a:off x="1066800" y="3213100"/>
            <a:ext cx="474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港航网络、重点货类与流向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常态运行特征、基准运输需求</a:t>
            </a:r>
          </a:p>
        </p:txBody>
      </p:sp>
      <p:sp>
        <p:nvSpPr>
          <p:cNvPr id="100007" name="子课题2输入"/>
          <p:cNvSpPr/>
          <p:nvPr/>
        </p:nvSpPr>
        <p:spPr>
          <a:xfrm xmlns:a="http://schemas.openxmlformats.org/drawingml/2006/main">
            <a:off x="6146800" y="2667000"/>
            <a:ext cx="4876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55A11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08" name="子课题2输入标题"/>
          <p:cNvSpPr/>
          <p:nvPr/>
        </p:nvSpPr>
        <p:spPr>
          <a:xfrm xmlns:a="http://schemas.openxmlformats.org/drawingml/2006/main">
            <a:off x="6248400" y="2743200"/>
            <a:ext cx="46736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子课题2：扰动参数与作用机理</a:t>
            </a:r>
          </a:p>
        </p:txBody>
      </p:sp>
      <p:sp>
        <p:nvSpPr>
          <p:cNvPr id="100009" name="子课题2输入正文"/>
          <p:cNvSpPr/>
          <p:nvPr/>
        </p:nvSpPr>
        <p:spPr>
          <a:xfrm xmlns:a="http://schemas.openxmlformats.org/drawingml/2006/main">
            <a:off x="6248400" y="3213100"/>
            <a:ext cx="467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施工阶段、停限航及放行规则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通航尺度、能力约束、反馈路径</a:t>
            </a:r>
          </a:p>
        </p:txBody>
      </p:sp>
      <p:sp>
        <p:nvSpPr>
          <p:cNvPr id="100010" name="运行数据"/>
          <p:cNvSpPr/>
          <p:nvPr/>
        </p:nvSpPr>
        <p:spPr>
          <a:xfrm xmlns:a="http://schemas.openxmlformats.org/drawingml/2006/main">
            <a:off x="965200" y="4267200"/>
            <a:ext cx="49530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55A11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1" name="运行数据标题"/>
          <p:cNvSpPr/>
          <p:nvPr/>
        </p:nvSpPr>
        <p:spPr>
          <a:xfrm xmlns:a="http://schemas.openxmlformats.org/drawingml/2006/main">
            <a:off x="1066800" y="4343400"/>
            <a:ext cx="4749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航运运行与物流数据</a:t>
            </a:r>
          </a:p>
        </p:txBody>
      </p:sp>
      <p:sp>
        <p:nvSpPr>
          <p:cNvPr id="100012" name="运行数据正文"/>
          <p:cNvSpPr/>
          <p:nvPr/>
        </p:nvSpPr>
        <p:spPr>
          <a:xfrm xmlns:a="http://schemas.openxmlformats.org/drawingml/2006/main">
            <a:off x="1066800" y="4813300"/>
            <a:ext cx="4749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AIS、过闸、到达与排队、船型载重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港口作业、物流时间与费用记录</a:t>
            </a:r>
          </a:p>
        </p:txBody>
      </p:sp>
      <p:sp>
        <p:nvSpPr>
          <p:cNvPr id="100013" name="锚地与检验数据"/>
          <p:cNvSpPr/>
          <p:nvPr/>
        </p:nvSpPr>
        <p:spPr>
          <a:xfrm xmlns:a="http://schemas.openxmlformats.org/drawingml/2006/main">
            <a:off x="6146800" y="4267200"/>
            <a:ext cx="4876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55A11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4" name="锚地与检验数据标题"/>
          <p:cNvSpPr/>
          <p:nvPr/>
        </p:nvSpPr>
        <p:spPr>
          <a:xfrm xmlns:a="http://schemas.openxmlformats.org/drawingml/2006/main">
            <a:off x="6248400" y="4343400"/>
            <a:ext cx="46736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55A11"/>
                </a:solidFill>
                <a:latin typeface="微软雅黑"/>
                <a:ea typeface="微软雅黑"/>
              </a:rPr>
              <a:t>锚地、组织调整与事件数据</a:t>
            </a:r>
          </a:p>
        </p:txBody>
      </p:sp>
      <p:sp>
        <p:nvSpPr>
          <p:cNvPr id="100015" name="锚地与检验数据正文"/>
          <p:cNvSpPr/>
          <p:nvPr/>
        </p:nvSpPr>
        <p:spPr>
          <a:xfrm xmlns:a="http://schemas.openxmlformats.org/drawingml/2006/main">
            <a:off x="6248400" y="4813300"/>
            <a:ext cx="467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锚地位置容量、占用及进出记录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发运调整、典型与独立扰动事件</a:t>
            </a:r>
          </a:p>
        </p:txBody>
      </p:sp>
      <p:sp>
        <p:nvSpPr>
          <p:cNvPr id="100016" name="数据进入模型"/>
          <p:cNvSpPr/>
          <p:nvPr/>
        </p:nvSpPr>
        <p:spPr>
          <a:xfrm xmlns:a="http://schemas.openxmlformats.org/drawingml/2006/main">
            <a:off x="5867400" y="6019800"/>
            <a:ext cx="3810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37A9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7" name="研究一"/>
          <p:cNvSpPr/>
          <p:nvPr/>
        </p:nvSpPr>
        <p:spPr>
          <a:xfrm xmlns:a="http://schemas.openxmlformats.org/drawingml/2006/main">
            <a:off x="635000" y="6451600"/>
            <a:ext cx="10718800" cy="386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6FC"/>
          </a:solidFill>
          <a:ln xmlns:a="http://schemas.openxmlformats.org/drawingml/2006/main">
            <a:solidFill>
              <a:srgbClr val="2E75B6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18" name="研究一标题"/>
          <p:cNvSpPr/>
          <p:nvPr/>
        </p:nvSpPr>
        <p:spPr>
          <a:xfrm xmlns:a="http://schemas.openxmlformats.org/drawingml/2006/main">
            <a:off x="787400" y="6578600"/>
            <a:ext cx="104140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① 施工约束下运输能力与排队—锚地耦合响应</a:t>
            </a:r>
          </a:p>
        </p:txBody>
      </p:sp>
      <p:sp>
        <p:nvSpPr>
          <p:cNvPr id="100019" name="通过能力"/>
          <p:cNvSpPr/>
          <p:nvPr/>
        </p:nvSpPr>
        <p:spPr>
          <a:xfrm xmlns:a="http://schemas.openxmlformats.org/drawingml/2006/main">
            <a:off x="965200" y="7340600"/>
            <a:ext cx="3175000" cy="167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2E75B6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20" name="通过能力标题"/>
          <p:cNvSpPr/>
          <p:nvPr/>
        </p:nvSpPr>
        <p:spPr>
          <a:xfrm xmlns:a="http://schemas.openxmlformats.org/drawingml/2006/main">
            <a:off x="1066800" y="7416800"/>
            <a:ext cx="2971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E75B6"/>
                </a:solidFill>
                <a:latin typeface="微软雅黑"/>
                <a:ea typeface="微软雅黑"/>
              </a:rPr>
              <a:t>多通道有效运输能力</a:t>
            </a:r>
          </a:p>
        </p:txBody>
      </p:sp>
      <p:sp>
        <p:nvSpPr>
          <p:cNvPr id="100021" name="通过能力正文"/>
          <p:cNvSpPr/>
          <p:nvPr/>
        </p:nvSpPr>
        <p:spPr>
          <a:xfrm xmlns:a="http://schemas.openxmlformats.org/drawingml/2006/main">
            <a:off x="1066800" y="7886700"/>
            <a:ext cx="29718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通航约束与船型载重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过闸组织与通道替代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船舶数与货运量换算</a:t>
            </a:r>
          </a:p>
        </p:txBody>
      </p:sp>
      <p:sp>
        <p:nvSpPr>
          <p:cNvPr id="100022" name="排队锚地"/>
          <p:cNvSpPr/>
          <p:nvPr/>
        </p:nvSpPr>
        <p:spPr>
          <a:xfrm xmlns:a="http://schemas.openxmlformats.org/drawingml/2006/main">
            <a:off x="4419600" y="7340600"/>
            <a:ext cx="3175000" cy="167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2E75B6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23" name="排队锚地标题"/>
          <p:cNvSpPr/>
          <p:nvPr/>
        </p:nvSpPr>
        <p:spPr>
          <a:xfrm xmlns:a="http://schemas.openxmlformats.org/drawingml/2006/main">
            <a:off x="4521200" y="7416800"/>
            <a:ext cx="2971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E75B6"/>
                </a:solidFill>
                <a:latin typeface="微软雅黑"/>
                <a:ea typeface="微软雅黑"/>
              </a:rPr>
              <a:t>排队与锚地耦合</a:t>
            </a:r>
          </a:p>
        </p:txBody>
      </p:sp>
      <p:sp>
        <p:nvSpPr>
          <p:cNvPr id="100024" name="排队锚地正文"/>
          <p:cNvSpPr/>
          <p:nvPr/>
        </p:nvSpPr>
        <p:spPr>
          <a:xfrm xmlns:a="http://schemas.openxmlformats.org/drawingml/2006/main">
            <a:off x="4521200" y="7886700"/>
            <a:ext cx="29718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到达—待泊—过闸过程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锚地布置与容量约束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分货类等待及占用</a:t>
            </a:r>
          </a:p>
        </p:txBody>
      </p:sp>
      <p:sp>
        <p:nvSpPr>
          <p:cNvPr id="100025" name="运力折减"/>
          <p:cNvSpPr/>
          <p:nvPr/>
        </p:nvSpPr>
        <p:spPr>
          <a:xfrm xmlns:a="http://schemas.openxmlformats.org/drawingml/2006/main">
            <a:off x="7874000" y="7340600"/>
            <a:ext cx="3149600" cy="1676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2E75B6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26" name="运力折减标题"/>
          <p:cNvSpPr/>
          <p:nvPr/>
        </p:nvSpPr>
        <p:spPr>
          <a:xfrm xmlns:a="http://schemas.openxmlformats.org/drawingml/2006/main">
            <a:off x="7975600" y="7416800"/>
            <a:ext cx="29464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E75B6"/>
                </a:solidFill>
                <a:latin typeface="微软雅黑"/>
                <a:ea typeface="微软雅黑"/>
              </a:rPr>
              <a:t>周转与可用运力</a:t>
            </a:r>
          </a:p>
        </p:txBody>
      </p:sp>
      <p:sp>
        <p:nvSpPr>
          <p:cNvPr id="100027" name="运力折减正文"/>
          <p:cNvSpPr/>
          <p:nvPr/>
        </p:nvSpPr>
        <p:spPr>
          <a:xfrm xmlns:a="http://schemas.openxmlformats.org/drawingml/2006/main">
            <a:off x="7975600" y="7886700"/>
            <a:ext cx="29464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待闸与进出锚地耗时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船舶周转与港航衔接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运力折减及运行反馈</a:t>
            </a:r>
          </a:p>
        </p:txBody>
      </p:sp>
      <p:sp>
        <p:nvSpPr>
          <p:cNvPr id="100028" name="模型一"/>
          <p:cNvSpPr/>
          <p:nvPr/>
        </p:nvSpPr>
        <p:spPr>
          <a:xfrm xmlns:a="http://schemas.openxmlformats.org/drawingml/2006/main">
            <a:off x="965200" y="9321800"/>
            <a:ext cx="100584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1F4E79"/>
                </a:solidFill>
                <a:latin typeface="微软雅黑"/>
                <a:ea typeface="微软雅黑"/>
              </a:rPr>
              <a:t>运输能力与排队—锚地耦合模型：能力约束 → 排队与占用 → 周转及运力</a:t>
            </a:r>
          </a:p>
        </p:txBody>
      </p:sp>
      <p:sp>
        <p:nvSpPr>
          <p:cNvPr id="100029" name="运行进入成本"/>
          <p:cNvSpPr/>
          <p:nvPr/>
        </p:nvSpPr>
        <p:spPr>
          <a:xfrm xmlns:a="http://schemas.openxmlformats.org/drawingml/2006/main">
            <a:off x="5867400" y="10388600"/>
            <a:ext cx="3810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37A9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0" name="研究二"/>
          <p:cNvSpPr/>
          <p:nvPr/>
        </p:nvSpPr>
        <p:spPr>
          <a:xfrm xmlns:a="http://schemas.openxmlformats.org/drawingml/2006/main">
            <a:off x="635000" y="10820400"/>
            <a:ext cx="10718800" cy="345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8F3"/>
          </a:solidFill>
          <a:ln xmlns:a="http://schemas.openxmlformats.org/drawingml/2006/main">
            <a:solidFill>
              <a:srgbClr val="238653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1" name="研究二标题"/>
          <p:cNvSpPr/>
          <p:nvPr/>
        </p:nvSpPr>
        <p:spPr>
          <a:xfrm xmlns:a="http://schemas.openxmlformats.org/drawingml/2006/main">
            <a:off x="787400" y="10947400"/>
            <a:ext cx="104140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86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② 排队延误下航运物流时间与成本响应</a:t>
            </a:r>
          </a:p>
        </p:txBody>
      </p:sp>
      <p:sp>
        <p:nvSpPr>
          <p:cNvPr id="100032" name="全程时间"/>
          <p:cNvSpPr/>
          <p:nvPr/>
        </p:nvSpPr>
        <p:spPr>
          <a:xfrm xmlns:a="http://schemas.openxmlformats.org/drawingml/2006/main">
            <a:off x="965200" y="11709400"/>
            <a:ext cx="4953000" cy="149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238653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3" name="全程时间标题"/>
          <p:cNvSpPr/>
          <p:nvPr/>
        </p:nvSpPr>
        <p:spPr>
          <a:xfrm xmlns:a="http://schemas.openxmlformats.org/drawingml/2006/main">
            <a:off x="1066800" y="11785600"/>
            <a:ext cx="4749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38653"/>
                </a:solidFill>
                <a:latin typeface="微软雅黑"/>
                <a:ea typeface="微软雅黑"/>
              </a:rPr>
              <a:t>物流全过程时间</a:t>
            </a:r>
          </a:p>
        </p:txBody>
      </p:sp>
      <p:sp>
        <p:nvSpPr>
          <p:cNvPr id="100034" name="全程时间正文"/>
          <p:cNvSpPr/>
          <p:nvPr/>
        </p:nvSpPr>
        <p:spPr>
          <a:xfrm xmlns:a="http://schemas.openxmlformats.org/drawingml/2006/main">
            <a:off x="1066800" y="12255500"/>
            <a:ext cx="474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航行、待闸、锚泊、装卸与衔接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465765"/>
                </a:solidFill>
                <a:latin typeface="微软雅黑"/>
                <a:ea typeface="微软雅黑"/>
              </a:rPr>
              <a:t>分货类物流时长、到货延迟与可靠性</a:t>
            </a:r>
          </a:p>
        </p:txBody>
      </p:sp>
      <p:sp>
        <p:nvSpPr>
          <p:cNvPr id="100035" name="全程成本"/>
          <p:cNvSpPr/>
          <p:nvPr/>
        </p:nvSpPr>
        <p:spPr>
          <a:xfrm xmlns:a="http://schemas.openxmlformats.org/drawingml/2006/main">
            <a:off x="6146800" y="11709400"/>
            <a:ext cx="4876800" cy="149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238653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36" name="全程成本标题"/>
          <p:cNvSpPr/>
          <p:nvPr/>
        </p:nvSpPr>
        <p:spPr>
          <a:xfrm xmlns:a="http://schemas.openxmlformats.org/drawingml/2006/main">
            <a:off x="6248400" y="11785600"/>
            <a:ext cx="46736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238653"/>
                </a:solidFill>
                <a:latin typeface="微软雅黑"/>
                <a:ea typeface="微软雅黑"/>
              </a:rPr>
              <a:t>物流费用与广义成本</a:t>
            </a:r>
          </a:p>
        </p:txBody>
      </p:sp>
      <p:sp>
        <p:nvSpPr>
          <p:cNvPr id="100037" name="全程成本正文"/>
          <p:cNvSpPr/>
          <p:nvPr/>
        </p:nvSpPr>
        <p:spPr>
          <a:xfrm xmlns:a="http://schemas.openxmlformats.org/drawingml/2006/main">
            <a:off x="6248400" y="12255500"/>
            <a:ext cx="467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航行、等待、锚泊、装卸及转运费用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直接费用与货物时间价值分别核算</a:t>
            </a:r>
          </a:p>
        </p:txBody>
      </p:sp>
      <p:sp>
        <p:nvSpPr>
          <p:cNvPr id="100038" name="模型二"/>
          <p:cNvSpPr/>
          <p:nvPr/>
        </p:nvSpPr>
        <p:spPr>
          <a:xfrm xmlns:a="http://schemas.openxmlformats.org/drawingml/2006/main">
            <a:off x="965200" y="13411200"/>
            <a:ext cx="100584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EFE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643F"/>
                </a:solidFill>
                <a:latin typeface="微软雅黑"/>
                <a:ea typeface="微软雅黑"/>
              </a:rPr>
              <a:t>物流时间与成本响应模型：运输负荷／有效能力 → 延误与成本阻抗</a:t>
            </a:r>
          </a:p>
        </p:txBody>
      </p:sp>
      <p:sp>
        <p:nvSpPr>
          <p:cNvPr id="100039" name="成本进入需求"/>
          <p:cNvSpPr/>
          <p:nvPr/>
        </p:nvSpPr>
        <p:spPr>
          <a:xfrm xmlns:a="http://schemas.openxmlformats.org/drawingml/2006/main">
            <a:off x="5867400" y="14351000"/>
            <a:ext cx="3810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386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0" name="研究三"/>
          <p:cNvSpPr/>
          <p:nvPr/>
        </p:nvSpPr>
        <p:spPr>
          <a:xfrm xmlns:a="http://schemas.openxmlformats.org/drawingml/2006/main">
            <a:off x="635000" y="14782800"/>
            <a:ext cx="10718800" cy="414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AE9"/>
          </a:solidFill>
          <a:ln xmlns:a="http://schemas.openxmlformats.org/drawingml/2006/main">
            <a:solidFill>
              <a:srgbClr val="BB8C00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1" name="研究三标题"/>
          <p:cNvSpPr/>
          <p:nvPr/>
        </p:nvSpPr>
        <p:spPr>
          <a:xfrm xmlns:a="http://schemas.openxmlformats.org/drawingml/2006/main">
            <a:off x="787400" y="14909800"/>
            <a:ext cx="104140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B8C0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③ 需求反馈与运输能力—需求互动耦合推演</a:t>
            </a:r>
          </a:p>
        </p:txBody>
      </p:sp>
      <p:sp>
        <p:nvSpPr>
          <p:cNvPr id="100042" name="需求反馈"/>
          <p:cNvSpPr/>
          <p:nvPr/>
        </p:nvSpPr>
        <p:spPr>
          <a:xfrm xmlns:a="http://schemas.openxmlformats.org/drawingml/2006/main">
            <a:off x="965200" y="15671800"/>
            <a:ext cx="4953000" cy="147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A77C00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3" name="需求反馈标题"/>
          <p:cNvSpPr/>
          <p:nvPr/>
        </p:nvSpPr>
        <p:spPr>
          <a:xfrm xmlns:a="http://schemas.openxmlformats.org/drawingml/2006/main">
            <a:off x="1066800" y="15748000"/>
            <a:ext cx="4749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A77C00"/>
                </a:solidFill>
                <a:latin typeface="微软雅黑"/>
                <a:ea typeface="微软雅黑"/>
              </a:rPr>
              <a:t>时间与成本驱动的需求调整</a:t>
            </a:r>
          </a:p>
        </p:txBody>
      </p:sp>
      <p:sp>
        <p:nvSpPr>
          <p:cNvPr id="100044" name="需求反馈正文"/>
          <p:cNvSpPr/>
          <p:nvPr/>
        </p:nvSpPr>
        <p:spPr>
          <a:xfrm xmlns:a="http://schemas.openxmlformats.org/drawingml/2006/main">
            <a:off x="1066800" y="16217900"/>
            <a:ext cx="47498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提前／延后发运、通道转移与折减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子课题4反馈跨方式选择及需求更新</a:t>
            </a:r>
          </a:p>
        </p:txBody>
      </p:sp>
      <p:sp>
        <p:nvSpPr>
          <p:cNvPr id="100045" name="情景设置"/>
          <p:cNvSpPr/>
          <p:nvPr/>
        </p:nvSpPr>
        <p:spPr>
          <a:xfrm xmlns:a="http://schemas.openxmlformats.org/drawingml/2006/main">
            <a:off x="6146800" y="15671800"/>
            <a:ext cx="4876800" cy="147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A77C00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46" name="情景设置标题"/>
          <p:cNvSpPr/>
          <p:nvPr/>
        </p:nvSpPr>
        <p:spPr>
          <a:xfrm xmlns:a="http://schemas.openxmlformats.org/drawingml/2006/main">
            <a:off x="6248400" y="15748000"/>
            <a:ext cx="46736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A77C00"/>
                </a:solidFill>
                <a:latin typeface="微软雅黑"/>
                <a:ea typeface="微软雅黑"/>
              </a:rPr>
              <a:t>多扰动情景设置</a:t>
            </a:r>
          </a:p>
        </p:txBody>
      </p:sp>
      <p:sp>
        <p:nvSpPr>
          <p:cNvPr id="100047" name="情景设置正文"/>
          <p:cNvSpPr/>
          <p:nvPr/>
        </p:nvSpPr>
        <p:spPr>
          <a:xfrm xmlns:a="http://schemas.openxmlformats.org/drawingml/2006/main">
            <a:off x="6248400" y="16217900"/>
            <a:ext cx="46736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施工强度与持续时间、初始需求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通道可用条件、锚地配置及组织规则</a:t>
            </a:r>
          </a:p>
        </p:txBody>
      </p:sp>
      <p:sp>
        <p:nvSpPr>
          <p:cNvPr id="100048" name="模型三"/>
          <p:cNvSpPr/>
          <p:nvPr/>
        </p:nvSpPr>
        <p:spPr>
          <a:xfrm xmlns:a="http://schemas.openxmlformats.org/drawingml/2006/main">
            <a:off x="965200" y="17399000"/>
            <a:ext cx="100584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0B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765C00"/>
                </a:solidFill>
                <a:latin typeface="微软雅黑"/>
                <a:ea typeface="微软雅黑"/>
              </a:rPr>
              <a:t>能力—需求互动耦合模型：能力 → 排队 → 时间与成本 → 需求 → 到达流</a:t>
            </a:r>
          </a:p>
        </p:txBody>
      </p:sp>
      <p:sp>
        <p:nvSpPr>
          <p:cNvPr id="100049" name="校准检验"/>
          <p:cNvSpPr/>
          <p:nvPr/>
        </p:nvSpPr>
        <p:spPr>
          <a:xfrm xmlns:a="http://schemas.openxmlformats.org/drawingml/2006/main">
            <a:off x="965200" y="18161000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>
                <a:solidFill>
                  <a:srgbClr val="765C00"/>
                </a:solidFill>
                <a:latin typeface="微软雅黑"/>
                <a:ea typeface="微软雅黑"/>
              </a:rPr>
              <a:t>典型事件校准 → 独立事件检验 → 情景对比与积压消散、服务恢复推演</a:t>
            </a:r>
          </a:p>
        </p:txBody>
      </p:sp>
      <p:cxnSp>
        <p:nvCxnSpPr>
          <p:cNvPr id="100050" name="反馈出线"/>
          <p:cNvCxnSpPr/>
          <p:nvPr/>
        </p:nvCxnSpPr>
        <p:spPr>
          <a:xfrm xmlns:a="http://schemas.openxmlformats.org/drawingml/2006/main">
            <a:off x="11023600" y="17703800"/>
            <a:ext cx="660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18653"/>
            </a:solidFill>
            <a:tailEnd type="none"/>
          </a:ln>
        </p:spPr>
      </p:cxnSp>
      <p:cxnSp>
        <p:nvCxnSpPr>
          <p:cNvPr id="100051" name="反馈回路"/>
          <p:cNvCxnSpPr/>
          <p:nvPr/>
        </p:nvCxnSpPr>
        <p:spPr>
          <a:xfrm xmlns:a="http://schemas.openxmlformats.org/drawingml/2006/main">
            <a:off x="11684000" y="9677400"/>
            <a:ext cx="0" cy="80264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18653"/>
            </a:solidFill>
            <a:tailEnd type="none"/>
          </a:ln>
        </p:spPr>
      </p:cxnSp>
      <p:cxnSp>
        <p:nvCxnSpPr>
          <p:cNvPr id="100052" name="反馈入线"/>
          <p:cNvCxnSpPr/>
          <p:nvPr/>
        </p:nvCxnSpPr>
        <p:spPr>
          <a:xfrm xmlns:a="http://schemas.openxmlformats.org/drawingml/2006/main">
            <a:off x="11023600" y="9677400"/>
            <a:ext cx="660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218653"/>
            </a:solidFill>
            <a:tailEnd type="none"/>
          </a:ln>
        </p:spPr>
      </p:cxnSp>
      <p:sp>
        <p:nvSpPr>
          <p:cNvPr id="100053" name="反馈左箭头"/>
          <p:cNvSpPr/>
          <p:nvPr/>
        </p:nvSpPr>
        <p:spPr>
          <a:xfrm xmlns:a="http://schemas.openxmlformats.org/drawingml/2006/main">
            <a:off x="10972800" y="9563100"/>
            <a:ext cx="3048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4" name="反馈说明"/>
          <p:cNvSpPr/>
          <p:nvPr/>
        </p:nvSpPr>
        <p:spPr>
          <a:xfrm xmlns:a="http://schemas.openxmlformats.org/drawingml/2006/main">
            <a:off x="11442700" y="11861800"/>
            <a:ext cx="482600" cy="4165600"/>
          </a:xfrm>
          <a:prstGeom xmlns:a="http://schemas.openxmlformats.org/drawingml/2006/main" prst="rect">
            <a:avLst/>
          </a:prstGeom>
          <a:solidFill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需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求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与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到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达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流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反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>
                <a:solidFill>
                  <a:srgbClr val="218653"/>
                </a:solidFill>
                <a:latin typeface="微软雅黑"/>
                <a:ea typeface="微软雅黑"/>
              </a:rPr>
              <a:t>馈</a:t>
            </a:r>
          </a:p>
        </p:txBody>
      </p:sp>
      <p:sp>
        <p:nvSpPr>
          <p:cNvPr id="100055" name="模型输出箭头"/>
          <p:cNvSpPr/>
          <p:nvPr/>
        </p:nvSpPr>
        <p:spPr>
          <a:xfrm xmlns:a="http://schemas.openxmlformats.org/drawingml/2006/main">
            <a:off x="5867400" y="18999200"/>
            <a:ext cx="3810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B8C00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6" name="模型输出"/>
          <p:cNvSpPr/>
          <p:nvPr/>
        </p:nvSpPr>
        <p:spPr>
          <a:xfrm xmlns:a="http://schemas.openxmlformats.org/drawingml/2006/main">
            <a:off x="635000" y="19431000"/>
            <a:ext cx="10718800" cy="4978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6FC"/>
          </a:solidFill>
          <a:ln xmlns:a="http://schemas.openxmlformats.org/drawingml/2006/main">
            <a:solidFill>
              <a:srgbClr val="1F4E79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7" name="模型输出标题"/>
          <p:cNvSpPr/>
          <p:nvPr/>
        </p:nvSpPr>
        <p:spPr>
          <a:xfrm xmlns:a="http://schemas.openxmlformats.org/drawingml/2006/main">
            <a:off x="787400" y="19558000"/>
            <a:ext cx="10414000" cy="55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模型输出｜不同扰动情景下的航运响应量化结果</a:t>
            </a:r>
          </a:p>
        </p:txBody>
      </p:sp>
      <p:sp>
        <p:nvSpPr>
          <p:cNvPr id="100058" name="输出能力"/>
          <p:cNvSpPr/>
          <p:nvPr/>
        </p:nvSpPr>
        <p:spPr>
          <a:xfrm xmlns:a="http://schemas.openxmlformats.org/drawingml/2006/main">
            <a:off x="965200" y="20320000"/>
            <a:ext cx="31750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F4E79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59" name="输出能力标题"/>
          <p:cNvSpPr/>
          <p:nvPr/>
        </p:nvSpPr>
        <p:spPr>
          <a:xfrm xmlns:a="http://schemas.openxmlformats.org/drawingml/2006/main">
            <a:off x="1066800" y="20396200"/>
            <a:ext cx="2971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通过能力与实际通过量</a:t>
            </a:r>
          </a:p>
        </p:txBody>
      </p:sp>
      <p:sp>
        <p:nvSpPr>
          <p:cNvPr id="100060" name="输出能力正文"/>
          <p:cNvSpPr/>
          <p:nvPr/>
        </p:nvSpPr>
        <p:spPr>
          <a:xfrm xmlns:a="http://schemas.openxmlformats.org/drawingml/2006/main">
            <a:off x="1066800" y="20866100"/>
            <a:ext cx="2971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有效能力、实际船舶数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货运量及其变化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（艘/日、吨/日）</a:t>
            </a:r>
          </a:p>
        </p:txBody>
      </p:sp>
      <p:sp>
        <p:nvSpPr>
          <p:cNvPr id="100061" name="输出排队"/>
          <p:cNvSpPr/>
          <p:nvPr/>
        </p:nvSpPr>
        <p:spPr>
          <a:xfrm xmlns:a="http://schemas.openxmlformats.org/drawingml/2006/main">
            <a:off x="4419600" y="20320000"/>
            <a:ext cx="31750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F4E79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62" name="输出排队标题"/>
          <p:cNvSpPr/>
          <p:nvPr/>
        </p:nvSpPr>
        <p:spPr>
          <a:xfrm xmlns:a="http://schemas.openxmlformats.org/drawingml/2006/main">
            <a:off x="4521200" y="20396200"/>
            <a:ext cx="2971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排队规模与等待时间</a:t>
            </a:r>
          </a:p>
        </p:txBody>
      </p:sp>
      <p:sp>
        <p:nvSpPr>
          <p:cNvPr id="100063" name="输出排队正文"/>
          <p:cNvSpPr/>
          <p:nvPr/>
        </p:nvSpPr>
        <p:spPr>
          <a:xfrm xmlns:a="http://schemas.openxmlformats.org/drawingml/2006/main">
            <a:off x="4521200" y="20866100"/>
            <a:ext cx="2971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排队船舶数量及变化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平均／高分位等待时间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分货类等待影响</a:t>
            </a:r>
          </a:p>
        </p:txBody>
      </p:sp>
      <p:sp>
        <p:nvSpPr>
          <p:cNvPr id="100064" name="输出物流"/>
          <p:cNvSpPr/>
          <p:nvPr/>
        </p:nvSpPr>
        <p:spPr>
          <a:xfrm xmlns:a="http://schemas.openxmlformats.org/drawingml/2006/main">
            <a:off x="7874000" y="20320000"/>
            <a:ext cx="31496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F4E79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65" name="输出物流标题"/>
          <p:cNvSpPr/>
          <p:nvPr/>
        </p:nvSpPr>
        <p:spPr>
          <a:xfrm xmlns:a="http://schemas.openxmlformats.org/drawingml/2006/main">
            <a:off x="7975600" y="20396200"/>
            <a:ext cx="29464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物流时间与成本</a:t>
            </a:r>
          </a:p>
        </p:txBody>
      </p:sp>
      <p:sp>
        <p:nvSpPr>
          <p:cNvPr id="100066" name="输出物流正文"/>
          <p:cNvSpPr/>
          <p:nvPr/>
        </p:nvSpPr>
        <p:spPr>
          <a:xfrm xmlns:a="http://schemas.openxmlformats.org/drawingml/2006/main">
            <a:off x="7975600" y="20866100"/>
            <a:ext cx="29464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物流总时长、到货延迟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单位及总成本增幅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直接费用与广义成本</a:t>
            </a:r>
          </a:p>
        </p:txBody>
      </p:sp>
      <p:sp>
        <p:nvSpPr>
          <p:cNvPr id="100067" name="输出运力需求"/>
          <p:cNvSpPr/>
          <p:nvPr/>
        </p:nvSpPr>
        <p:spPr>
          <a:xfrm xmlns:a="http://schemas.openxmlformats.org/drawingml/2006/main">
            <a:off x="965200" y="22047200"/>
            <a:ext cx="31750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F4E79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68" name="输出运力需求标题"/>
          <p:cNvSpPr/>
          <p:nvPr/>
        </p:nvSpPr>
        <p:spPr>
          <a:xfrm xmlns:a="http://schemas.openxmlformats.org/drawingml/2006/main">
            <a:off x="1066800" y="22123400"/>
            <a:ext cx="2971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运力与运输需求变化</a:t>
            </a:r>
          </a:p>
        </p:txBody>
      </p:sp>
      <p:sp>
        <p:nvSpPr>
          <p:cNvPr id="100069" name="输出运力需求正文"/>
          <p:cNvSpPr/>
          <p:nvPr/>
        </p:nvSpPr>
        <p:spPr>
          <a:xfrm xmlns:a="http://schemas.openxmlformats.org/drawingml/2006/main">
            <a:off x="1066800" y="22593300"/>
            <a:ext cx="2971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可用运力及折减率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需求折减、延后与转移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积压及未满足需求</a:t>
            </a:r>
          </a:p>
        </p:txBody>
      </p:sp>
      <p:sp>
        <p:nvSpPr>
          <p:cNvPr id="100070" name="输出锚地"/>
          <p:cNvSpPr/>
          <p:nvPr/>
        </p:nvSpPr>
        <p:spPr>
          <a:xfrm xmlns:a="http://schemas.openxmlformats.org/drawingml/2006/main">
            <a:off x="4419600" y="22047200"/>
            <a:ext cx="31750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F4E79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71" name="输出锚地标题"/>
          <p:cNvSpPr/>
          <p:nvPr/>
        </p:nvSpPr>
        <p:spPr>
          <a:xfrm xmlns:a="http://schemas.openxmlformats.org/drawingml/2006/main">
            <a:off x="4521200" y="22123400"/>
            <a:ext cx="29718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锚地利用与布置影响</a:t>
            </a:r>
          </a:p>
        </p:txBody>
      </p:sp>
      <p:sp>
        <p:nvSpPr>
          <p:cNvPr id="100072" name="输出锚地正文"/>
          <p:cNvSpPr/>
          <p:nvPr/>
        </p:nvSpPr>
        <p:spPr>
          <a:xfrm xmlns:a="http://schemas.openxmlformats.org/drawingml/2006/main">
            <a:off x="4521200" y="22593300"/>
            <a:ext cx="29718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占用量、利用率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超容量待泊规模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不同锚地配置响应</a:t>
            </a:r>
          </a:p>
        </p:txBody>
      </p:sp>
      <p:sp>
        <p:nvSpPr>
          <p:cNvPr id="100073" name="输出恢复"/>
          <p:cNvSpPr/>
          <p:nvPr/>
        </p:nvSpPr>
        <p:spPr>
          <a:xfrm xmlns:a="http://schemas.openxmlformats.org/drawingml/2006/main">
            <a:off x="7874000" y="22047200"/>
            <a:ext cx="3149600" cy="15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1F4E79"/>
            </a:solidFill>
          </a:ln>
        </p:spPr>
        <p:txBody>
          <a:bodyPr xmlns:a="http://schemas.openxmlformats.org/drawingml/2006/main" lIns="101600" tIns="101600" rIns="101600" bIns="1016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>
              <a:solidFill>
                <a:srgbClr val="24445F"/>
              </a:solidFill>
              <a:latin typeface="微软雅黑"/>
              <a:ea typeface="微软雅黑"/>
            </a:endParaRPr>
          </a:p>
        </p:txBody>
      </p:sp>
      <p:sp>
        <p:nvSpPr>
          <p:cNvPr id="100074" name="输出恢复标题"/>
          <p:cNvSpPr/>
          <p:nvPr/>
        </p:nvSpPr>
        <p:spPr>
          <a:xfrm xmlns:a="http://schemas.openxmlformats.org/drawingml/2006/main">
            <a:off x="7975600" y="22123400"/>
            <a:ext cx="29464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1F4E79"/>
                </a:solidFill>
                <a:latin typeface="微软雅黑"/>
                <a:ea typeface="微软雅黑"/>
              </a:rPr>
              <a:t>服务可靠性与恢复</a:t>
            </a:r>
          </a:p>
        </p:txBody>
      </p:sp>
      <p:sp>
        <p:nvSpPr>
          <p:cNvPr id="100075" name="输出恢复正文"/>
          <p:cNvSpPr/>
          <p:nvPr/>
        </p:nvSpPr>
        <p:spPr>
          <a:xfrm xmlns:a="http://schemas.openxmlformats.org/drawingml/2006/main">
            <a:off x="7975600" y="22593300"/>
            <a:ext cx="29464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交付可靠性及变化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积压消散过程</a:t>
            </a:r>
          </a:p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0">
                <a:solidFill>
                  <a:srgbClr val="465765"/>
                </a:solidFill>
                <a:latin typeface="微软雅黑"/>
                <a:ea typeface="微软雅黑"/>
              </a:rPr>
              <a:t>运输服务恢复时间</a:t>
            </a:r>
          </a:p>
        </p:txBody>
      </p:sp>
      <p:sp>
        <p:nvSpPr>
          <p:cNvPr id="100076" name="子课题4接口"/>
          <p:cNvSpPr/>
          <p:nvPr/>
        </p:nvSpPr>
        <p:spPr>
          <a:xfrm xmlns:a="http://schemas.openxmlformats.org/drawingml/2006/main">
            <a:off x="965200" y="23749000"/>
            <a:ext cx="10058400" cy="48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AF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>
                <a:solidFill>
                  <a:srgbClr val="1F4E79"/>
                </a:solidFill>
                <a:latin typeface="微软雅黑"/>
                <a:ea typeface="微软雅黑"/>
              </a:rPr>
              <a:t>按货类—起讫点—时间输出至子课题4，支撑产业链／供应链影响量化</a:t>
            </a:r>
          </a:p>
        </p:txBody>
      </p:sp>
      <p:sp>
        <p:nvSpPr>
          <p:cNvPr id="100077" name="口径说明"/>
          <p:cNvSpPr/>
          <p:nvPr/>
        </p:nvSpPr>
        <p:spPr>
          <a:xfrm xmlns:a="http://schemas.openxmlformats.org/drawingml/2006/main">
            <a:off x="635000" y="24536400"/>
            <a:ext cx="1071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25400" tIns="25400" rIns="25400" bIns="25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66717B"/>
                </a:solidFill>
                <a:latin typeface="微软雅黑"/>
                <a:ea typeface="微软雅黑"/>
              </a:rPr>
              <a:t>口径：能力 ≠ 实际通过量；需求折减、延后与转移分别核算；数据为研究所需输入。</a:t>
            </a:r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273</Words>
  <Application>Microsoft Office PowerPoint</Application>
  <PresentationFormat>自定义</PresentationFormat>
  <Paragraphs>153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Calibri</vt:lpstr>
      <vt:lpstr>ChatGPT</vt:lpstr>
      <vt:lpstr>ChatGPT</vt:lpstr>
      <vt:lpstr>ChatGPT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Xin Zhao</cp:lastModifiedBy>
  <cp:revision>10</cp:revision>
  <dcterms:created xsi:type="dcterms:W3CDTF">2013-01-27T09:14:16Z</dcterms:created>
  <dcterms:modified xsi:type="dcterms:W3CDTF">2026-10-05T06:29:43Z</dcterms:modified>
  <cp:category/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ContentTypeId">
    <vt:lpwstr>0x0101003E596378BD0A034CA010BCA7B12858A4</vt:lpwstr>
  </op:property>
  <op:property fmtid="{D5CDD505-2E9C-101B-9397-08002B2CF9AE}" pid="3" name="OfficeCLI.Version">
    <vt:lpwstr>1.0.135</vt:lpwstr>
  </op:property>
  <op:property fmtid="{D5CDD505-2E9C-101B-9397-08002B2CF9AE}" pid="4" name="OfficeCLI.LastModified">
    <vt:lpwstr>2026-10-09T09:36:42Z</vt:lpwstr>
  </op:property>
</op:Properties>
</file>