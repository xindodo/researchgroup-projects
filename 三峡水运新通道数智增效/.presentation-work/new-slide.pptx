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796c42c6de408c" /><Relationship Type="http://schemas.openxmlformats.org/officeDocument/2006/relationships/extended-properties" Target="/docProps/app.xml" Id="R7b9c615617b84e0f" /><Relationship Type="http://schemas.openxmlformats.org/officeDocument/2006/relationships/officeDocument" Target="/ppt/presentation.xml" Id="Rb1d6ec543cf6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865e8b4dcf4b5f"/>
  </p:sldMasterIdLst>
  <p:notesMasterIdLst>
    <p:notesMasterId xmlns:r="http://schemas.openxmlformats.org/officeDocument/2006/relationships" r:id="Rc71cf3f067b7459f"/>
  </p:notesMasterIdLst>
  <p:sldIdLst>
    <p:sldId xmlns:r="http://schemas.openxmlformats.org/officeDocument/2006/relationships" id="256" r:id="R609924cd8606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3a34f49ace4f5e" /><Relationship Type="http://schemas.openxmlformats.org/officeDocument/2006/relationships/slideMaster" Target="/ppt/slideMasters/slideMaster1.xml" Id="R6f865e8b4dcf4b5f" /><Relationship Type="http://schemas.openxmlformats.org/officeDocument/2006/relationships/notesMaster" Target="/ppt/notesMasters/notesMaster1.xml" Id="Rc71cf3f067b7459f" /><Relationship Type="http://schemas.openxmlformats.org/officeDocument/2006/relationships/presProps" Target="/ppt/presProps.xml" Id="Ra1d79f3feb684357" /><Relationship Type="http://schemas.openxmlformats.org/officeDocument/2006/relationships/tableStyles" Target="/ppt/tableStyles.xml" Id="R1801fe1563944888" /><Relationship Type="http://schemas.openxmlformats.org/officeDocument/2006/relationships/slide" Target="/ppt/slides/slide1.xml" Id="R609924cd8606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f1e55726544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a1c8c0f9724dc0" /><Relationship Type="http://schemas.openxmlformats.org/officeDocument/2006/relationships/notesMaster" Target="/ppt/notesMasters/notesMaster1.xml" Id="R1c6f5449e66e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fcbfadf6d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fd2d8ff0c4797" /><Relationship Type="http://schemas.openxmlformats.org/officeDocument/2006/relationships/slideLayout" Target="/ppt/slideLayouts/slideLayout1.xml" Id="R961656c8ea284d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656c8ea28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7b78d455a4b88" /><Relationship Type="http://schemas.openxmlformats.org/officeDocument/2006/relationships/notesSlide" Target="/ppt/notesSlides/notesSlide1.xml" Id="R6bb33753718a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文字_1">
            <a:extLst xmlns:a="http://schemas.openxmlformats.org/drawingml/2006/main">
              <a:ext uri="{FF2B5EF4-FFF2-40B4-BE49-F238E27FC236}">
                <a16:creationId xmlns:a16="http://schemas.microsoft.com/office/drawing/2014/main" id="{50AB3D5A-5AFD-4A70-A3F2-61AE9578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"/>
            <a:ext cx="58521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文字_2">
            <a:extLst xmlns:a="http://schemas.openxmlformats.org/drawingml/2006/main">
              <a:ext uri="{FF2B5EF4-FFF2-40B4-BE49-F238E27FC236}">
                <a16:creationId xmlns:a16="http://schemas.microsoft.com/office/drawing/2014/main" id="{8AD1CEAF-2550-4A15-95EA-675E501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274320"/>
            <a:ext cx="65836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节点_3">
            <a:extLst xmlns:a="http://schemas.openxmlformats.org/drawingml/2006/main">
              <a:ext uri="{FF2B5EF4-FFF2-40B4-BE49-F238E27FC236}">
                <a16:creationId xmlns:a16="http://schemas.microsoft.com/office/drawing/2014/main" id="{627ADEF1-BBA9-464D-A55D-42DB784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58" cy="12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节点_4">
            <a:extLst xmlns:a="http://schemas.openxmlformats.org/drawingml/2006/main">
              <a:ext uri="{FF2B5EF4-FFF2-40B4-BE49-F238E27FC236}">
                <a16:creationId xmlns:a16="http://schemas.microsoft.com/office/drawing/2014/main" id="{8CC75BDC-AB2A-40AE-87D7-6C74D90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86384"/>
            <a:ext cx="457200" cy="576072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文字_5">
            <a:extLst xmlns:a="http://schemas.openxmlformats.org/drawingml/2006/main">
              <a:ext uri="{FF2B5EF4-FFF2-40B4-BE49-F238E27FC236}">
                <a16:creationId xmlns:a16="http://schemas.microsoft.com/office/drawing/2014/main" id="{2E6F2EEA-E252-4599-BE59-F809BD97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238250"/>
            <a:ext cx="45720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6" name="节点_6">
            <a:extLst xmlns:a="http://schemas.openxmlformats.org/drawingml/2006/main">
              <a:ext uri="{FF2B5EF4-FFF2-40B4-BE49-F238E27FC236}">
                <a16:creationId xmlns:a16="http://schemas.microsoft.com/office/drawing/2014/main" id="{F5835F1B-CB69-4ECB-BA4F-E2FECB2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86384"/>
            <a:ext cx="457200" cy="576072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1801688D-217D-4DAC-BBF0-5579D4E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238250"/>
            <a:ext cx="45720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节点_8">
            <a:extLst xmlns:a="http://schemas.openxmlformats.org/drawingml/2006/main">
              <a:ext uri="{FF2B5EF4-FFF2-40B4-BE49-F238E27FC236}">
                <a16:creationId xmlns:a16="http://schemas.microsoft.com/office/drawing/2014/main" id="{08BE1C79-F1C6-44EF-8D2E-AB26E06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59536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5FC07654-66A8-41E2-9CC8-DA97A8A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945261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3C2ABB99-3DE0-42EA-9BD2-A3D92E5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1240536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施工阶段 · 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通航条件变化</a:t>
            </a:r>
          </a:p>
        </p:txBody>
      </p:sp>
      <p:sp>
        <p:nvSpPr>
          <p:cNvPr id="11" name="节点_11">
            <a:extLst xmlns:a="http://schemas.openxmlformats.org/drawingml/2006/main">
              <a:ext uri="{FF2B5EF4-FFF2-40B4-BE49-F238E27FC236}">
                <a16:creationId xmlns:a16="http://schemas.microsoft.com/office/drawing/2014/main" id="{E9FC9A39-CC36-4AC8-9CCB-75A270E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24100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文字_12">
            <a:extLst xmlns:a="http://schemas.openxmlformats.org/drawingml/2006/main">
              <a:ext uri="{FF2B5EF4-FFF2-40B4-BE49-F238E27FC236}">
                <a16:creationId xmlns:a16="http://schemas.microsoft.com/office/drawing/2014/main" id="{69796DC0-78EE-4D3C-A259-02576C9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2409825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3F21CE44-23A1-4259-ACE3-0814D3D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2705100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AIS · 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过坝货量 · 重点货类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运输时空特征</a:t>
            </a:r>
          </a:p>
        </p:txBody>
      </p:sp>
      <p:sp>
        <p:nvSpPr>
          <p:cNvPr id="14" name="节点_14">
            <a:extLst xmlns:a="http://schemas.openxmlformats.org/drawingml/2006/main">
              <a:ext uri="{FF2B5EF4-FFF2-40B4-BE49-F238E27FC236}">
                <a16:creationId xmlns:a16="http://schemas.microsoft.com/office/drawing/2014/main" id="{69D756AB-2A0C-48BC-BDE0-DEF4B37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88664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文字_15">
            <a:extLst xmlns:a="http://schemas.openxmlformats.org/drawingml/2006/main">
              <a:ext uri="{FF2B5EF4-FFF2-40B4-BE49-F238E27FC236}">
                <a16:creationId xmlns:a16="http://schemas.microsoft.com/office/drawing/2014/main" id="{12C44655-43F5-4AB2-AB51-5DFFFA84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3874389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4362409A-3878-4578-B4D7-60BE8F6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4169664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运价 · 成本 · 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发运与通道选择</a:t>
            </a:r>
          </a:p>
        </p:txBody>
      </p:sp>
      <p:sp>
        <p:nvSpPr>
          <p:cNvPr id="17" name="节点_17">
            <a:extLst xmlns:a="http://schemas.openxmlformats.org/drawingml/2006/main">
              <a:ext uri="{FF2B5EF4-FFF2-40B4-BE49-F238E27FC236}">
                <a16:creationId xmlns:a16="http://schemas.microsoft.com/office/drawing/2014/main" id="{CCEF982E-9C26-4208-9E14-5341769B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253228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文字_18">
            <a:extLst xmlns:a="http://schemas.openxmlformats.org/drawingml/2006/main">
              <a:ext uri="{FF2B5EF4-FFF2-40B4-BE49-F238E27FC236}">
                <a16:creationId xmlns:a16="http://schemas.microsoft.com/office/drawing/2014/main" id="{20AC3163-21BD-406E-9526-B40218E2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5338953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与背景条件</a:t>
            </a:r>
          </a:p>
        </p:txBody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AB740D50-2992-4739-B829-214C452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5634228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区域需求 · 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</p:txBody>
      </p:sp>
      <p:sp>
        <p:nvSpPr>
          <p:cNvPr id="20" name="流程箭头_20">
            <a:extLst xmlns:a="http://schemas.openxmlformats.org/drawingml/2006/main">
              <a:ext uri="{FF2B5EF4-FFF2-40B4-BE49-F238E27FC236}">
                <a16:creationId xmlns:a16="http://schemas.microsoft.com/office/drawing/2014/main" id="{3AE87843-9F47-44EE-B513-9850005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529584"/>
            <a:ext cx="253365" cy="5029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1" name="流程箭头_21">
            <a:extLst xmlns:a="http://schemas.openxmlformats.org/drawingml/2006/main">
              <a:ext uri="{FF2B5EF4-FFF2-40B4-BE49-F238E27FC236}">
                <a16:creationId xmlns:a16="http://schemas.microsoft.com/office/drawing/2014/main" id="{B1E305A6-C151-4CE5-B05F-49D99EA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9584"/>
            <a:ext cx="264795" cy="5029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2" name="节点_22">
            <a:extLst xmlns:a="http://schemas.openxmlformats.org/drawingml/2006/main">
              <a:ext uri="{FF2B5EF4-FFF2-40B4-BE49-F238E27FC236}">
                <a16:creationId xmlns:a16="http://schemas.microsoft.com/office/drawing/2014/main" id="{CB027F50-E55D-410D-86F5-43ED05B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86384"/>
            <a:ext cx="6473952" cy="1682496"/>
          </a:xfrm>
          <a:prstGeom xmlns:a="http://schemas.openxmlformats.org/drawingml/2006/main" prst="roundRect">
            <a:avLst>
              <a:gd name="adj" fmla="val 5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节点_23">
            <a:extLst xmlns:a="http://schemas.openxmlformats.org/drawingml/2006/main">
              <a:ext uri="{FF2B5EF4-FFF2-40B4-BE49-F238E27FC236}">
                <a16:creationId xmlns:a16="http://schemas.microsoft.com/office/drawing/2014/main" id="{BF8B4DF0-C440-4346-909A-F27B7789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0392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文字_24">
            <a:extLst xmlns:a="http://schemas.openxmlformats.org/drawingml/2006/main">
              <a:ext uri="{FF2B5EF4-FFF2-40B4-BE49-F238E27FC236}">
                <a16:creationId xmlns:a16="http://schemas.microsoft.com/office/drawing/2014/main" id="{C38B7056-8DB2-426A-BA8F-743D029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50392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25" name="节点_25">
            <a:extLst xmlns:a="http://schemas.openxmlformats.org/drawingml/2006/main">
              <a:ext uri="{FF2B5EF4-FFF2-40B4-BE49-F238E27FC236}">
                <a16:creationId xmlns:a16="http://schemas.microsoft.com/office/drawing/2014/main" id="{DED52712-6094-471F-B9ED-2243788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ED11DB15-B5ED-4A6C-A2D1-D53CF5C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27" name="文字_27">
            <a:extLst xmlns:a="http://schemas.openxmlformats.org/drawingml/2006/main">
              <a:ext uri="{FF2B5EF4-FFF2-40B4-BE49-F238E27FC236}">
                <a16:creationId xmlns:a16="http://schemas.microsoft.com/office/drawing/2014/main" id="{269166E1-E1A8-4199-9656-589483F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阶段 · 范围 · 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</p:txBody>
      </p:sp>
      <p:sp>
        <p:nvSpPr>
          <p:cNvPr id="28" name="节点_28">
            <a:extLst xmlns:a="http://schemas.openxmlformats.org/drawingml/2006/main">
              <a:ext uri="{FF2B5EF4-FFF2-40B4-BE49-F238E27FC236}">
                <a16:creationId xmlns:a16="http://schemas.microsoft.com/office/drawing/2014/main" id="{6C94D853-D0F0-4933-99B0-DCB2819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FD1C436D-96C8-4483-83BA-32AE9EA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供需与组织波动</a:t>
            </a:r>
          </a:p>
        </p:txBody>
      </p:sp>
      <p:sp>
        <p:nvSpPr>
          <p:cNvPr id="30" name="文字_30">
            <a:extLst xmlns:a="http://schemas.openxmlformats.org/drawingml/2006/main">
              <a:ext uri="{FF2B5EF4-FFF2-40B4-BE49-F238E27FC236}">
                <a16:creationId xmlns:a16="http://schemas.microsoft.com/office/drawing/2014/main" id="{3E9375A3-821B-4340-9EEF-FB37DB2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有效能力 · 需求时空变化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 · 排队 · 船期</a:t>
            </a:r>
          </a:p>
        </p:txBody>
      </p:sp>
      <p:sp>
        <p:nvSpPr>
          <p:cNvPr id="31" name="节点_31">
            <a:extLst xmlns:a="http://schemas.openxmlformats.org/drawingml/2006/main">
              <a:ext uri="{FF2B5EF4-FFF2-40B4-BE49-F238E27FC236}">
                <a16:creationId xmlns:a16="http://schemas.microsoft.com/office/drawing/2014/main" id="{A8DC9111-F301-409E-ADEF-91285E9B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BBE91255-EB88-44B5-9755-7ADF33C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17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运行响应度量</a:t>
            </a:r>
          </a:p>
        </p:txBody>
      </p:sp>
      <p:sp>
        <p:nvSpPr>
          <p:cNvPr id="33" name="文字_33">
            <a:extLst xmlns:a="http://schemas.openxmlformats.org/drawingml/2006/main">
              <a:ext uri="{FF2B5EF4-FFF2-40B4-BE49-F238E27FC236}">
                <a16:creationId xmlns:a16="http://schemas.microsoft.com/office/drawing/2014/main" id="{06138149-4DD3-4026-84D3-EE22366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42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港航作业衔接 · 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时效与可靠性变化</a:t>
            </a:r>
          </a:p>
        </p:txBody>
      </p:sp>
      <p:sp>
        <p:nvSpPr>
          <p:cNvPr id="34" name="流程箭头_34">
            <a:extLst xmlns:a="http://schemas.openxmlformats.org/drawingml/2006/main">
              <a:ext uri="{FF2B5EF4-FFF2-40B4-BE49-F238E27FC236}">
                <a16:creationId xmlns:a16="http://schemas.microsoft.com/office/drawing/2014/main" id="{29138C22-AD2A-42C4-9173-7181D93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638300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5" name="流程箭头_35">
            <a:extLst xmlns:a="http://schemas.openxmlformats.org/drawingml/2006/main">
              <a:ext uri="{FF2B5EF4-FFF2-40B4-BE49-F238E27FC236}">
                <a16:creationId xmlns:a16="http://schemas.microsoft.com/office/drawing/2014/main" id="{1122E938-4ECB-4BA4-A0F8-94CCAA5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638300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6" name="文字_36">
            <a:extLst xmlns:a="http://schemas.openxmlformats.org/drawingml/2006/main">
              <a:ext uri="{FF2B5EF4-FFF2-40B4-BE49-F238E27FC236}">
                <a16:creationId xmlns:a16="http://schemas.microsoft.com/office/drawing/2014/main" id="{96D873F2-6D2A-45F3-A375-89327902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90750"/>
            <a:ext cx="610819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方法：施工事件分析 · 基准/扰动情景对照 · 分货类、航线与船型响应识别</a:t>
            </a:r>
          </a:p>
        </p:txBody>
      </p:sp>
      <p:sp>
        <p:nvSpPr>
          <p:cNvPr id="37" name="流程箭头_37">
            <a:extLst xmlns:a="http://schemas.openxmlformats.org/drawingml/2006/main">
              <a:ext uri="{FF2B5EF4-FFF2-40B4-BE49-F238E27FC236}">
                <a16:creationId xmlns:a16="http://schemas.microsoft.com/office/drawing/2014/main" id="{4AEEA7BA-1398-43EA-9D29-4EC1841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3643"/>
            <a:ext cx="146304" cy="1295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8" name="节点_38">
            <a:extLst xmlns:a="http://schemas.openxmlformats.org/drawingml/2006/main">
              <a:ext uri="{FF2B5EF4-FFF2-40B4-BE49-F238E27FC236}">
                <a16:creationId xmlns:a16="http://schemas.microsoft.com/office/drawing/2014/main" id="{378151A6-E25B-4004-BAD7-079ED9FB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609850"/>
            <a:ext cx="6473952" cy="185737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节点_39">
            <a:extLst xmlns:a="http://schemas.openxmlformats.org/drawingml/2006/main">
              <a:ext uri="{FF2B5EF4-FFF2-40B4-BE49-F238E27FC236}">
                <a16:creationId xmlns:a16="http://schemas.microsoft.com/office/drawing/2014/main" id="{6CAAA085-2DCD-4AA1-ACCB-5A8FAD0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673858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521A8444-6769-4819-AF49-2A5759C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73858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41" name="节点_41">
            <a:extLst xmlns:a="http://schemas.openxmlformats.org/drawingml/2006/main">
              <a:ext uri="{FF2B5EF4-FFF2-40B4-BE49-F238E27FC236}">
                <a16:creationId xmlns:a16="http://schemas.microsoft.com/office/drawing/2014/main" id="{17727228-910B-4ECD-A937-A50CC6F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文字_42">
            <a:extLst xmlns:a="http://schemas.openxmlformats.org/drawingml/2006/main">
              <a:ext uri="{FF2B5EF4-FFF2-40B4-BE49-F238E27FC236}">
                <a16:creationId xmlns:a16="http://schemas.microsoft.com/office/drawing/2014/main" id="{19DDACC2-2DA0-47C0-A858-BBC7FD6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成本与经营响应</a:t>
            </a:r>
          </a:p>
        </p:txBody>
      </p:sp>
      <p:sp>
        <p:nvSpPr>
          <p:cNvPr id="43" name="文字_43">
            <a:extLst xmlns:a="http://schemas.openxmlformats.org/drawingml/2006/main">
              <a:ext uri="{FF2B5EF4-FFF2-40B4-BE49-F238E27FC236}">
                <a16:creationId xmlns:a16="http://schemas.microsoft.com/office/drawing/2014/main" id="{BD5F4DA9-FC2B-4883-9DA6-805E2AFE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等待/航行/转运成本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港航经营收益变化</a:t>
            </a:r>
          </a:p>
        </p:txBody>
      </p:sp>
      <p:sp>
        <p:nvSpPr>
          <p:cNvPr id="44" name="节点_44">
            <a:extLst xmlns:a="http://schemas.openxmlformats.org/drawingml/2006/main">
              <a:ext uri="{FF2B5EF4-FFF2-40B4-BE49-F238E27FC236}">
                <a16:creationId xmlns:a16="http://schemas.microsoft.com/office/drawing/2014/main" id="{9C217E77-7365-4F0B-A9C7-A4F1FCFC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5" name="文字_45">
            <a:extLst xmlns:a="http://schemas.openxmlformats.org/drawingml/2006/main">
              <a:ext uri="{FF2B5EF4-FFF2-40B4-BE49-F238E27FC236}">
                <a16:creationId xmlns:a16="http://schemas.microsoft.com/office/drawing/2014/main" id="{B4E7B945-9616-4EF6-93B2-6EB15FE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运价与市场调整</a:t>
            </a:r>
          </a:p>
        </p:txBody>
      </p:sp>
      <p:sp>
        <p:nvSpPr>
          <p:cNvPr id="46" name="文字_46">
            <a:extLst xmlns:a="http://schemas.openxmlformats.org/drawingml/2006/main">
              <a:ext uri="{FF2B5EF4-FFF2-40B4-BE49-F238E27FC236}">
                <a16:creationId xmlns:a16="http://schemas.microsoft.com/office/drawing/2014/main" id="{D5043BEE-CF43-406F-A2BB-F03C8AB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成本传导 · 供需失衡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货类/航线/船型差异</a:t>
            </a:r>
          </a:p>
        </p:txBody>
      </p:sp>
      <p:sp>
        <p:nvSpPr>
          <p:cNvPr id="47" name="节点_47">
            <a:extLst xmlns:a="http://schemas.openxmlformats.org/drawingml/2006/main">
              <a:ext uri="{FF2B5EF4-FFF2-40B4-BE49-F238E27FC236}">
                <a16:creationId xmlns:a16="http://schemas.microsoft.com/office/drawing/2014/main" id="{034A75EB-7672-4D63-8192-B822335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DABC1CEB-0D44-434B-8AC7-58AE8A90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17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主体行为响应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26D51D63-6FCC-459B-B885-CF78EAE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42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发运时点 · 通道选择</a:t>
            </a:r>
          </a:p>
        </p:txBody>
      </p:sp>
      <p:sp>
        <p:nvSpPr>
          <p:cNvPr id="50" name="流程箭头_50">
            <a:extLst xmlns:a="http://schemas.openxmlformats.org/drawingml/2006/main">
              <a:ext uri="{FF2B5EF4-FFF2-40B4-BE49-F238E27FC236}">
                <a16:creationId xmlns:a16="http://schemas.microsoft.com/office/drawing/2014/main" id="{38018A67-04A1-46A2-A523-94D31A9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3457575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1" name="流程箭头_51">
            <a:extLst xmlns:a="http://schemas.openxmlformats.org/drawingml/2006/main">
              <a:ext uri="{FF2B5EF4-FFF2-40B4-BE49-F238E27FC236}">
                <a16:creationId xmlns:a16="http://schemas.microsoft.com/office/drawing/2014/main" id="{6E4DDC7D-3DE8-437F-81B5-5E3BA85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3457575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2" name="流程箭头_52">
            <a:extLst xmlns:a="http://schemas.openxmlformats.org/drawingml/2006/main">
              <a:ext uri="{FF2B5EF4-FFF2-40B4-BE49-F238E27FC236}">
                <a16:creationId xmlns:a16="http://schemas.microsoft.com/office/drawing/2014/main" id="{CD9DFE8F-2195-4D23-B480-9C1A7EFC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5429250" cy="666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A02F6B56-2F96-44A6-8D95-235C34CB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481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行为调整反馈至有效运力、到达流与运输需求</a:t>
            </a:r>
          </a:p>
        </p:txBody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8F30533A-A027-42FA-8ABB-B6B3AC9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248150"/>
            <a:ext cx="610819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 · 运价响应分析 · 离散选择与行为弹性估计</a:t>
            </a:r>
          </a:p>
        </p:txBody>
      </p:sp>
      <p:sp>
        <p:nvSpPr>
          <p:cNvPr id="55" name="流程箭头_55">
            <a:extLst xmlns:a="http://schemas.openxmlformats.org/drawingml/2006/main">
              <a:ext uri="{FF2B5EF4-FFF2-40B4-BE49-F238E27FC236}">
                <a16:creationId xmlns:a16="http://schemas.microsoft.com/office/drawing/2014/main" id="{99EBCC2A-1A4F-4315-AE0B-535EF04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146304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6" name="节点_56">
            <a:extLst xmlns:a="http://schemas.openxmlformats.org/drawingml/2006/main">
              <a:ext uri="{FF2B5EF4-FFF2-40B4-BE49-F238E27FC236}">
                <a16:creationId xmlns:a16="http://schemas.microsoft.com/office/drawing/2014/main" id="{C3EA815A-CD2F-49B7-9269-BBFFB20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4629150"/>
            <a:ext cx="6473952" cy="1917954"/>
          </a:xfrm>
          <a:prstGeom xmlns:a="http://schemas.openxmlformats.org/drawingml/2006/main" prst="roundRect">
            <a:avLst>
              <a:gd name="adj" fmla="val 4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节点_57">
            <a:extLst xmlns:a="http://schemas.openxmlformats.org/drawingml/2006/main">
              <a:ext uri="{FF2B5EF4-FFF2-40B4-BE49-F238E27FC236}">
                <a16:creationId xmlns:a16="http://schemas.microsoft.com/office/drawing/2014/main" id="{EC77B50E-C643-4AC4-842B-8683C45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4693158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0C30B069-EADE-4F09-A5D3-73EC39AB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93158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59" name="节点_59">
            <a:extLst xmlns:a="http://schemas.openxmlformats.org/drawingml/2006/main">
              <a:ext uri="{FF2B5EF4-FFF2-40B4-BE49-F238E27FC236}">
                <a16:creationId xmlns:a16="http://schemas.microsoft.com/office/drawing/2014/main" id="{221DEEC9-F3DC-4759-A2C6-B5DBCEE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4BB30D64-148A-4070-B650-B7B1CA4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网络传播分析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8D5119BB-84DB-481F-B3A0-98C4DAD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坝区多通道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上下游港航网络</a:t>
            </a:r>
          </a:p>
        </p:txBody>
      </p:sp>
      <p:sp>
        <p:nvSpPr>
          <p:cNvPr id="62" name="节点_62">
            <a:extLst xmlns:a="http://schemas.openxmlformats.org/drawingml/2006/main">
              <a:ext uri="{FF2B5EF4-FFF2-40B4-BE49-F238E27FC236}">
                <a16:creationId xmlns:a16="http://schemas.microsoft.com/office/drawing/2014/main" id="{B9FE8CF9-3E1F-47E0-8F28-159C7FD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092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BDBE4E12-30B0-4022-A7E5-FF009B8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7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B03985B5-2C11-4981-B92B-44611FC3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42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时滞 · 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恢复</a:t>
            </a:r>
          </a:p>
        </p:txBody>
      </p:sp>
      <p:sp>
        <p:nvSpPr>
          <p:cNvPr id="65" name="节点_65">
            <a:extLst xmlns:a="http://schemas.openxmlformats.org/drawingml/2006/main">
              <a:ext uri="{FF2B5EF4-FFF2-40B4-BE49-F238E27FC236}">
                <a16:creationId xmlns:a16="http://schemas.microsoft.com/office/drawing/2014/main" id="{C1C26433-A607-4CB2-8E5B-A4D90BA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576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3DA08C35-DA6C-4F16-9A53-D2E0E09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201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动态响应建模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559A1B3A-566C-4BC3-AE18-7D43244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726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耦合反馈模块</a:t>
            </a:r>
          </a:p>
        </p:txBody>
      </p:sp>
      <p:sp>
        <p:nvSpPr>
          <p:cNvPr id="68" name="节点_68">
            <a:extLst xmlns:a="http://schemas.openxmlformats.org/drawingml/2006/main">
              <a:ext uri="{FF2B5EF4-FFF2-40B4-BE49-F238E27FC236}">
                <a16:creationId xmlns:a16="http://schemas.microsoft.com/office/drawing/2014/main" id="{59BDAD15-CF01-473B-BF2D-7E8CDF5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9" name="文字_69">
            <a:extLst xmlns:a="http://schemas.openxmlformats.org/drawingml/2006/main">
              <a:ext uri="{FF2B5EF4-FFF2-40B4-BE49-F238E27FC236}">
                <a16:creationId xmlns:a16="http://schemas.microsoft.com/office/drawing/2014/main" id="{F8674356-B3C4-4390-BF0A-5AAF86E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校准与情景检验</a:t>
            </a:r>
          </a:p>
        </p:txBody>
      </p:sp>
      <p:sp>
        <p:nvSpPr>
          <p:cNvPr id="70" name="文字_70">
            <a:extLst xmlns:a="http://schemas.openxmlformats.org/drawingml/2006/main">
              <a:ext uri="{FF2B5EF4-FFF2-40B4-BE49-F238E27FC236}">
                <a16:creationId xmlns:a16="http://schemas.microsoft.com/office/drawing/2014/main" id="{15AF5283-B6C8-4444-A9E9-0444B46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典型历史事件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多情景 · 敏感性</a:t>
            </a:r>
          </a:p>
        </p:txBody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98146B87-3667-4214-B9CA-F249926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36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76AAE1C6-3E64-41EF-A2FD-3D75CC6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3" name="流程箭头_73">
            <a:extLst xmlns:a="http://schemas.openxmlformats.org/drawingml/2006/main">
              <a:ext uri="{FF2B5EF4-FFF2-40B4-BE49-F238E27FC236}">
                <a16:creationId xmlns:a16="http://schemas.microsoft.com/office/drawing/2014/main" id="{CCB8FC0A-7A09-4B40-AE73-6827FDC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9FBC4929-9ADA-4B68-8FDA-8560BD5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067425"/>
            <a:ext cx="610819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方法：动态排队理论 · 时变网络 · 离散事件仿真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2BC4B03-1CFE-4D93-95B7-563B3BF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276975"/>
            <a:ext cx="610819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校验：能力/排队/船期/运价响应 · 参数辨识 · 误差与不确定性评估</a:t>
            </a:r>
          </a:p>
        </p:txBody>
      </p:sp>
      <p:sp>
        <p:nvSpPr>
          <p:cNvPr id="76" name="节点_76">
            <a:extLst xmlns:a="http://schemas.openxmlformats.org/drawingml/2006/main">
              <a:ext uri="{FF2B5EF4-FFF2-40B4-BE49-F238E27FC236}">
                <a16:creationId xmlns:a16="http://schemas.microsoft.com/office/drawing/2014/main" id="{512F6271-BB70-4D63-96E7-D4D2E3E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859536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7" name="文字_77">
            <a:extLst xmlns:a="http://schemas.openxmlformats.org/drawingml/2006/main">
              <a:ext uri="{FF2B5EF4-FFF2-40B4-BE49-F238E27FC236}">
                <a16:creationId xmlns:a16="http://schemas.microsoft.com/office/drawing/2014/main" id="{E7BDF336-E849-4505-AE46-8D6B5F42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945261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指标体系与响应规律</a:t>
            </a:r>
          </a:p>
        </p:txBody>
      </p:sp>
      <p:sp>
        <p:nvSpPr>
          <p:cNvPr id="78" name="文字_78">
            <a:extLst xmlns:a="http://schemas.openxmlformats.org/drawingml/2006/main">
              <a:ext uri="{FF2B5EF4-FFF2-40B4-BE49-F238E27FC236}">
                <a16:creationId xmlns:a16="http://schemas.microsoft.com/office/drawing/2014/main" id="{C535A015-80B4-4E96-81DD-CD2C864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1240536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 · 流量 · 拥堵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 · 可靠性</a:t>
            </a:r>
          </a:p>
        </p:txBody>
      </p:sp>
      <p:sp>
        <p:nvSpPr>
          <p:cNvPr id="79" name="节点_79">
            <a:extLst xmlns:a="http://schemas.openxmlformats.org/drawingml/2006/main">
              <a:ext uri="{FF2B5EF4-FFF2-40B4-BE49-F238E27FC236}">
                <a16:creationId xmlns:a16="http://schemas.microsoft.com/office/drawing/2014/main" id="{15DBF7F6-0441-4413-BCD3-2D1E6BBA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84832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0" name="文字_80">
            <a:extLst xmlns:a="http://schemas.openxmlformats.org/drawingml/2006/main">
              <a:ext uri="{FF2B5EF4-FFF2-40B4-BE49-F238E27FC236}">
                <a16:creationId xmlns:a16="http://schemas.microsoft.com/office/drawing/2014/main" id="{A42A3FDE-CC31-413D-B23F-73347D41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2170557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799FB099-DED4-4E94-A6D6-26A31D0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2465832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 · 运价 · 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选择弹性 · 调整时滞</a:t>
            </a:r>
          </a:p>
        </p:txBody>
      </p:sp>
      <p:sp>
        <p:nvSpPr>
          <p:cNvPr id="82" name="节点_82">
            <a:extLst xmlns:a="http://schemas.openxmlformats.org/drawingml/2006/main">
              <a:ext uri="{FF2B5EF4-FFF2-40B4-BE49-F238E27FC236}">
                <a16:creationId xmlns:a16="http://schemas.microsoft.com/office/drawing/2014/main" id="{C82FA156-E9DB-4FB6-9930-51B5E913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310128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3" name="文字_83">
            <a:extLst xmlns:a="http://schemas.openxmlformats.org/drawingml/2006/main">
              <a:ext uri="{FF2B5EF4-FFF2-40B4-BE49-F238E27FC236}">
                <a16:creationId xmlns:a16="http://schemas.microsoft.com/office/drawing/2014/main" id="{7706700E-F243-4867-AA6B-27CEDFFD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3395853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波动传播与恢复参数</a:t>
            </a:r>
          </a:p>
        </p:txBody>
      </p:sp>
      <p:sp>
        <p:nvSpPr>
          <p:cNvPr id="84" name="文字_84">
            <a:extLst xmlns:a="http://schemas.openxmlformats.org/drawingml/2006/main">
              <a:ext uri="{FF2B5EF4-FFF2-40B4-BE49-F238E27FC236}">
                <a16:creationId xmlns:a16="http://schemas.microsoft.com/office/drawing/2014/main" id="{08023EC9-1D57-4CE1-A0E6-DDF85410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3691128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传播时滞 · 非线性阈值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系统恢复</a:t>
            </a:r>
          </a:p>
        </p:txBody>
      </p:sp>
      <p:sp>
        <p:nvSpPr>
          <p:cNvPr id="85" name="节点_85">
            <a:extLst xmlns:a="http://schemas.openxmlformats.org/drawingml/2006/main">
              <a:ext uri="{FF2B5EF4-FFF2-40B4-BE49-F238E27FC236}">
                <a16:creationId xmlns:a16="http://schemas.microsoft.com/office/drawing/2014/main" id="{2AD43059-9E54-4241-ADEA-53C4BF1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535424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2970AB4E-0AC8-4991-B491-BFEEB82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4621149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</p:txBody>
      </p:sp>
      <p:sp>
        <p:nvSpPr>
          <p:cNvPr id="87" name="文字_87">
            <a:extLst xmlns:a="http://schemas.openxmlformats.org/drawingml/2006/main">
              <a:ext uri="{FF2B5EF4-FFF2-40B4-BE49-F238E27FC236}">
                <a16:creationId xmlns:a16="http://schemas.microsoft.com/office/drawing/2014/main" id="{33A937B4-00DC-44F4-8795-194078F1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4916424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运行—市场—行为耦合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标准化参数与输入输出接口</a:t>
            </a:r>
          </a:p>
        </p:txBody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C4320992-0512-4296-835F-42C7404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914525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89" name="流程箭头_89">
            <a:extLst xmlns:a="http://schemas.openxmlformats.org/drawingml/2006/main">
              <a:ext uri="{FF2B5EF4-FFF2-40B4-BE49-F238E27FC236}">
                <a16:creationId xmlns:a16="http://schemas.microsoft.com/office/drawing/2014/main" id="{4173A505-3A9E-427B-9401-6597CD95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3138488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90" name="流程箭头_90">
            <a:extLst xmlns:a="http://schemas.openxmlformats.org/drawingml/2006/main">
              <a:ext uri="{FF2B5EF4-FFF2-40B4-BE49-F238E27FC236}">
                <a16:creationId xmlns:a16="http://schemas.microsoft.com/office/drawing/2014/main" id="{9E8BE217-68BF-4719-8D0E-7BF0ACE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4362450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91" name="节点_91">
            <a:extLst xmlns:a="http://schemas.openxmlformats.org/drawingml/2006/main">
              <a:ext uri="{FF2B5EF4-FFF2-40B4-BE49-F238E27FC236}">
                <a16:creationId xmlns:a16="http://schemas.microsoft.com/office/drawing/2014/main" id="{84EA81F0-292A-4CB0-A995-FC128D0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60720"/>
            <a:ext cx="2084832" cy="658368"/>
          </a:xfrm>
          <a:prstGeom xmlns:a="http://schemas.openxmlformats.org/drawingml/2006/main" prst="roundRect">
            <a:avLst>
              <a:gd name="adj" fmla="val 14468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980AC525-08C7-40F3-92AF-0CCBD7D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007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级联模型集成与验证</a:t>
            </a:r>
          </a:p>
        </p:txBody>
      </p:sp>
      <p:sp>
        <p:nvSpPr>
          <p:cNvPr id="93" name="文字_93">
            <a:extLst xmlns:a="http://schemas.openxmlformats.org/drawingml/2006/main">
              <a:ext uri="{FF2B5EF4-FFF2-40B4-BE49-F238E27FC236}">
                <a16:creationId xmlns:a16="http://schemas.microsoft.com/office/drawing/2014/main" id="{3CC412CA-89E5-46E5-A0ED-A25A540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6619875"/>
            <a:ext cx="947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研究边界：航运运行、服务及直接市场经营响应；区域经济与产业链响应由相关子课题开展。</a:t>
            </a:r>
          </a:p>
        </p:txBody>
      </p:sp>
    </p:spTree>
    <p:extLst>
      <p:ext uri="{BB962C8B-B14F-4D97-AF65-F5344CB8AC3E}">
        <p14:creationId xmlns:p14="http://schemas.microsoft.com/office/powerpoint/2010/main" val="1279339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2026-10-04T19:25:04.7990000Z</dcterms:created>
  <dcterms:modified xsi:type="dcterms:W3CDTF">2026-10-04T19:25:04.7990000Z</dcterms:modified>
</coreProperties>
</file>