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Masters/refined2_slideMaster1.xml" ContentType="application/vnd.openxmlformats-officedocument.presentationml.slideMaster+xml"/>
  <Override PartName="/ppt/slideMasters/theme/refined2_theme2.xml" ContentType="application/vnd.openxmlformats-officedocument.theme+xml"/>
  <Override PartName="/ppt/slideLayouts/refined2_slideLayout1.xml" ContentType="application/vnd.openxmlformats-officedocument.presentationml.slideLayout+xml"/>
  <Override PartName="/ppt/notesSlides/refined2_notesSlide1.xml" ContentType="application/vnd.openxmlformats-officedocument.presentationml.notesSlide+xml"/>
  <Override PartName="/ppt/customXml/itemProps1.xml" ContentType="application/vnd.openxmlformats-officedocument.customXmlProperties+xml"/>
  <Override PartName="/ppt/customXml/itemProps2.xml" ContentType="application/vnd.openxmlformats-officedocument.customXmlProperties+xml"/>
  <Override PartName="/ppt/customXml/itemProps3.xml" ContentType="application/vnd.openxmlformats-officedocument.customXmlProperties+xml"/>
  <Override PartName="/ppt/slideMasters/focused3_slideMaster1.xml" ContentType="application/vnd.openxmlformats-officedocument.presentationml.slideMaster+xml"/>
  <Override PartName="/ppt/slideMasters/theme/focused3_theme2.xml" ContentType="application/vnd.openxmlformats-officedocument.theme+xml"/>
  <Override PartName="/ppt/slideLayouts/focused3_slideLayout1.xml" ContentType="application/vnd.openxmlformats-officedocument.presentationml.slideLayout+xml"/>
  <Override PartName="/ppt/slides/slide3.xml" ContentType="application/vnd.openxmlformats-officedocument.presentationml.slide+xml"/>
  <Override PartName="/ppt/notesSlides/focused3_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ns2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4"/>
    <p:sldMasterId id="2147483660" r:id="rId5"/>
    <p:sldMasterId r:id="rId13" id="2147483661"/>
    <p:sldMasterId r:id="rId15" id="2147483662"/>
  </p:sldMasterIdLst>
  <p:notesMasterIdLst>
    <p:notesMasterId r:id="rId8"/>
  </p:notesMasterIdLst>
  <p:sldIdLst>
    <p:sldId id="257" r:id="rId6"/>
    <p:sldId id="258" r:id="rId7"/>
    <p:sldId r:id="rId14" id="259"/>
  </p:sldIdLst>
  <p:sldSz cx="12192000" cy="25199975"/>
  <p:notesSz cx="6858000" cy="9144000"/>
  <p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p:defaultTextStyle>
  <p:extLst>
    <p:ext uri="{EFAFB233-063F-42B5-8137-9DF3F51BA10A}">
      <ns3:sldGuideLst>
        <ns3:guide id="1" orient="horz" pos="7937" userDrawn="1">
          <ns3:clr>
            <ns2:srgbClr val="A4A3A4"/>
          </ns3:clr>
        </ns3:guide>
        <ns3:guide id="2" pos="2880" userDrawn="1">
          <ns3:clr>
            <ns2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60"/>
  </p:normalViewPr>
  <p:slideViewPr>
    <p:cSldViewPr snapToGrid="0" snapToObjects="1">
      <p:cViewPr>
        <p:scale>
          <a:sx n="33" d="100"/>
          <a:sy n="33" d="100"/>
        </p:scale>
        <p:origin x="3730" y="504"/>
      </p:cViewPr>
      <p:guideLst>
        <p:guide orient="horz" pos="793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notesMaster" Target="notesMasters/notesMaster1.xml" /><ns0:Relationship Id="rId3" Type="http://schemas.openxmlformats.org/officeDocument/2006/relationships/customXml" Target="customXml/item3.xml" /><ns0:Relationship Id="rId7" Type="http://schemas.openxmlformats.org/officeDocument/2006/relationships/slide" Target="slides/slide2.xml" /><ns0:Relationship Id="rId12" Type="http://schemas.openxmlformats.org/officeDocument/2006/relationships/tableStyles" Target="tableStyles.xml" /><ns0:Relationship Id="rId2" Type="http://schemas.openxmlformats.org/officeDocument/2006/relationships/customXml" Target="customXml/item2.xml" /><ns0:Relationship Id="rId1" Type="http://schemas.openxmlformats.org/officeDocument/2006/relationships/customXml" Target="customXml/item1.xml" /><ns0:Relationship Id="rId6" Type="http://schemas.openxmlformats.org/officeDocument/2006/relationships/slide" Target="slides/slide1.xml" /><ns0:Relationship Id="rId11" Type="http://schemas.openxmlformats.org/officeDocument/2006/relationships/theme" Target="theme/theme1.xml" /><ns0:Relationship Id="rId5" Type="http://schemas.openxmlformats.org/officeDocument/2006/relationships/slideMaster" Target="slideMasters/slideMaster2.xml" /><ns0:Relationship Id="rId10" Type="http://schemas.openxmlformats.org/officeDocument/2006/relationships/viewProps" Target="viewProps.xml" /><ns0:Relationship Id="rId4" Type="http://schemas.openxmlformats.org/officeDocument/2006/relationships/slideMaster" Target="slideMasters/slideMaster1.xml" /><ns0:Relationship Id="rId9" Type="http://schemas.openxmlformats.org/officeDocument/2006/relationships/presProps" Target="presProps.xml" /><ns0:Relationship Id="rId13" Type="http://schemas.openxmlformats.org/officeDocument/2006/relationships/slideMaster" Target="slideMasters/refined2_slideMaster1.xml" /><ns0:Relationship Id="rId14" Type="http://schemas.openxmlformats.org/officeDocument/2006/relationships/slide" Target="slides/slide3.xml" /><ns0:Relationship Id="rId15" Type="http://schemas.openxmlformats.org/officeDocument/2006/relationships/slideMaster" Target="slideMasters/focused3_slideMaster1.xml" /></ns0:Relationships>
</file>

<file path=ppt/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ppt/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ppt/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ppt/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596378BD0A034CA010BCA7B12858A4" ma:contentTypeVersion="14" ma:contentTypeDescription="Create a new document." ma:contentTypeScope="" ma:versionID="9369bf9e028bb3ca07af097fb0267f78">
  <xsd:schema xmlns:xsd="http://www.w3.org/2001/XMLSchema" xmlns:xs="http://www.w3.org/2001/XMLSchema" xmlns:p="http://schemas.microsoft.com/office/2006/metadata/properties" xmlns:ns3="2840ae5c-a96c-4873-9eff-317269bfd306" targetNamespace="http://schemas.microsoft.com/office/2006/metadata/properties" ma:root="true" ma:fieldsID="63f35e9d30a0212470227851159404e3" ns3:_="">
    <xsd:import namespace="2840ae5c-a96c-4873-9eff-317269bfd30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LengthInSeconds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40ae5c-a96c-4873-9eff-317269bfd3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description="" ma:indexed="true" ma:internalName="MediaServiceLocatio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ppt/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ppt/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840ae5c-a96c-4873-9eff-317269bfd306" xsi:nil="true"/>
  </documentManagement>
</p:properties>
</file>

<file path=ppt/customXml/itemProps1.xml><?xml version="1.0" encoding="utf-8"?>
<ds:datastoreItem xmlns:ds="http://schemas.openxmlformats.org/officeDocument/2006/customXml" ds:itemID="{7650E56E-0C26-4510-AFD8-606AF34A3A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40ae5c-a96c-4873-9eff-317269bfd3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ppt/customXml/itemProps2.xml><?xml version="1.0" encoding="utf-8"?>
<ds:datastoreItem xmlns:ds="http://schemas.openxmlformats.org/officeDocument/2006/customXml" ds:itemID="{B13D5EB6-ED5A-4013-BAAD-2CE11AACDC85}">
  <ds:schemaRefs>
    <ds:schemaRef ds:uri="http://schemas.microsoft.com/sharepoint/v3/contenttype/forms"/>
  </ds:schemaRefs>
</ds:datastoreItem>
</file>

<file path=ppt/customXml/itemProps3.xml><?xml version="1.0" encoding="utf-8"?>
<ds:datastoreItem xmlns:ds="http://schemas.openxmlformats.org/officeDocument/2006/customXml" ds:itemID="{4E0766A0-2E15-467E-82A8-07DF070064B1}">
  <ds:schemaRefs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2840ae5c-a96c-4873-9eff-317269bfd306"/>
    <ds:schemaRef ds:uri="http://schemas.microsoft.com/office/infopath/2007/PartnerControls"/>
    <ds:schemaRef ds:uri="http://purl.org/dc/dcmitype/"/>
  </ds:schemaRefs>
</ds:datastoreItem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focused3_notesSlide1.xml.rels><?xml version='1.0' encoding='utf-8'?>
<ns0:Relationships xmlns:ns0="http://schemas.openxmlformats.org/package/2006/relationships"><ns0:Relationship Type="http://schemas.openxmlformats.org/officeDocument/2006/relationships/slide" Target="../slides/slide3.xml" Id="Reb98606105584d3f" /><ns0:Relationship Type="http://schemas.openxmlformats.org/officeDocument/2006/relationships/notesMaster" Target="../notesMasters/notesMaster1.xml" Id="R171ce7643ad84e7c" /></ns0:Relationships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refined2_notesSlide1.xml.rels><?xml version='1.0' encoding='utf-8'?>
<ns0:Relationships xmlns:ns0="http://schemas.openxmlformats.org/package/2006/relationships"><ns0:Relationship Type="http://schemas.openxmlformats.org/officeDocument/2006/relationships/slide" Target="../slides/slide2.xml" Id="R6d4995b0de234f73" /><ns0:Relationship Type="http://schemas.openxmlformats.org/officeDocument/2006/relationships/notesMaster" Target="../notesMasters/notesMaster1.xml" Id="Re695e591523b4555" /></ns0:Relationships>
</file>

<file path=ppt/notesSlides/focused3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页为研究范围收缩后的技术路线，第一、二页原图保留。根据用户要求，删去可见研究方法、算法名称和工作基础及子课题协同内容，缩短全图文字。子课题三仅研究施工扰动下能力、需求、排队拥堵、运输组织、时效可靠性、传播与恢复。第二部分改为运输组织调整与运行反馈，使用记录或预设情景刻画航次、待闸、船型、通道、发运时点与到达节奏变化，分析其运行影响，不承担独立运价预测、成本收益评估、复杂主体行为选择建模或多式联运优化。建议的任务衔接为：子课题一统筹公共市场与运行数据；子课题二分析成本、运价和市场行为在施工—航运—产业全链条中的传导机理；子课题四结合场景开展港航经营及产业、区域经济影响分析；子课题五依据前述研究集成必要的市场—产业反馈并开展整体验证。该分工是本次收缩范围的建议，需要课题组落实，不表述为其他子课题已接受的任务。第三页不把运价、收益或价格驱动行为作为子课题三的独立研究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本项目已讨论确定的子课题三研究内容绘制。研究边界限定为航运运行、运输服务、直接航运市场与经营经济响应，以及其主体行为反馈。子课题一提供多源数据与系统特征，子课题二提供级联机理与关联路径，子课题四开展区域及产业链响应分析，子课题五负责全链条模型集成与整体验证。空间经济整体模型与综合交通超级网络提供区域需求、网络背景和仿真基础；细粒度航运响应模型仍需独立构建、校准及检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refined2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子课题三技术路线细化方案。依据此前确定的三项主要研究内容及两页路线对比完善，保留施工扰动、运行与货类数据、市场行为、网络传播、模型方法、校准检验及成果接口内容。第一部分增加施工参数—通航约束—多情景库，以及能力与需求并行分支、常态波动识别和供需失配服务响应。第二部分区分通航限制引起的直接适应和市场信息驱动调整，两条反馈路线分别更新能力供给及到达需求，不预设成本增加必然引起运价上涨。第三部分将机制识别、响应模型构建、事件校准、独立检验和多情景传播恢复推演联动，校准及检验结果返回模型修正。完整级联模型、产业响应和项目平台任务按子课题分工衔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focused3_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focused3_slideMaster1.xml" Id="R7cccabfeb5f6487b" /></ns0:Relationships>
</file>

<file path=ppt/slideLayouts/_rels/refined2_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refined2_slideMaster1.xml" Id="R1dc1b27e8ee742e2" /></ns0: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focused3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refined2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1" y="7828339"/>
            <a:ext cx="7772400" cy="54016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4279986"/>
            <a:ext cx="6400800" cy="643999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6193330"/>
            <a:ext cx="7772400" cy="500499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0680830"/>
            <a:ext cx="7772400" cy="5512493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7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41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22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830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6037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245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452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65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2" y="5880007"/>
            <a:ext cx="4038601" cy="166308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5880007"/>
            <a:ext cx="4038601" cy="166308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5640830"/>
            <a:ext cx="4040188" cy="235082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7" indent="0">
              <a:buNone/>
              <a:defRPr sz="2000" b="1"/>
            </a:lvl2pPr>
            <a:lvl3pPr marL="914415" indent="0">
              <a:buNone/>
              <a:defRPr sz="1801" b="1"/>
            </a:lvl3pPr>
            <a:lvl4pPr marL="1371622" indent="0">
              <a:buNone/>
              <a:defRPr sz="1600" b="1"/>
            </a:lvl4pPr>
            <a:lvl5pPr marL="1828830" indent="0">
              <a:buNone/>
              <a:defRPr sz="1600" b="1"/>
            </a:lvl5pPr>
            <a:lvl6pPr marL="2286037" indent="0">
              <a:buNone/>
              <a:defRPr sz="1600" b="1"/>
            </a:lvl6pPr>
            <a:lvl7pPr marL="2743245" indent="0">
              <a:buNone/>
              <a:defRPr sz="1600" b="1"/>
            </a:lvl7pPr>
            <a:lvl8pPr marL="3200452" indent="0">
              <a:buNone/>
              <a:defRPr sz="1600" b="1"/>
            </a:lvl8pPr>
            <a:lvl9pPr marL="365765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7991659"/>
            <a:ext cx="4040188" cy="1451915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1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5640830"/>
            <a:ext cx="4041775" cy="235082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7" indent="0">
              <a:buNone/>
              <a:defRPr sz="2000" b="1"/>
            </a:lvl2pPr>
            <a:lvl3pPr marL="914415" indent="0">
              <a:buNone/>
              <a:defRPr sz="1801" b="1"/>
            </a:lvl3pPr>
            <a:lvl4pPr marL="1371622" indent="0">
              <a:buNone/>
              <a:defRPr sz="1600" b="1"/>
            </a:lvl4pPr>
            <a:lvl5pPr marL="1828830" indent="0">
              <a:buNone/>
              <a:defRPr sz="1600" b="1"/>
            </a:lvl5pPr>
            <a:lvl6pPr marL="2286037" indent="0">
              <a:buNone/>
              <a:defRPr sz="1600" b="1"/>
            </a:lvl6pPr>
            <a:lvl7pPr marL="2743245" indent="0">
              <a:buNone/>
              <a:defRPr sz="1600" b="1"/>
            </a:lvl7pPr>
            <a:lvl8pPr marL="3200452" indent="0">
              <a:buNone/>
              <a:defRPr sz="1600" b="1"/>
            </a:lvl8pPr>
            <a:lvl9pPr marL="365765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7991659"/>
            <a:ext cx="4041775" cy="1451915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1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003332"/>
            <a:ext cx="3008312" cy="42699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2" y="1003345"/>
            <a:ext cx="5111750" cy="2150748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73341"/>
            <a:ext cx="3008312" cy="17237485"/>
          </a:xfrm>
        </p:spPr>
        <p:txBody>
          <a:bodyPr/>
          <a:lstStyle>
            <a:lvl1pPr marL="0" indent="0">
              <a:buNone/>
              <a:defRPr sz="1401"/>
            </a:lvl1pPr>
            <a:lvl2pPr marL="457207" indent="0">
              <a:buNone/>
              <a:defRPr sz="1200"/>
            </a:lvl2pPr>
            <a:lvl3pPr marL="914415" indent="0">
              <a:buNone/>
              <a:defRPr sz="1001"/>
            </a:lvl3pPr>
            <a:lvl4pPr marL="1371622" indent="0">
              <a:buNone/>
              <a:defRPr sz="900"/>
            </a:lvl4pPr>
            <a:lvl5pPr marL="1828830" indent="0">
              <a:buNone/>
              <a:defRPr sz="900"/>
            </a:lvl5pPr>
            <a:lvl6pPr marL="2286037" indent="0">
              <a:buNone/>
              <a:defRPr sz="900"/>
            </a:lvl6pPr>
            <a:lvl7pPr marL="2743245" indent="0">
              <a:buNone/>
              <a:defRPr sz="900"/>
            </a:lvl7pPr>
            <a:lvl8pPr marL="3200452" indent="0">
              <a:buNone/>
              <a:defRPr sz="900"/>
            </a:lvl8pPr>
            <a:lvl9pPr marL="365765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17639982"/>
            <a:ext cx="5486400" cy="20825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2251664"/>
            <a:ext cx="5486400" cy="15119985"/>
          </a:xfrm>
        </p:spPr>
        <p:txBody>
          <a:bodyPr/>
          <a:lstStyle>
            <a:lvl1pPr marL="0" indent="0">
              <a:buNone/>
              <a:defRPr sz="3200"/>
            </a:lvl1pPr>
            <a:lvl2pPr marL="457207" indent="0">
              <a:buNone/>
              <a:defRPr sz="2800"/>
            </a:lvl2pPr>
            <a:lvl3pPr marL="914415" indent="0">
              <a:buNone/>
              <a:defRPr sz="2400"/>
            </a:lvl3pPr>
            <a:lvl4pPr marL="1371622" indent="0">
              <a:buNone/>
              <a:defRPr sz="2000"/>
            </a:lvl4pPr>
            <a:lvl5pPr marL="1828830" indent="0">
              <a:buNone/>
              <a:defRPr sz="2000"/>
            </a:lvl5pPr>
            <a:lvl6pPr marL="2286037" indent="0">
              <a:buNone/>
              <a:defRPr sz="2000"/>
            </a:lvl6pPr>
            <a:lvl7pPr marL="2743245" indent="0">
              <a:buNone/>
              <a:defRPr sz="2000"/>
            </a:lvl7pPr>
            <a:lvl8pPr marL="3200452" indent="0">
              <a:buNone/>
              <a:defRPr sz="2000"/>
            </a:lvl8pPr>
            <a:lvl9pPr marL="365765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19722482"/>
            <a:ext cx="5486400" cy="2957495"/>
          </a:xfrm>
        </p:spPr>
        <p:txBody>
          <a:bodyPr/>
          <a:lstStyle>
            <a:lvl1pPr marL="0" indent="0">
              <a:buNone/>
              <a:defRPr sz="1401"/>
            </a:lvl1pPr>
            <a:lvl2pPr marL="457207" indent="0">
              <a:buNone/>
              <a:defRPr sz="1200"/>
            </a:lvl2pPr>
            <a:lvl3pPr marL="914415" indent="0">
              <a:buNone/>
              <a:defRPr sz="1001"/>
            </a:lvl3pPr>
            <a:lvl4pPr marL="1371622" indent="0">
              <a:buNone/>
              <a:defRPr sz="900"/>
            </a:lvl4pPr>
            <a:lvl5pPr marL="1828830" indent="0">
              <a:buNone/>
              <a:defRPr sz="900"/>
            </a:lvl5pPr>
            <a:lvl6pPr marL="2286037" indent="0">
              <a:buNone/>
              <a:defRPr sz="900"/>
            </a:lvl6pPr>
            <a:lvl7pPr marL="2743245" indent="0">
              <a:buNone/>
              <a:defRPr sz="900"/>
            </a:lvl7pPr>
            <a:lvl8pPr marL="3200452" indent="0">
              <a:buNone/>
              <a:defRPr sz="900"/>
            </a:lvl8pPr>
            <a:lvl9pPr marL="365765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1009181"/>
            <a:ext cx="2057401" cy="2150164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3" y="1009181"/>
            <a:ext cx="6019801" cy="2150164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focused3_slideMaster1.xml.rels><?xml version='1.0' encoding='utf-8'?>
<ns0:Relationships xmlns:ns0="http://schemas.openxmlformats.org/package/2006/relationships"><ns0:Relationship Type="http://schemas.openxmlformats.org/officeDocument/2006/relationships/theme" Target="theme/focused3_theme2.xml" Id="R0d14851698504ba8" /><ns0:Relationship Type="http://schemas.openxmlformats.org/officeDocument/2006/relationships/slideLayout" Target="../slideLayouts/focused3_slideLayout1.xml" Id="R3001d2d603d34e06" /></ns0:Relationships>
</file>

<file path=ppt/slideMasters/_rels/refined2_slideMaster1.xml.rels><?xml version='1.0' encoding='utf-8'?>
<ns0:Relationships xmlns:ns0="http://schemas.openxmlformats.org/package/2006/relationships"><ns0:Relationship Type="http://schemas.openxmlformats.org/officeDocument/2006/relationships/theme" Target="theme/refined2_theme2.xml" Id="R0ae0a169f7334fc2" /><ns0:Relationship Type="http://schemas.openxmlformats.org/officeDocument/2006/relationships/slideLayout" Target="../slideLayouts/refined2_slideLayout1.xml" Id="Re8c272f026974c4c" /></ns0:Relationships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focused3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01d2d603d34e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refined2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c272f026974c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009167"/>
            <a:ext cx="8229600" cy="4199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80007"/>
            <a:ext cx="8229600" cy="16630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23356657"/>
            <a:ext cx="2133600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23356657"/>
            <a:ext cx="2895600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23356657"/>
            <a:ext cx="2133600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5" indent="-342905" algn="l" defTabSz="457207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62" indent="-285755" algn="l" defTabSz="457207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9" indent="-228604" algn="l" defTabSz="457207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7" indent="-228604" algn="l" defTabSz="457207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34" indent="-228604" algn="l" defTabSz="457207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41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49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56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64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0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7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5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2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59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4" indent="-228604" algn="l">
        <a:lnSpc>
          <a:spcPct val="90000"/>
        </a:lnSpc>
        <a:spcBef>
          <a:spcPts val="1001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12" indent="-228604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19" indent="-228604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27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4pPr>
      <a:lvl5pPr marL="2057434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5pPr>
      <a:lvl6pPr marL="2514641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6pPr>
      <a:lvl7pPr marL="2971849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7pPr>
      <a:lvl8pPr marL="3429056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8pPr>
      <a:lvl9pPr marL="3886264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1pPr>
      <a:lvl2pPr marL="457207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2pPr>
      <a:lvl3pPr marL="914415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3pPr>
      <a:lvl4pPr marL="1371622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4pPr>
      <a:lvl5pPr marL="1828830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5pPr>
      <a:lvl6pPr marL="2286037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6pPr>
      <a:lvl7pPr marL="2743245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7pPr>
      <a:lvl8pPr marL="3200452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8pPr>
      <a:lvl9pPr marL="3657659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focused3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refined2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../slideLayouts/refined2_slideLayout1.xml" Id="R4b306333ab424e20" /><ns0:Relationship Type="http://schemas.openxmlformats.org/officeDocument/2006/relationships/notesSlide" Target="../notesSlides/refined2_notesSlide1.xml" Id="R27b6ee35b31e444b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../slideLayouts/focused3_slideLayout1.xml" Id="R22572c44a22b42c6" /><ns0:Relationship Type="http://schemas.openxmlformats.org/officeDocument/2006/relationships/notesSlide" Target="../notesSlides/focused3_notesSlide1.xml" Id="Re8bf203c34d84b6a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9428580"/>
            <a:ext cx="58521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41087" y="9508423"/>
            <a:ext cx="65836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枢纽施工扰动下航运系统运输能力与需求波动响应研究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30" y="9847645"/>
            <a:ext cx="11057839" cy="12801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6" name="Rounded Rectangle 5"/>
          <p:cNvSpPr/>
          <p:nvPr/>
        </p:nvSpPr>
        <p:spPr>
          <a:xfrm>
            <a:off x="329185" y="9957372"/>
            <a:ext cx="457200" cy="5760720"/>
          </a:xfrm>
          <a:prstGeom prst="roundRect">
            <a:avLst>
              <a:gd name="adj" fmla="val 16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7" name="TextBox 6"/>
          <p:cNvSpPr txBox="1"/>
          <p:nvPr/>
        </p:nvSpPr>
        <p:spPr>
          <a:xfrm>
            <a:off x="329185" y="11602971"/>
            <a:ext cx="457200" cy="24695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98865" y="9957372"/>
            <a:ext cx="457200" cy="5760720"/>
          </a:xfrm>
          <a:prstGeom prst="roundRect">
            <a:avLst>
              <a:gd name="adj" fmla="val 1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9" name="TextBox 8"/>
          <p:cNvSpPr txBox="1"/>
          <p:nvPr/>
        </p:nvSpPr>
        <p:spPr>
          <a:xfrm>
            <a:off x="9198865" y="11602971"/>
            <a:ext cx="457200" cy="24695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策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03121" y="12700572"/>
            <a:ext cx="274320" cy="502921"/>
          </a:xfrm>
          <a:prstGeom prst="right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1" name="Right Arrow 10"/>
          <p:cNvSpPr/>
          <p:nvPr/>
        </p:nvSpPr>
        <p:spPr>
          <a:xfrm>
            <a:off x="8887969" y="12700572"/>
            <a:ext cx="274320" cy="502921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2" name="Rounded Rectangle 11"/>
          <p:cNvSpPr/>
          <p:nvPr/>
        </p:nvSpPr>
        <p:spPr>
          <a:xfrm>
            <a:off x="896113" y="10067100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施工方案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17905" y="10067100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工期安排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3" y="10506012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检修安排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17905" y="10506012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通航政策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417319" y="10944924"/>
            <a:ext cx="146304" cy="182880"/>
          </a:xfrm>
          <a:prstGeom prst="down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7" name="Rounded Rectangle 16"/>
          <p:cNvSpPr/>
          <p:nvPr/>
        </p:nvSpPr>
        <p:spPr>
          <a:xfrm>
            <a:off x="896113" y="11219244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枢纽施工·检修场景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施工方案 · 工期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检修安排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426463" y="12215939"/>
            <a:ext cx="128016" cy="146304"/>
          </a:xfrm>
          <a:prstGeom prst="downArrow">
            <a:avLst/>
          </a:prstGeom>
          <a:solidFill>
            <a:srgbClr val="ED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9" name="Rounded Rectangle 18"/>
          <p:cNvSpPr/>
          <p:nvPr/>
        </p:nvSpPr>
        <p:spPr>
          <a:xfrm>
            <a:off x="896113" y="12389676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过坝货运量与货种结构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货种构成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运输需求规模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426463" y="13386371"/>
            <a:ext cx="128016" cy="146304"/>
          </a:xfrm>
          <a:prstGeom prst="downArrow">
            <a:avLst/>
          </a:prstGeom>
          <a:solidFill>
            <a:srgbClr val="ED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1" name="Rounded Rectangle 20"/>
          <p:cNvSpPr/>
          <p:nvPr/>
        </p:nvSpPr>
        <p:spPr>
          <a:xfrm>
            <a:off x="896113" y="13560108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船舶到达流数据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到达流分布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船舶行为特征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426463" y="14556803"/>
            <a:ext cx="128016" cy="146304"/>
          </a:xfrm>
          <a:prstGeom prst="downArrow">
            <a:avLst/>
          </a:prstGeom>
          <a:solidFill>
            <a:srgbClr val="ED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3" name="Rounded Rectangle 22"/>
          <p:cNvSpPr/>
          <p:nvPr/>
        </p:nvSpPr>
        <p:spPr>
          <a:xfrm>
            <a:off x="896113" y="14730540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通航信息与政策变量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通航政策 · 施工信息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通航条件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95728" y="9957372"/>
            <a:ext cx="6473952" cy="16824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5" name="Rounded Rectangle 24"/>
          <p:cNvSpPr/>
          <p:nvPr/>
        </p:nvSpPr>
        <p:spPr>
          <a:xfrm>
            <a:off x="2459737" y="10021379"/>
            <a:ext cx="6345936" cy="365760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一、枢纽施工扰动的通航约束解析与能力折减表征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78608" y="10469436"/>
            <a:ext cx="1816608" cy="1042416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通航约束条件刻画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航道通过限制 · 船闸停航窗口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通航时间变化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431792" y="10899203"/>
            <a:ext cx="256032" cy="18288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8" name="Rounded Rectangle 27"/>
          <p:cNvSpPr/>
          <p:nvPr/>
        </p:nvSpPr>
        <p:spPr>
          <a:xfrm>
            <a:off x="4724400" y="10469437"/>
            <a:ext cx="1816608" cy="1042416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扰动强度—能力折减映射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建立扰动强度与通航能力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折减之间的量化映射关系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577584" y="10899203"/>
            <a:ext cx="256032" cy="18288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30" name="Rounded Rectangle 29"/>
          <p:cNvSpPr/>
          <p:nvPr/>
        </p:nvSpPr>
        <p:spPr>
          <a:xfrm>
            <a:off x="6870192" y="10469437"/>
            <a:ext cx="1816608" cy="1042416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多情景扰动库构建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覆盖不同施工方案、工期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与检修安排的多情景组合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95728" y="11749596"/>
            <a:ext cx="6473952" cy="22128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18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32" name="Rounded Rectangle 31"/>
          <p:cNvSpPr/>
          <p:nvPr/>
        </p:nvSpPr>
        <p:spPr>
          <a:xfrm>
            <a:off x="2459737" y="11813603"/>
            <a:ext cx="6345936" cy="365760"/>
          </a:xfrm>
          <a:prstGeom prst="roundRect">
            <a:avLst>
              <a:gd name="adj" fmla="val 30000"/>
            </a:avLst>
          </a:prstGeom>
          <a:solidFill>
            <a:srgbClr val="21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二、施工扰动下航运系统运输能力动态建模   ｜   三、航运需求波动特征提取与响应预测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78609" y="12261660"/>
            <a:ext cx="2862073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18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34" name="TextBox 33"/>
          <p:cNvSpPr txBox="1"/>
          <p:nvPr/>
        </p:nvSpPr>
        <p:spPr>
          <a:xfrm>
            <a:off x="2706626" y="12401774"/>
            <a:ext cx="2606039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1854A"/>
                </a:solidFill>
                <a:latin typeface="微软雅黑"/>
                <a:ea typeface="微软雅黑"/>
                <a:cs typeface="微软雅黑"/>
              </a:rPr>
              <a:t>施工扰动下运输能力动态建模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06626" y="12682284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三层级能力输入:航道 · 船闸 · 船舶运力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06626" y="13084620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运输能力动态表征模型:时间特性与空间瓶颈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06626" y="13486956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能力折减表征:折减幅度与持续时间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24729" y="12261660"/>
            <a:ext cx="2862073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18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39" name="TextBox 38"/>
          <p:cNvSpPr txBox="1"/>
          <p:nvPr/>
        </p:nvSpPr>
        <p:spPr>
          <a:xfrm>
            <a:off x="5952747" y="12401773"/>
            <a:ext cx="2606039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1854A"/>
                </a:solidFill>
                <a:latin typeface="微软雅黑"/>
                <a:ea typeface="微软雅黑"/>
                <a:cs typeface="微软雅黑"/>
              </a:rPr>
              <a:t>航运需求波动特征提取与响应预测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52747" y="12682284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需求数据基础:货运量 · 货种结构 · 到达流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52747" y="13084620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波动特征提取:周期性 · 季节性 · 突发性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52747" y="13486957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响应预测:响应时滞与弹性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504688" y="12947460"/>
            <a:ext cx="256032" cy="201168"/>
          </a:xfrm>
          <a:prstGeom prst="rightArrow">
            <a:avLst/>
          </a:prstGeom>
          <a:solidFill>
            <a:srgbClr val="21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44" name="Rounded Rectangle 43"/>
          <p:cNvSpPr/>
          <p:nvPr/>
        </p:nvSpPr>
        <p:spPr>
          <a:xfrm>
            <a:off x="2395728" y="14072172"/>
            <a:ext cx="6473952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45" name="Rounded Rectangle 44"/>
          <p:cNvSpPr/>
          <p:nvPr/>
        </p:nvSpPr>
        <p:spPr>
          <a:xfrm>
            <a:off x="2459737" y="14136179"/>
            <a:ext cx="6345936" cy="365760"/>
          </a:xfrm>
          <a:prstGeom prst="roundRect">
            <a:avLst>
              <a:gd name="adj" fmla="val 30000"/>
            </a:avLst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四、运输能力与需求波动的耦合响应机理   ｜   五、扰动情景下的仿真推演与调控策略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78609" y="14584236"/>
            <a:ext cx="1348738" cy="1005840"/>
          </a:xfrm>
          <a:prstGeom prst="roundRect">
            <a:avLst>
              <a:gd name="adj" fmla="val 10000"/>
            </a:avLst>
          </a:prstGeom>
          <a:solidFill>
            <a:srgbClr val="FCF3D8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响应行为识别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待闸排队 · 绕行转运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船型调整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945635" y="15004860"/>
            <a:ext cx="201168" cy="164592"/>
          </a:xfrm>
          <a:prstGeom prst="rightArrow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48" name="Rounded Rectangle 47"/>
          <p:cNvSpPr/>
          <p:nvPr/>
        </p:nvSpPr>
        <p:spPr>
          <a:xfrm>
            <a:off x="4165092" y="14584236"/>
            <a:ext cx="1348738" cy="1005840"/>
          </a:xfrm>
          <a:prstGeom prst="roundRect">
            <a:avLst>
              <a:gd name="adj" fmla="val 10000"/>
            </a:avLst>
          </a:prstGeom>
          <a:solidFill>
            <a:srgbClr val="FCF3D8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耦合响应模型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能力供给与需求波动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耦合响应建模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5532120" y="15004860"/>
            <a:ext cx="201168" cy="164592"/>
          </a:xfrm>
          <a:prstGeom prst="rightArrow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0" name="Rounded Rectangle 49"/>
          <p:cNvSpPr/>
          <p:nvPr/>
        </p:nvSpPr>
        <p:spPr>
          <a:xfrm>
            <a:off x="5751577" y="14584236"/>
            <a:ext cx="1348738" cy="1005840"/>
          </a:xfrm>
          <a:prstGeom prst="roundRect">
            <a:avLst>
              <a:gd name="adj" fmla="val 10000"/>
            </a:avLst>
          </a:prstGeom>
          <a:solidFill>
            <a:srgbClr val="FCF3D8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失配演化路径与临界阈值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识别劣化阈值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与调节规律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7118604" y="15004860"/>
            <a:ext cx="201168" cy="164592"/>
          </a:xfrm>
          <a:prstGeom prst="rightArrow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2" name="Rounded Rectangle 51"/>
          <p:cNvSpPr/>
          <p:nvPr/>
        </p:nvSpPr>
        <p:spPr>
          <a:xfrm>
            <a:off x="7338061" y="14584236"/>
            <a:ext cx="1348738" cy="100584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仿真推演与调控优化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FCF3D8"/>
                </a:solidFill>
                <a:latin typeface="微软雅黑"/>
                <a:ea typeface="微软雅黑"/>
                <a:cs typeface="微软雅黑"/>
              </a:rPr>
              <a:t>交通流仿真 · 方案评估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FCF3D8"/>
                </a:solidFill>
                <a:latin typeface="微软雅黑"/>
                <a:ea typeface="微软雅黑"/>
                <a:cs typeface="微软雅黑"/>
              </a:rPr>
              <a:t>调控优化策略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84083" y="10030524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多情景扰动库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覆盖不同施工方案、工期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与检修安排的扰动情景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10753344" y="11082082"/>
            <a:ext cx="146304" cy="146304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5" name="Rounded Rectangle 54"/>
          <p:cNvSpPr/>
          <p:nvPr/>
        </p:nvSpPr>
        <p:spPr>
          <a:xfrm>
            <a:off x="9784083" y="11255820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运输能力动态表征模型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能力折减幅度与持续时间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能力动态演化表征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10753344" y="12307379"/>
            <a:ext cx="146304" cy="146304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7" name="Rounded Rectangle 56"/>
          <p:cNvSpPr/>
          <p:nvPr/>
        </p:nvSpPr>
        <p:spPr>
          <a:xfrm>
            <a:off x="9784083" y="12481116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能力—需求耦合响应规律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耦合响应机制 · 失配路径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临界阈值与调节规律</a:t>
            </a:r>
          </a:p>
        </p:txBody>
      </p:sp>
      <p:sp>
        <p:nvSpPr>
          <p:cNvPr id="58" name="Down Arrow 57"/>
          <p:cNvSpPr/>
          <p:nvPr/>
        </p:nvSpPr>
        <p:spPr>
          <a:xfrm>
            <a:off x="10753344" y="13532675"/>
            <a:ext cx="146304" cy="146304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9" name="Rounded Rectangle 58"/>
          <p:cNvSpPr/>
          <p:nvPr/>
        </p:nvSpPr>
        <p:spPr>
          <a:xfrm>
            <a:off x="9784083" y="13706412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调控优化策略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待闸组织 · 运力调配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通航调控优化策略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784083" y="14931708"/>
            <a:ext cx="2084831" cy="658368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为三峡枢纽施工期</a:t>
            </a:r>
          </a:p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航运保障提供决策支撑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" name="总标题_1">
            <a:extLst xmlns:a="http://schemas.openxmlformats.org/drawingml/2006/main">
              <a:ext uri="{FF2B5EF4-FFF2-40B4-BE49-F238E27FC236}">
                <a16:creationId xmlns:a16="http://schemas.microsoft.com/office/drawing/2014/main" id="{469575C4-E52A-4449-88DC-3885358C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95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2" name="子课题名称_2">
            <a:extLst xmlns:a="http://schemas.openxmlformats.org/drawingml/2006/main">
              <a:ext uri="{FF2B5EF4-FFF2-40B4-BE49-F238E27FC236}">
                <a16:creationId xmlns:a16="http://schemas.microsoft.com/office/drawing/2014/main" id="{8BE9C43F-FA8A-4734-9408-9EA54E42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"/>
            <a:ext cx="581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枢纽施工扰动下航运系统波动响应研究</a:t>
            </a:r>
          </a:p>
        </p:txBody>
      </p:sp>
      <p:sp>
        <p:nvSpPr>
          <p:cNvPr id="3" name="容器_3">
            <a:extLst xmlns:a="http://schemas.openxmlformats.org/drawingml/2006/main">
              <a:ext uri="{FF2B5EF4-FFF2-40B4-BE49-F238E27FC236}">
                <a16:creationId xmlns:a16="http://schemas.microsoft.com/office/drawing/2014/main" id="{2669F7C3-2B8B-4F3D-A4B2-542D9AEC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1057858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</a:ln>
        </p:spPr>
      </p:sp>
      <p:sp>
        <p:nvSpPr>
          <p:cNvPr id="4" name="研究基础侧栏_4">
            <a:extLst xmlns:a="http://schemas.openxmlformats.org/drawingml/2006/main">
              <a:ext uri="{FF2B5EF4-FFF2-40B4-BE49-F238E27FC236}">
                <a16:creationId xmlns:a16="http://schemas.microsoft.com/office/drawing/2014/main" id="{B5CE552A-E25A-41D6-BDB9-35C7CE35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790575"/>
            <a:ext cx="457200" cy="235839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成果侧栏_5">
            <a:extLst xmlns:a="http://schemas.openxmlformats.org/drawingml/2006/main">
              <a:ext uri="{FF2B5EF4-FFF2-40B4-BE49-F238E27FC236}">
                <a16:creationId xmlns:a16="http://schemas.microsoft.com/office/drawing/2014/main" id="{05BC309E-1F6B-470D-AD3D-D52208DF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790575"/>
            <a:ext cx="457200" cy="235839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" name="文字_6">
            <a:extLst xmlns:a="http://schemas.openxmlformats.org/drawingml/2006/main">
              <a:ext uri="{FF2B5EF4-FFF2-40B4-BE49-F238E27FC236}">
                <a16:creationId xmlns:a16="http://schemas.microsoft.com/office/drawing/2014/main" id="{5747B509-9B85-4C25-81F6-718D1B09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257175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7" name="文字_7">
            <a:extLst xmlns:a="http://schemas.openxmlformats.org/drawingml/2006/main">
              <a:ext uri="{FF2B5EF4-FFF2-40B4-BE49-F238E27FC236}">
                <a16:creationId xmlns:a16="http://schemas.microsoft.com/office/drawing/2014/main" id="{D0369BED-16E1-4A1B-B4CE-D633A6FA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257175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8" name="文字_8">
            <a:extLst xmlns:a="http://schemas.openxmlformats.org/drawingml/2006/main">
              <a:ext uri="{FF2B5EF4-FFF2-40B4-BE49-F238E27FC236}">
                <a16:creationId xmlns:a16="http://schemas.microsoft.com/office/drawing/2014/main" id="{96731E95-B9DA-4A2E-9A3E-1F07CCA1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1095375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9" name="文字_9">
            <a:extLst xmlns:a="http://schemas.openxmlformats.org/drawingml/2006/main">
              <a:ext uri="{FF2B5EF4-FFF2-40B4-BE49-F238E27FC236}">
                <a16:creationId xmlns:a16="http://schemas.microsoft.com/office/drawing/2014/main" id="{3E856275-EC3B-48A9-AFB6-949F09BD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1095375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0" name="文字_10">
            <a:extLst xmlns:a="http://schemas.openxmlformats.org/drawingml/2006/main">
              <a:ext uri="{FF2B5EF4-FFF2-40B4-BE49-F238E27FC236}">
                <a16:creationId xmlns:a16="http://schemas.microsoft.com/office/drawing/2014/main" id="{6F5EB25C-8E5E-4D99-BAC6-AA22C451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1981200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1" name="文字_11">
            <a:extLst xmlns:a="http://schemas.openxmlformats.org/drawingml/2006/main">
              <a:ext uri="{FF2B5EF4-FFF2-40B4-BE49-F238E27FC236}">
                <a16:creationId xmlns:a16="http://schemas.microsoft.com/office/drawing/2014/main" id="{6068B074-9208-496C-A3A1-CD445CB6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1981200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2" name="施工场景 与通航约束_12">
            <a:extLst xmlns:a="http://schemas.openxmlformats.org/drawingml/2006/main">
              <a:ext uri="{FF2B5EF4-FFF2-40B4-BE49-F238E27FC236}">
                <a16:creationId xmlns:a16="http://schemas.microsoft.com/office/drawing/2014/main" id="{4E36F1A9-B795-4737-BEF5-11029E90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381125"/>
            <a:ext cx="1188720" cy="247650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文字_13">
            <a:extLst xmlns:a="http://schemas.openxmlformats.org/drawingml/2006/main">
              <a:ext uri="{FF2B5EF4-FFF2-40B4-BE49-F238E27FC236}">
                <a16:creationId xmlns:a16="http://schemas.microsoft.com/office/drawing/2014/main" id="{08B72FB9-C693-4737-AA40-6FE3757D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1466850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施工场景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与通航约束</a:t>
            </a:r>
          </a:p>
        </p:txBody>
      </p:sp>
      <p:sp>
        <p:nvSpPr>
          <p:cNvPr id="14" name="文字_14">
            <a:extLst xmlns:a="http://schemas.openxmlformats.org/drawingml/2006/main">
              <a:ext uri="{FF2B5EF4-FFF2-40B4-BE49-F238E27FC236}">
                <a16:creationId xmlns:a16="http://schemas.microsoft.com/office/drawing/2014/main" id="{0DE7F0EF-960B-4CF9-AD00-A98C63BC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1981200"/>
            <a:ext cx="101727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施工方案与工期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施工阶段与作业范围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检修安排与政策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停限航时间窗口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航道与船闸条件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组织规则及船型限制</a:t>
            </a:r>
          </a:p>
        </p:txBody>
      </p:sp>
      <p:sp>
        <p:nvSpPr>
          <p:cNvPr id="15" name="运行与货类 多源数据_15">
            <a:extLst xmlns:a="http://schemas.openxmlformats.org/drawingml/2006/main">
              <a:ext uri="{FF2B5EF4-FFF2-40B4-BE49-F238E27FC236}">
                <a16:creationId xmlns:a16="http://schemas.microsoft.com/office/drawing/2014/main" id="{83F4922B-F523-493D-B070-44F91CC7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143375"/>
            <a:ext cx="1188720" cy="304800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文字_16">
            <a:extLst xmlns:a="http://schemas.openxmlformats.org/drawingml/2006/main">
              <a:ext uri="{FF2B5EF4-FFF2-40B4-BE49-F238E27FC236}">
                <a16:creationId xmlns:a16="http://schemas.microsoft.com/office/drawing/2014/main" id="{3C4C587A-DFD9-4632-BDFE-53E8D05F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4229100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运行与货类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多源数据</a:t>
            </a:r>
          </a:p>
        </p:txBody>
      </p:sp>
      <p:sp>
        <p:nvSpPr>
          <p:cNvPr id="17" name="文字_17">
            <a:extLst xmlns:a="http://schemas.openxmlformats.org/drawingml/2006/main">
              <a:ext uri="{FF2B5EF4-FFF2-40B4-BE49-F238E27FC236}">
                <a16:creationId xmlns:a16="http://schemas.microsoft.com/office/drawing/2014/main" id="{87C2EFFD-0C3F-48F5-B395-D0695792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4743450"/>
            <a:ext cx="101727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AIS轨迹与到达流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实际通过量与过坝货量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港口作业与船期记录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重点货类和货种结构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起讫点与运输批量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发运节奏与交付期限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替代运输条件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货类运输时空特征</a:t>
            </a:r>
          </a:p>
        </p:txBody>
      </p:sp>
      <p:sp>
        <p:nvSpPr>
          <p:cNvPr id="18" name="常态对照 与外生条件_18">
            <a:extLst xmlns:a="http://schemas.openxmlformats.org/drawingml/2006/main">
              <a:ext uri="{FF2B5EF4-FFF2-40B4-BE49-F238E27FC236}">
                <a16:creationId xmlns:a16="http://schemas.microsoft.com/office/drawing/2014/main" id="{C1EBE671-D30A-465F-844D-04FE14FF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7477125"/>
            <a:ext cx="1188720" cy="257175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文字_19">
            <a:extLst xmlns:a="http://schemas.openxmlformats.org/drawingml/2006/main">
              <a:ext uri="{FF2B5EF4-FFF2-40B4-BE49-F238E27FC236}">
                <a16:creationId xmlns:a16="http://schemas.microsoft.com/office/drawing/2014/main" id="{5DE67D84-99F8-4D40-AF22-7CD1E4A3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7562850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常态对照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与外生条件</a:t>
            </a:r>
          </a:p>
        </p:txBody>
      </p:sp>
      <p:sp>
        <p:nvSpPr>
          <p:cNvPr id="20" name="文字_20">
            <a:extLst xmlns:a="http://schemas.openxmlformats.org/drawingml/2006/main">
              <a:ext uri="{FF2B5EF4-FFF2-40B4-BE49-F238E27FC236}">
                <a16:creationId xmlns:a16="http://schemas.microsoft.com/office/drawing/2014/main" id="{87219467-FBE8-4C04-8CF7-9427A7E1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8077200"/>
            <a:ext cx="101727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无施工运行基准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水文与天气条件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周期与季节性需求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节假日及其他管制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燃料价格与合同条件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初始负荷与积压状态</a:t>
            </a:r>
          </a:p>
        </p:txBody>
      </p:sp>
      <p:sp>
        <p:nvSpPr>
          <p:cNvPr id="21" name="市场与主体 行为数据_21">
            <a:extLst xmlns:a="http://schemas.openxmlformats.org/drawingml/2006/main">
              <a:ext uri="{FF2B5EF4-FFF2-40B4-BE49-F238E27FC236}">
                <a16:creationId xmlns:a16="http://schemas.microsoft.com/office/drawing/2014/main" id="{3467973F-529F-4560-87AD-EB12B7D6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1001375"/>
            <a:ext cx="1188720" cy="3381375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文字_22">
            <a:extLst xmlns:a="http://schemas.openxmlformats.org/drawingml/2006/main">
              <a:ext uri="{FF2B5EF4-FFF2-40B4-BE49-F238E27FC236}">
                <a16:creationId xmlns:a16="http://schemas.microsoft.com/office/drawing/2014/main" id="{5F13E4F9-528B-4293-93F1-37D9A2F6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11087100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市场与主体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行为数据</a:t>
            </a:r>
          </a:p>
        </p:txBody>
      </p:sp>
      <p:sp>
        <p:nvSpPr>
          <p:cNvPr id="23" name="文字_23">
            <a:extLst xmlns:a="http://schemas.openxmlformats.org/drawingml/2006/main">
              <a:ext uri="{FF2B5EF4-FFF2-40B4-BE49-F238E27FC236}">
                <a16:creationId xmlns:a16="http://schemas.microsoft.com/office/drawing/2014/main" id="{747C2F00-F20E-4216-BA60-3399FCE7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11601450"/>
            <a:ext cx="1017270" cy="2695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分货类航线船型运价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等待航行与转运成本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港航经营收益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船舶周转与承运意愿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运力配置与航次安排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待闸绕行和船型调整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发运时间与通道选择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行为调查及组织记录</a:t>
            </a:r>
          </a:p>
        </p:txBody>
      </p:sp>
      <p:sp>
        <p:nvSpPr>
          <p:cNvPr id="24" name="典型事件 与检验数据_24">
            <a:extLst xmlns:a="http://schemas.openxmlformats.org/drawingml/2006/main">
              <a:ext uri="{FF2B5EF4-FFF2-40B4-BE49-F238E27FC236}">
                <a16:creationId xmlns:a16="http://schemas.microsoft.com/office/drawing/2014/main" id="{0832D24A-EE8C-48E6-B516-F0CD9B6A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6859250"/>
            <a:ext cx="1188720" cy="2333625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文字_25">
            <a:extLst xmlns:a="http://schemas.openxmlformats.org/drawingml/2006/main">
              <a:ext uri="{FF2B5EF4-FFF2-40B4-BE49-F238E27FC236}">
                <a16:creationId xmlns:a16="http://schemas.microsoft.com/office/drawing/2014/main" id="{2CEFC1A6-2294-4DF7-867C-3B840E89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16944975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典型事件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与检验数据</a:t>
            </a:r>
          </a:p>
        </p:txBody>
      </p:sp>
      <p:sp>
        <p:nvSpPr>
          <p:cNvPr id="26" name="文字_26">
            <a:extLst xmlns:a="http://schemas.openxmlformats.org/drawingml/2006/main">
              <a:ext uri="{FF2B5EF4-FFF2-40B4-BE49-F238E27FC236}">
                <a16:creationId xmlns:a16="http://schemas.microsoft.com/office/drawing/2014/main" id="{2472BE07-8753-4989-99DB-8718794F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17459325"/>
            <a:ext cx="101727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历史施工与检修事件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事件前中后运行记录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到达服务与排队数据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船期运价成本变化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校准与独立检验事件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缺失异常及口径核对</a:t>
            </a:r>
          </a:p>
        </p:txBody>
      </p:sp>
      <p:sp>
        <p:nvSpPr>
          <p:cNvPr id="27" name="工作基础 与子课题协同_27">
            <a:extLst xmlns:a="http://schemas.openxmlformats.org/drawingml/2006/main">
              <a:ext uri="{FF2B5EF4-FFF2-40B4-BE49-F238E27FC236}">
                <a16:creationId xmlns:a16="http://schemas.microsoft.com/office/drawing/2014/main" id="{5A92CA7D-86B6-4B9C-834D-39762AA3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764500"/>
            <a:ext cx="1188720" cy="352425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8" name="文字_28">
            <a:extLst xmlns:a="http://schemas.openxmlformats.org/drawingml/2006/main">
              <a:ext uri="{FF2B5EF4-FFF2-40B4-BE49-F238E27FC236}">
                <a16:creationId xmlns:a16="http://schemas.microsoft.com/office/drawing/2014/main" id="{A0057754-3709-4D73-8AE0-2EE829B1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20850225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工作基础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与子课题协同</a:t>
            </a:r>
          </a:p>
        </p:txBody>
      </p:sp>
      <p:sp>
        <p:nvSpPr>
          <p:cNvPr id="29" name="文字_29">
            <a:extLst xmlns:a="http://schemas.openxmlformats.org/drawingml/2006/main">
              <a:ext uri="{FF2B5EF4-FFF2-40B4-BE49-F238E27FC236}">
                <a16:creationId xmlns:a16="http://schemas.microsoft.com/office/drawing/2014/main" id="{28892D10-8FF9-4EF9-AEB2-B0B250F5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21364575"/>
            <a:ext cx="101727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空间经济整体模型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区域需求与网络背景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综合交通超级网络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多通道联系及仿真基础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子课题一数据与特征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子课题二路径及假设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子课题四需求情景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子课题五尺度与接口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补充精细航运模块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核查时间分辨率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与水运校准能力</a:t>
            </a:r>
          </a:p>
        </p:txBody>
      </p:sp>
      <p:sp>
        <p:nvSpPr>
          <p:cNvPr id="30" name="研究模块_30">
            <a:extLst xmlns:a="http://schemas.openxmlformats.org/drawingml/2006/main">
              <a:ext uri="{FF2B5EF4-FFF2-40B4-BE49-F238E27FC236}">
                <a16:creationId xmlns:a16="http://schemas.microsoft.com/office/drawing/2014/main" id="{B33F4774-9CBC-45A9-952F-DAA70758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790575"/>
            <a:ext cx="6473952" cy="8620125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1" name="模块标题背景_31">
            <a:extLst xmlns:a="http://schemas.openxmlformats.org/drawingml/2006/main">
              <a:ext uri="{FF2B5EF4-FFF2-40B4-BE49-F238E27FC236}">
                <a16:creationId xmlns:a16="http://schemas.microsoft.com/office/drawing/2014/main" id="{D5B70634-CA68-4F28-980F-6549031F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854583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2" name="模块标题_32">
            <a:extLst xmlns:a="http://schemas.openxmlformats.org/drawingml/2006/main">
              <a:ext uri="{FF2B5EF4-FFF2-40B4-BE49-F238E27FC236}">
                <a16:creationId xmlns:a16="http://schemas.microsoft.com/office/drawing/2014/main" id="{D8CDD22A-5C07-47D5-AF62-7A5643BB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85725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施工扰动表征与航运运行波动响应</a:t>
            </a:r>
          </a:p>
        </p:txBody>
      </p:sp>
      <p:sp>
        <p:nvSpPr>
          <p:cNvPr id="33" name="施工扰动参数化_33">
            <a:extLst xmlns:a="http://schemas.openxmlformats.org/drawingml/2006/main">
              <a:ext uri="{FF2B5EF4-FFF2-40B4-BE49-F238E27FC236}">
                <a16:creationId xmlns:a16="http://schemas.microsoft.com/office/drawing/2014/main" id="{3E3C6284-60A1-43A2-A4B2-B6D865EE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381125"/>
            <a:ext cx="1816608" cy="1647825"/>
          </a:xfrm>
          <a:prstGeom xmlns:a="http://schemas.openxmlformats.org/drawingml/2006/main" prst="roundRect">
            <a:avLst>
              <a:gd name="adj" fmla="val 5780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4" name="文字_34">
            <a:extLst xmlns:a="http://schemas.openxmlformats.org/drawingml/2006/main">
              <a:ext uri="{FF2B5EF4-FFF2-40B4-BE49-F238E27FC236}">
                <a16:creationId xmlns:a16="http://schemas.microsoft.com/office/drawing/2014/main" id="{86C273D3-033C-4F10-B12C-9C685D49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466850"/>
            <a:ext cx="168325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施工扰动参数化</a:t>
            </a:r>
          </a:p>
        </p:txBody>
      </p:sp>
      <p:sp>
        <p:nvSpPr>
          <p:cNvPr id="35" name="文字_35">
            <a:extLst xmlns:a="http://schemas.openxmlformats.org/drawingml/2006/main">
              <a:ext uri="{FF2B5EF4-FFF2-40B4-BE49-F238E27FC236}">
                <a16:creationId xmlns:a16="http://schemas.microsoft.com/office/drawing/2014/main" id="{4C3BB5C1-0F93-43E8-B944-7EDDBF9A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885950"/>
            <a:ext cx="1645158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阶段、范围、强度与持续时间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施工方案、工期与检修组合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阶段切换及工期不确定性</a:t>
            </a:r>
          </a:p>
        </p:txBody>
      </p:sp>
      <p:sp>
        <p:nvSpPr>
          <p:cNvPr id="36" name="通航约束解析_36">
            <a:extLst xmlns:a="http://schemas.openxmlformats.org/drawingml/2006/main">
              <a:ext uri="{FF2B5EF4-FFF2-40B4-BE49-F238E27FC236}">
                <a16:creationId xmlns:a16="http://schemas.microsoft.com/office/drawing/2014/main" id="{1D35F323-F47A-473D-8509-091C572B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381125"/>
            <a:ext cx="1816608" cy="1647825"/>
          </a:xfrm>
          <a:prstGeom xmlns:a="http://schemas.openxmlformats.org/drawingml/2006/main" prst="roundRect">
            <a:avLst>
              <a:gd name="adj" fmla="val 5780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7" name="文字_37">
            <a:extLst xmlns:a="http://schemas.openxmlformats.org/drawingml/2006/main">
              <a:ext uri="{FF2B5EF4-FFF2-40B4-BE49-F238E27FC236}">
                <a16:creationId xmlns:a16="http://schemas.microsoft.com/office/drawing/2014/main" id="{4447F361-1597-4679-B8A6-60F76630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466850"/>
            <a:ext cx="168325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通航约束解析</a:t>
            </a:r>
          </a:p>
        </p:txBody>
      </p:sp>
      <p:sp>
        <p:nvSpPr>
          <p:cNvPr id="38" name="文字_38">
            <a:extLst xmlns:a="http://schemas.openxmlformats.org/drawingml/2006/main">
              <a:ext uri="{FF2B5EF4-FFF2-40B4-BE49-F238E27FC236}">
                <a16:creationId xmlns:a16="http://schemas.microsoft.com/office/drawing/2014/main" id="{C1110C7D-F48C-41D0-A554-4869F705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85950"/>
            <a:ext cx="1645158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航道通过限制与船闸停航窗口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可用时段、服务速率与船型限制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放行节奏、优先规则与作业衔接</a:t>
            </a:r>
          </a:p>
        </p:txBody>
      </p:sp>
      <p:sp>
        <p:nvSpPr>
          <p:cNvPr id="39" name="多情景扰动库_39">
            <a:extLst xmlns:a="http://schemas.openxmlformats.org/drawingml/2006/main">
              <a:ext uri="{FF2B5EF4-FFF2-40B4-BE49-F238E27FC236}">
                <a16:creationId xmlns:a16="http://schemas.microsoft.com/office/drawing/2014/main" id="{C677D267-B22B-4C67-BB8E-E3E6D878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192" y="1381125"/>
            <a:ext cx="1816608" cy="1647825"/>
          </a:xfrm>
          <a:prstGeom xmlns:a="http://schemas.openxmlformats.org/drawingml/2006/main" prst="roundRect">
            <a:avLst>
              <a:gd name="adj" fmla="val 5780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0" name="文字_40">
            <a:extLst xmlns:a="http://schemas.openxmlformats.org/drawingml/2006/main">
              <a:ext uri="{FF2B5EF4-FFF2-40B4-BE49-F238E27FC236}">
                <a16:creationId xmlns:a16="http://schemas.microsoft.com/office/drawing/2014/main" id="{38964C1C-29F8-4A7B-869A-BA5518C4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867" y="1466850"/>
            <a:ext cx="168325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多情景扰动库</a:t>
            </a:r>
          </a:p>
        </p:txBody>
      </p:sp>
      <p:sp>
        <p:nvSpPr>
          <p:cNvPr id="41" name="文字_41">
            <a:extLst xmlns:a="http://schemas.openxmlformats.org/drawingml/2006/main">
              <a:ext uri="{FF2B5EF4-FFF2-40B4-BE49-F238E27FC236}">
                <a16:creationId xmlns:a16="http://schemas.microsoft.com/office/drawing/2014/main" id="{7F22109F-23D8-460A-BBBF-1638096E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917" y="1885950"/>
            <a:ext cx="1645158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无施工基准与典型施工阶段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不同强度、工期及恢复安排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施工与水文、需求高峰叠加</a:t>
            </a:r>
          </a:p>
        </p:txBody>
      </p:sp>
      <p:sp>
        <p:nvSpPr>
          <p:cNvPr id="42" name="流程箭头_42">
            <a:extLst xmlns:a="http://schemas.openxmlformats.org/drawingml/2006/main">
              <a:ext uri="{FF2B5EF4-FFF2-40B4-BE49-F238E27FC236}">
                <a16:creationId xmlns:a16="http://schemas.microsoft.com/office/drawing/2014/main" id="{8C7F34C2-E16D-4F30-B2B2-2E083ECB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792" y="1971675"/>
            <a:ext cx="256032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3" name="流程箭头_43">
            <a:extLst xmlns:a="http://schemas.openxmlformats.org/drawingml/2006/main">
              <a:ext uri="{FF2B5EF4-FFF2-40B4-BE49-F238E27FC236}">
                <a16:creationId xmlns:a16="http://schemas.microsoft.com/office/drawing/2014/main" id="{320C8123-2075-438A-A7C3-ECC9F804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584" y="1971675"/>
            <a:ext cx="256032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4" name="文字_44">
            <a:extLst xmlns:a="http://schemas.openxmlformats.org/drawingml/2006/main">
              <a:ext uri="{FF2B5EF4-FFF2-40B4-BE49-F238E27FC236}">
                <a16:creationId xmlns:a16="http://schemas.microsoft.com/office/drawing/2014/main" id="{3FE592AF-F24E-4423-B712-17B0FB91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3124200"/>
            <a:ext cx="6108192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方法：施工事件窗口匹配与参数化表达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统一情景编号、时间尺度、设施与通道口径</a:t>
            </a:r>
          </a:p>
        </p:txBody>
      </p:sp>
      <p:sp>
        <p:nvSpPr>
          <p:cNvPr id="45" name="流程箭头_45">
            <a:extLst xmlns:a="http://schemas.openxmlformats.org/drawingml/2006/main">
              <a:ext uri="{FF2B5EF4-FFF2-40B4-BE49-F238E27FC236}">
                <a16:creationId xmlns:a16="http://schemas.microsoft.com/office/drawing/2014/main" id="{B444DABB-3C5B-4C12-A3D6-11E72159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95675"/>
            <a:ext cx="1524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6" name="容器_46">
            <a:extLst xmlns:a="http://schemas.openxmlformats.org/drawingml/2006/main">
              <a:ext uri="{FF2B5EF4-FFF2-40B4-BE49-F238E27FC236}">
                <a16:creationId xmlns:a16="http://schemas.microsoft.com/office/drawing/2014/main" id="{BA0DC5E0-BE00-400C-BA33-24E4EA00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3752850"/>
            <a:ext cx="2862072" cy="3162300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16193">
            <a:solidFill>
              <a:srgbClr val="2E75B6"/>
            </a:solidFill>
          </a:ln>
        </p:spPr>
      </p:sp>
      <p:sp>
        <p:nvSpPr>
          <p:cNvPr id="47" name="容器_47">
            <a:extLst xmlns:a="http://schemas.openxmlformats.org/drawingml/2006/main">
              <a:ext uri="{FF2B5EF4-FFF2-40B4-BE49-F238E27FC236}">
                <a16:creationId xmlns:a16="http://schemas.microsoft.com/office/drawing/2014/main" id="{C0FDF277-B78E-4412-B767-0AE0CEAD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752850"/>
            <a:ext cx="2862072" cy="3162300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16193">
            <a:solidFill>
              <a:srgbClr val="2E75B6"/>
            </a:solidFill>
          </a:ln>
        </p:spPr>
      </p:sp>
      <p:sp>
        <p:nvSpPr>
          <p:cNvPr id="48" name="文字_48">
            <a:extLst xmlns:a="http://schemas.openxmlformats.org/drawingml/2006/main">
              <a:ext uri="{FF2B5EF4-FFF2-40B4-BE49-F238E27FC236}">
                <a16:creationId xmlns:a16="http://schemas.microsoft.com/office/drawing/2014/main" id="{350A27CF-C9E5-4C0B-B06A-C52CA68A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385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能力供给动态建模</a:t>
            </a:r>
          </a:p>
        </p:txBody>
      </p:sp>
      <p:sp>
        <p:nvSpPr>
          <p:cNvPr id="49" name="文字_49">
            <a:extLst xmlns:a="http://schemas.openxmlformats.org/drawingml/2006/main">
              <a:ext uri="{FF2B5EF4-FFF2-40B4-BE49-F238E27FC236}">
                <a16:creationId xmlns:a16="http://schemas.microsoft.com/office/drawing/2014/main" id="{E3054232-CD14-4824-8E98-697ABF5F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8385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需求与到达过程建模</a:t>
            </a:r>
          </a:p>
        </p:txBody>
      </p:sp>
      <p:sp>
        <p:nvSpPr>
          <p:cNvPr id="50" name="航道、船闸、船舶运力三层级输入_50">
            <a:extLst xmlns:a="http://schemas.openxmlformats.org/drawingml/2006/main">
              <a:ext uri="{FF2B5EF4-FFF2-40B4-BE49-F238E27FC236}">
                <a16:creationId xmlns:a16="http://schemas.microsoft.com/office/drawing/2014/main" id="{504FB769-D237-4A68-A656-E4DF078B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2910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1" name="文字_51">
            <a:extLst xmlns:a="http://schemas.openxmlformats.org/drawingml/2006/main">
              <a:ext uri="{FF2B5EF4-FFF2-40B4-BE49-F238E27FC236}">
                <a16:creationId xmlns:a16="http://schemas.microsoft.com/office/drawing/2014/main" id="{DC671F1D-C686-4872-A9D5-6B240031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31482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航道、船闸、船舶运力三层级输入</a:t>
            </a:r>
          </a:p>
        </p:txBody>
      </p:sp>
      <p:sp>
        <p:nvSpPr>
          <p:cNvPr id="52" name="文字_52">
            <a:extLst xmlns:a="http://schemas.openxmlformats.org/drawingml/2006/main">
              <a:ext uri="{FF2B5EF4-FFF2-40B4-BE49-F238E27FC236}">
                <a16:creationId xmlns:a16="http://schemas.microsoft.com/office/drawing/2014/main" id="{DD4B9140-253A-4F8B-9603-4D208D99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62915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通行条件与设施可用性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服务过程及船型组合</a:t>
            </a:r>
          </a:p>
        </p:txBody>
      </p:sp>
      <p:sp>
        <p:nvSpPr>
          <p:cNvPr id="53" name="有效能力与扰动折减映射_53">
            <a:extLst xmlns:a="http://schemas.openxmlformats.org/drawingml/2006/main">
              <a:ext uri="{FF2B5EF4-FFF2-40B4-BE49-F238E27FC236}">
                <a16:creationId xmlns:a16="http://schemas.microsoft.com/office/drawing/2014/main" id="{F9A470AD-8CB2-4A53-B994-BEE692C1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95875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4" name="文字_54">
            <a:extLst xmlns:a="http://schemas.openxmlformats.org/drawingml/2006/main">
              <a:ext uri="{FF2B5EF4-FFF2-40B4-BE49-F238E27FC236}">
                <a16:creationId xmlns:a16="http://schemas.microsoft.com/office/drawing/2014/main" id="{AE6DF5C8-D1E3-4147-846B-547BA111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181600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有效能力与扰动折减映射</a:t>
            </a:r>
          </a:p>
        </p:txBody>
      </p:sp>
      <p:sp>
        <p:nvSpPr>
          <p:cNvPr id="55" name="文字_55">
            <a:extLst xmlns:a="http://schemas.openxmlformats.org/drawingml/2006/main">
              <a:ext uri="{FF2B5EF4-FFF2-40B4-BE49-F238E27FC236}">
                <a16:creationId xmlns:a16="http://schemas.microsoft.com/office/drawing/2014/main" id="{29EA268F-EAF8-4D0B-8158-87AA2FDA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495925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服务速率、可用时间及组织规则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扰动强度对应能力折减与恢复</a:t>
            </a:r>
          </a:p>
        </p:txBody>
      </p:sp>
      <p:sp>
        <p:nvSpPr>
          <p:cNvPr id="56" name="能力变化时空特征_56">
            <a:extLst xmlns:a="http://schemas.openxmlformats.org/drawingml/2006/main">
              <a:ext uri="{FF2B5EF4-FFF2-40B4-BE49-F238E27FC236}">
                <a16:creationId xmlns:a16="http://schemas.microsoft.com/office/drawing/2014/main" id="{6D0A3DCC-1E1E-4F83-B746-11D6A182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96265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7" name="文字_57">
            <a:extLst xmlns:a="http://schemas.openxmlformats.org/drawingml/2006/main">
              <a:ext uri="{FF2B5EF4-FFF2-40B4-BE49-F238E27FC236}">
                <a16:creationId xmlns:a16="http://schemas.microsoft.com/office/drawing/2014/main" id="{184594BB-A721-472C-B97F-986F607A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604837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能力变化时空特征</a:t>
            </a:r>
          </a:p>
        </p:txBody>
      </p:sp>
      <p:sp>
        <p:nvSpPr>
          <p:cNvPr id="58" name="文字_58">
            <a:extLst xmlns:a="http://schemas.openxmlformats.org/drawingml/2006/main">
              <a:ext uri="{FF2B5EF4-FFF2-40B4-BE49-F238E27FC236}">
                <a16:creationId xmlns:a16="http://schemas.microsoft.com/office/drawing/2014/main" id="{E9B028D6-6EAE-424C-BF43-14377475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36270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折减幅度、持续时间与恢复过程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能力时间特性及空间瓶颈</a:t>
            </a:r>
          </a:p>
        </p:txBody>
      </p:sp>
      <p:sp>
        <p:nvSpPr>
          <p:cNvPr id="59" name="运输需求与船舶到达过程_59">
            <a:extLst xmlns:a="http://schemas.openxmlformats.org/drawingml/2006/main">
              <a:ext uri="{FF2B5EF4-FFF2-40B4-BE49-F238E27FC236}">
                <a16:creationId xmlns:a16="http://schemas.microsoft.com/office/drawing/2014/main" id="{85FFC66E-C525-4149-8DFC-AD78E673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22910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0" name="文字_60">
            <a:extLst xmlns:a="http://schemas.openxmlformats.org/drawingml/2006/main">
              <a:ext uri="{FF2B5EF4-FFF2-40B4-BE49-F238E27FC236}">
                <a16:creationId xmlns:a16="http://schemas.microsoft.com/office/drawing/2014/main" id="{1CA593D6-E5DB-4BC1-A0E3-50171D17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1482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运输需求与船舶到达过程</a:t>
            </a:r>
          </a:p>
        </p:txBody>
      </p:sp>
      <p:sp>
        <p:nvSpPr>
          <p:cNvPr id="61" name="文字_61">
            <a:extLst xmlns:a="http://schemas.openxmlformats.org/drawingml/2006/main">
              <a:ext uri="{FF2B5EF4-FFF2-40B4-BE49-F238E27FC236}">
                <a16:creationId xmlns:a16="http://schemas.microsoft.com/office/drawing/2014/main" id="{AB741544-2B64-49F9-8329-98C7110C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2915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货类、起讫点及船型时空分布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区分潜在需求与实际实现流量</a:t>
            </a:r>
          </a:p>
        </p:txBody>
      </p:sp>
      <p:sp>
        <p:nvSpPr>
          <p:cNvPr id="62" name="常态需求波动分解_62">
            <a:extLst xmlns:a="http://schemas.openxmlformats.org/drawingml/2006/main">
              <a:ext uri="{FF2B5EF4-FFF2-40B4-BE49-F238E27FC236}">
                <a16:creationId xmlns:a16="http://schemas.microsoft.com/office/drawing/2014/main" id="{5EE06CD0-EAC3-4FE3-AD78-82FF9372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095875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3" name="文字_63">
            <a:extLst xmlns:a="http://schemas.openxmlformats.org/drawingml/2006/main">
              <a:ext uri="{FF2B5EF4-FFF2-40B4-BE49-F238E27FC236}">
                <a16:creationId xmlns:a16="http://schemas.microsoft.com/office/drawing/2014/main" id="{2D9635A3-5C88-4EF4-BAC7-4C1435F8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81600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常态需求波动分解</a:t>
            </a:r>
          </a:p>
        </p:txBody>
      </p:sp>
      <p:sp>
        <p:nvSpPr>
          <p:cNvPr id="64" name="文字_64">
            <a:extLst xmlns:a="http://schemas.openxmlformats.org/drawingml/2006/main">
              <a:ext uri="{FF2B5EF4-FFF2-40B4-BE49-F238E27FC236}">
                <a16:creationId xmlns:a16="http://schemas.microsoft.com/office/drawing/2014/main" id="{53F12352-4697-4311-9762-E9178B16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495925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周期性、季节性及突发性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控制水文、天气及非施工因素</a:t>
            </a:r>
          </a:p>
        </p:txBody>
      </p:sp>
      <p:sp>
        <p:nvSpPr>
          <p:cNvPr id="65" name="施工增量响应识别_65">
            <a:extLst xmlns:a="http://schemas.openxmlformats.org/drawingml/2006/main">
              <a:ext uri="{FF2B5EF4-FFF2-40B4-BE49-F238E27FC236}">
                <a16:creationId xmlns:a16="http://schemas.microsoft.com/office/drawing/2014/main" id="{953DC81E-6B53-47B1-9358-7019E95F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96265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6" name="文字_66">
            <a:extLst xmlns:a="http://schemas.openxmlformats.org/drawingml/2006/main">
              <a:ext uri="{FF2B5EF4-FFF2-40B4-BE49-F238E27FC236}">
                <a16:creationId xmlns:a16="http://schemas.microsoft.com/office/drawing/2014/main" id="{B8967DB6-372C-4975-81BA-FE395A8C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04837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施工增量响应识别</a:t>
            </a:r>
          </a:p>
        </p:txBody>
      </p:sp>
      <p:sp>
        <p:nvSpPr>
          <p:cNvPr id="67" name="文字_67">
            <a:extLst xmlns:a="http://schemas.openxmlformats.org/drawingml/2006/main">
              <a:ext uri="{FF2B5EF4-FFF2-40B4-BE49-F238E27FC236}">
                <a16:creationId xmlns:a16="http://schemas.microsoft.com/office/drawing/2014/main" id="{12266CC6-BEDE-4679-A3D4-32CF36D5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36270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基准与扰动情景对照及事件分析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响应幅度、时滞与需求弹性</a:t>
            </a:r>
          </a:p>
        </p:txBody>
      </p:sp>
      <p:sp>
        <p:nvSpPr>
          <p:cNvPr id="68" name="连接线_68">
            <a:extLst xmlns:a="http://schemas.openxmlformats.org/drawingml/2006/main">
              <a:ext uri="{FF2B5EF4-FFF2-40B4-BE49-F238E27FC236}">
                <a16:creationId xmlns:a16="http://schemas.microsoft.com/office/drawing/2014/main" id="{7B51A4E8-36FC-49E4-8391-D872A2E2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70008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69" name="连接线_69">
            <a:extLst xmlns:a="http://schemas.openxmlformats.org/drawingml/2006/main">
              <a:ext uri="{FF2B5EF4-FFF2-40B4-BE49-F238E27FC236}">
                <a16:creationId xmlns:a16="http://schemas.microsoft.com/office/drawing/2014/main" id="{7A44031B-2C3D-4F13-AF20-3A402F54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0008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0" name="连接线_70">
            <a:extLst xmlns:a="http://schemas.openxmlformats.org/drawingml/2006/main">
              <a:ext uri="{FF2B5EF4-FFF2-40B4-BE49-F238E27FC236}">
                <a16:creationId xmlns:a16="http://schemas.microsoft.com/office/drawing/2014/main" id="{BF70E774-F314-4DB2-BFD6-EB38F5C5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715327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1" name="流程箭头_71">
            <a:extLst xmlns:a="http://schemas.openxmlformats.org/drawingml/2006/main">
              <a:ext uri="{FF2B5EF4-FFF2-40B4-BE49-F238E27FC236}">
                <a16:creationId xmlns:a16="http://schemas.microsoft.com/office/drawing/2014/main" id="{3587D432-B330-4312-B41B-B3E75F65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162800"/>
            <a:ext cx="152400" cy="200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2" name="供需失配与运输服务联合响应_72">
            <a:extLst xmlns:a="http://schemas.openxmlformats.org/drawingml/2006/main">
              <a:ext uri="{FF2B5EF4-FFF2-40B4-BE49-F238E27FC236}">
                <a16:creationId xmlns:a16="http://schemas.microsoft.com/office/drawing/2014/main" id="{95D7AC9F-3F3F-415A-B55A-38C5E0B6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7410450"/>
            <a:ext cx="6108192" cy="1114425"/>
          </a:xfrm>
          <a:prstGeom xmlns:a="http://schemas.openxmlformats.org/drawingml/2006/main" prst="roundRect">
            <a:avLst>
              <a:gd name="adj" fmla="val 8547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3" name="文字_73">
            <a:extLst xmlns:a="http://schemas.openxmlformats.org/drawingml/2006/main">
              <a:ext uri="{FF2B5EF4-FFF2-40B4-BE49-F238E27FC236}">
                <a16:creationId xmlns:a16="http://schemas.microsoft.com/office/drawing/2014/main" id="{1AEEAC14-DAA0-42C1-95E8-83152F80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7496175"/>
            <a:ext cx="5974842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供需失配与运输服务联合响应</a:t>
            </a:r>
          </a:p>
        </p:txBody>
      </p:sp>
      <p:sp>
        <p:nvSpPr>
          <p:cNvPr id="74" name="文字_74">
            <a:extLst xmlns:a="http://schemas.openxmlformats.org/drawingml/2006/main">
              <a:ext uri="{FF2B5EF4-FFF2-40B4-BE49-F238E27FC236}">
                <a16:creationId xmlns:a16="http://schemas.microsoft.com/office/drawing/2014/main" id="{DEFC8391-F6F1-46F5-ABBF-CBC99892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7915275"/>
            <a:ext cx="5936742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到达与有效服务失衡引起排队增长、货物积压与实际通过量变化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刻画待闸时间分布、船期偏移、港航作业衔接及运输组织调整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识别时效损失、交付可靠性变化与重点货类差异</a:t>
            </a:r>
          </a:p>
        </p:txBody>
      </p:sp>
      <p:sp>
        <p:nvSpPr>
          <p:cNvPr id="75" name="文字_75">
            <a:extLst xmlns:a="http://schemas.openxmlformats.org/drawingml/2006/main">
              <a:ext uri="{FF2B5EF4-FFF2-40B4-BE49-F238E27FC236}">
                <a16:creationId xmlns:a16="http://schemas.microsoft.com/office/drawing/2014/main" id="{6555E074-F74D-4DFD-B1A3-01A053C2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8591550"/>
            <a:ext cx="6108192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方法：动态排队、基准情景对照与分货类航线船型分析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输出：有效能力、到达流、通过量、积压量、时效与可靠性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明确施工影响与常态波动的区分及识别条件</a:t>
            </a:r>
          </a:p>
        </p:txBody>
      </p:sp>
      <p:sp>
        <p:nvSpPr>
          <p:cNvPr id="76" name="流程箭头_76">
            <a:extLst xmlns:a="http://schemas.openxmlformats.org/drawingml/2006/main">
              <a:ext uri="{FF2B5EF4-FFF2-40B4-BE49-F238E27FC236}">
                <a16:creationId xmlns:a16="http://schemas.microsoft.com/office/drawing/2014/main" id="{66456CA9-DCAA-4741-BA1F-DA1F9653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9439275"/>
            <a:ext cx="1524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7" name="研究模块_77">
            <a:extLst xmlns:a="http://schemas.openxmlformats.org/drawingml/2006/main">
              <a:ext uri="{FF2B5EF4-FFF2-40B4-BE49-F238E27FC236}">
                <a16:creationId xmlns:a16="http://schemas.microsoft.com/office/drawing/2014/main" id="{88CA9AC5-7DD1-4A7D-BDB4-ADF79DBC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9639300"/>
            <a:ext cx="6473952" cy="6229350"/>
          </a:xfrm>
          <a:prstGeom xmlns:a="http://schemas.openxmlformats.org/drawingml/2006/main" prst="roundRect">
            <a:avLst>
              <a:gd name="adj" fmla="val 1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8" name="模块标题背景_78">
            <a:extLst xmlns:a="http://schemas.openxmlformats.org/drawingml/2006/main">
              <a:ext uri="{FF2B5EF4-FFF2-40B4-BE49-F238E27FC236}">
                <a16:creationId xmlns:a16="http://schemas.microsoft.com/office/drawing/2014/main" id="{D90B1F2A-AA54-46E6-9A42-FFB9C75A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9703308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9" name="模块标题_79">
            <a:extLst xmlns:a="http://schemas.openxmlformats.org/drawingml/2006/main">
              <a:ext uri="{FF2B5EF4-FFF2-40B4-BE49-F238E27FC236}">
                <a16:creationId xmlns:a16="http://schemas.microsoft.com/office/drawing/2014/main" id="{F67EDDBE-F46C-44D8-9D5F-8633BD04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9705975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航运市场与经营经济响应及主体行为反馈</a:t>
            </a:r>
          </a:p>
        </p:txBody>
      </p:sp>
      <p:sp>
        <p:nvSpPr>
          <p:cNvPr id="80" name="共同驱动：运行状态变化与通航限制_80">
            <a:extLst xmlns:a="http://schemas.openxmlformats.org/drawingml/2006/main">
              <a:ext uri="{FF2B5EF4-FFF2-40B4-BE49-F238E27FC236}">
                <a16:creationId xmlns:a16="http://schemas.microsoft.com/office/drawing/2014/main" id="{4C38D973-EC37-47EE-AA16-D30D13CE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0191750"/>
            <a:ext cx="6108192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1" name="文字_81">
            <a:extLst xmlns:a="http://schemas.openxmlformats.org/drawingml/2006/main">
              <a:ext uri="{FF2B5EF4-FFF2-40B4-BE49-F238E27FC236}">
                <a16:creationId xmlns:a16="http://schemas.microsoft.com/office/drawing/2014/main" id="{CB8264C2-B9DC-4701-AED3-3D6D75B3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0277475"/>
            <a:ext cx="597484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共同驱动：运行状态变化与通航限制</a:t>
            </a:r>
          </a:p>
        </p:txBody>
      </p:sp>
      <p:sp>
        <p:nvSpPr>
          <p:cNvPr id="82" name="文字_82">
            <a:extLst xmlns:a="http://schemas.openxmlformats.org/drawingml/2006/main">
              <a:ext uri="{FF2B5EF4-FFF2-40B4-BE49-F238E27FC236}">
                <a16:creationId xmlns:a16="http://schemas.microsoft.com/office/drawing/2014/main" id="{7F026D47-1990-4CEC-BC49-90ADC925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0582275"/>
            <a:ext cx="5936742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能力、需求、等待时间、船期及可靠性变化分别进入成本市场分析与主体直接调整</a:t>
            </a:r>
          </a:p>
        </p:txBody>
      </p:sp>
      <p:sp>
        <p:nvSpPr>
          <p:cNvPr id="83" name="连接线_83">
            <a:extLst xmlns:a="http://schemas.openxmlformats.org/drawingml/2006/main">
              <a:ext uri="{FF2B5EF4-FFF2-40B4-BE49-F238E27FC236}">
                <a16:creationId xmlns:a16="http://schemas.microsoft.com/office/drawing/2014/main" id="{926F5026-B7EF-45F5-B36A-58B278B6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0772775"/>
            <a:ext cx="19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4" name="连接线_84">
            <a:extLst xmlns:a="http://schemas.openxmlformats.org/drawingml/2006/main">
              <a:ext uri="{FF2B5EF4-FFF2-40B4-BE49-F238E27FC236}">
                <a16:creationId xmlns:a16="http://schemas.microsoft.com/office/drawing/2014/main" id="{DE7AD2C4-CECC-4B5F-B995-9B34D092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0772775"/>
            <a:ext cx="19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5" name="文字_85">
            <a:extLst xmlns:a="http://schemas.openxmlformats.org/drawingml/2006/main">
              <a:ext uri="{FF2B5EF4-FFF2-40B4-BE49-F238E27FC236}">
                <a16:creationId xmlns:a16="http://schemas.microsoft.com/office/drawing/2014/main" id="{AF0C7144-2D71-4710-9C0D-D293C893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0820400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运行变化引起成本与供需调整</a:t>
            </a:r>
          </a:p>
        </p:txBody>
      </p:sp>
      <p:sp>
        <p:nvSpPr>
          <p:cNvPr id="86" name="文字_86">
            <a:extLst xmlns:a="http://schemas.openxmlformats.org/drawingml/2006/main">
              <a:ext uri="{FF2B5EF4-FFF2-40B4-BE49-F238E27FC236}">
                <a16:creationId xmlns:a16="http://schemas.microsoft.com/office/drawing/2014/main" id="{F5AFBFDE-6188-416B-A49C-5C8983FE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0820400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通航约束直接引起组织适应</a:t>
            </a:r>
          </a:p>
        </p:txBody>
      </p:sp>
      <p:sp>
        <p:nvSpPr>
          <p:cNvPr id="87" name="流程箭头_87">
            <a:extLst xmlns:a="http://schemas.openxmlformats.org/drawingml/2006/main">
              <a:ext uri="{FF2B5EF4-FFF2-40B4-BE49-F238E27FC236}">
                <a16:creationId xmlns:a16="http://schemas.microsoft.com/office/drawing/2014/main" id="{287760BC-5311-417F-A8FB-2BB8E3A6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0982325"/>
            <a:ext cx="1524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8" name="流程箭头_88">
            <a:extLst xmlns:a="http://schemas.openxmlformats.org/drawingml/2006/main">
              <a:ext uri="{FF2B5EF4-FFF2-40B4-BE49-F238E27FC236}">
                <a16:creationId xmlns:a16="http://schemas.microsoft.com/office/drawing/2014/main" id="{0C9F08D5-99DF-4B05-8D2F-1853B38D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0982325"/>
            <a:ext cx="1524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9" name="容器_89">
            <a:extLst xmlns:a="http://schemas.openxmlformats.org/drawingml/2006/main">
              <a:ext uri="{FF2B5EF4-FFF2-40B4-BE49-F238E27FC236}">
                <a16:creationId xmlns:a16="http://schemas.microsoft.com/office/drawing/2014/main" id="{D27AF7ED-6145-4CE7-9A4B-5F998872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1106150"/>
            <a:ext cx="2862072" cy="3143250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7FCF8"/>
          </a:solidFill>
          <a:ln xmlns:a="http://schemas.openxmlformats.org/drawingml/2006/main" w="16193">
            <a:solidFill>
              <a:srgbClr val="21864B"/>
            </a:solidFill>
          </a:ln>
        </p:spPr>
      </p:sp>
      <p:sp>
        <p:nvSpPr>
          <p:cNvPr id="90" name="容器_90">
            <a:extLst xmlns:a="http://schemas.openxmlformats.org/drawingml/2006/main">
              <a:ext uri="{FF2B5EF4-FFF2-40B4-BE49-F238E27FC236}">
                <a16:creationId xmlns:a16="http://schemas.microsoft.com/office/drawing/2014/main" id="{9C151255-AFF3-4638-AFFC-E25767A7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11106150"/>
            <a:ext cx="2862072" cy="3143250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7FCF8"/>
          </a:solidFill>
          <a:ln xmlns:a="http://schemas.openxmlformats.org/drawingml/2006/main" w="16193">
            <a:solidFill>
              <a:srgbClr val="21864B"/>
            </a:solidFill>
          </a:ln>
        </p:spPr>
      </p:sp>
      <p:sp>
        <p:nvSpPr>
          <p:cNvPr id="91" name="文字_91">
            <a:extLst xmlns:a="http://schemas.openxmlformats.org/drawingml/2006/main">
              <a:ext uri="{FF2B5EF4-FFF2-40B4-BE49-F238E27FC236}">
                <a16:creationId xmlns:a16="http://schemas.microsoft.com/office/drawing/2014/main" id="{9FFC658C-2FE3-45EC-B646-262CA5BB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11728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成本与市场响应</a:t>
            </a:r>
          </a:p>
        </p:txBody>
      </p:sp>
      <p:sp>
        <p:nvSpPr>
          <p:cNvPr id="92" name="文字_92">
            <a:extLst xmlns:a="http://schemas.openxmlformats.org/drawingml/2006/main">
              <a:ext uri="{FF2B5EF4-FFF2-40B4-BE49-F238E27FC236}">
                <a16:creationId xmlns:a16="http://schemas.microsoft.com/office/drawing/2014/main" id="{701B411F-001A-45B9-B065-9DA44394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11728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主体直接与市场驱动调整</a:t>
            </a:r>
          </a:p>
        </p:txBody>
      </p:sp>
      <p:sp>
        <p:nvSpPr>
          <p:cNvPr id="93" name="运输成本与港航经营响应_93">
            <a:extLst xmlns:a="http://schemas.openxmlformats.org/drawingml/2006/main">
              <a:ext uri="{FF2B5EF4-FFF2-40B4-BE49-F238E27FC236}">
                <a16:creationId xmlns:a16="http://schemas.microsoft.com/office/drawing/2014/main" id="{A220E07A-5387-4C23-933B-EBA37656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56335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4" name="文字_94">
            <a:extLst xmlns:a="http://schemas.openxmlformats.org/drawingml/2006/main">
              <a:ext uri="{FF2B5EF4-FFF2-40B4-BE49-F238E27FC236}">
                <a16:creationId xmlns:a16="http://schemas.microsoft.com/office/drawing/2014/main" id="{FA910CD7-C536-4456-899D-71AB58C8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164907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运输成本与港航经营响应</a:t>
            </a:r>
          </a:p>
        </p:txBody>
      </p:sp>
      <p:sp>
        <p:nvSpPr>
          <p:cNvPr id="95" name="文字_95">
            <a:extLst xmlns:a="http://schemas.openxmlformats.org/drawingml/2006/main">
              <a:ext uri="{FF2B5EF4-FFF2-40B4-BE49-F238E27FC236}">
                <a16:creationId xmlns:a16="http://schemas.microsoft.com/office/drawing/2014/main" id="{C07FC8DD-6D18-459F-BAAF-23A4468F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196340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待闸、航行、转运及周转变化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单航次单位成本与经营收益</a:t>
            </a:r>
          </a:p>
        </p:txBody>
      </p:sp>
      <p:sp>
        <p:nvSpPr>
          <p:cNvPr id="96" name="运价响应及其作用条件_96">
            <a:extLst xmlns:a="http://schemas.openxmlformats.org/drawingml/2006/main">
              <a:ext uri="{FF2B5EF4-FFF2-40B4-BE49-F238E27FC236}">
                <a16:creationId xmlns:a16="http://schemas.microsoft.com/office/drawing/2014/main" id="{BD16B272-A719-4D82-9622-B415628B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430125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7" name="文字_97">
            <a:extLst xmlns:a="http://schemas.openxmlformats.org/drawingml/2006/main">
              <a:ext uri="{FF2B5EF4-FFF2-40B4-BE49-F238E27FC236}">
                <a16:creationId xmlns:a16="http://schemas.microsoft.com/office/drawing/2014/main" id="{B3950108-0E78-40CD-9BB9-EE8381EF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2515850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运价响应及其作用条件</a:t>
            </a:r>
          </a:p>
        </p:txBody>
      </p:sp>
      <p:sp>
        <p:nvSpPr>
          <p:cNvPr id="98" name="文字_98">
            <a:extLst xmlns:a="http://schemas.openxmlformats.org/drawingml/2006/main">
              <a:ext uri="{FF2B5EF4-FFF2-40B4-BE49-F238E27FC236}">
                <a16:creationId xmlns:a16="http://schemas.microsoft.com/office/drawing/2014/main" id="{A6D1DAE7-8530-4287-B201-53FDE6DC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2830175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供需、成本、合同与替代条件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控制燃料变化并检验价格方向</a:t>
            </a:r>
          </a:p>
        </p:txBody>
      </p:sp>
      <p:sp>
        <p:nvSpPr>
          <p:cNvPr id="99" name="差异化响应与传导时滞_99">
            <a:extLst xmlns:a="http://schemas.openxmlformats.org/drawingml/2006/main">
              <a:ext uri="{FF2B5EF4-FFF2-40B4-BE49-F238E27FC236}">
                <a16:creationId xmlns:a16="http://schemas.microsoft.com/office/drawing/2014/main" id="{01CE31DC-3766-4A24-A04D-B94F427F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329690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0" name="文字_100">
            <a:extLst xmlns:a="http://schemas.openxmlformats.org/drawingml/2006/main">
              <a:ext uri="{FF2B5EF4-FFF2-40B4-BE49-F238E27FC236}">
                <a16:creationId xmlns:a16="http://schemas.microsoft.com/office/drawing/2014/main" id="{4DD41A75-5069-47C6-B735-AC1E94B6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338262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差异化响应与传导时滞</a:t>
            </a:r>
          </a:p>
        </p:txBody>
      </p:sp>
      <p:sp>
        <p:nvSpPr>
          <p:cNvPr id="101" name="文字_101">
            <a:extLst xmlns:a="http://schemas.openxmlformats.org/drawingml/2006/main">
              <a:ext uri="{FF2B5EF4-FFF2-40B4-BE49-F238E27FC236}">
                <a16:creationId xmlns:a16="http://schemas.microsoft.com/office/drawing/2014/main" id="{FE8873DB-ACD1-4DA9-9605-5C59AD0F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369695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分货类、航线、船型识别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成本与运价口径分别核算</a:t>
            </a:r>
          </a:p>
        </p:txBody>
      </p:sp>
      <p:sp>
        <p:nvSpPr>
          <p:cNvPr id="102" name="直接适应通航与服务变化_102">
            <a:extLst xmlns:a="http://schemas.openxmlformats.org/drawingml/2006/main">
              <a:ext uri="{FF2B5EF4-FFF2-40B4-BE49-F238E27FC236}">
                <a16:creationId xmlns:a16="http://schemas.microsoft.com/office/drawing/2014/main" id="{F5CBF712-22AA-4460-875B-15F25D61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156335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3" name="文字_103">
            <a:extLst xmlns:a="http://schemas.openxmlformats.org/drawingml/2006/main">
              <a:ext uri="{FF2B5EF4-FFF2-40B4-BE49-F238E27FC236}">
                <a16:creationId xmlns:a16="http://schemas.microsoft.com/office/drawing/2014/main" id="{97095BD4-8157-4FAA-BC8B-19242E97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164907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直接适应通航与服务变化</a:t>
            </a:r>
          </a:p>
        </p:txBody>
      </p:sp>
      <p:sp>
        <p:nvSpPr>
          <p:cNvPr id="104" name="文字_104">
            <a:extLst xmlns:a="http://schemas.openxmlformats.org/drawingml/2006/main">
              <a:ext uri="{FF2B5EF4-FFF2-40B4-BE49-F238E27FC236}">
                <a16:creationId xmlns:a16="http://schemas.microsoft.com/office/drawing/2014/main" id="{7A792F1E-0614-4BC6-94BC-35E2D027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196340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航次、待闸组织、绕行转运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船型与发运时间调整</a:t>
            </a:r>
          </a:p>
        </p:txBody>
      </p:sp>
      <p:sp>
        <p:nvSpPr>
          <p:cNvPr id="105" name="市场信息驱动的运输选择_105">
            <a:extLst xmlns:a="http://schemas.openxmlformats.org/drawingml/2006/main">
              <a:ext uri="{FF2B5EF4-FFF2-40B4-BE49-F238E27FC236}">
                <a16:creationId xmlns:a16="http://schemas.microsoft.com/office/drawing/2014/main" id="{8B54AAC3-40FD-4BEF-8AEF-6258DE47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2430125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6" name="文字_106">
            <a:extLst xmlns:a="http://schemas.openxmlformats.org/drawingml/2006/main">
              <a:ext uri="{FF2B5EF4-FFF2-40B4-BE49-F238E27FC236}">
                <a16:creationId xmlns:a16="http://schemas.microsoft.com/office/drawing/2014/main" id="{41BA92EA-301E-4727-B0DF-E55316AE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515850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市场信息驱动的运输选择</a:t>
            </a:r>
          </a:p>
        </p:txBody>
      </p:sp>
      <p:sp>
        <p:nvSpPr>
          <p:cNvPr id="107" name="文字_107">
            <a:extLst xmlns:a="http://schemas.openxmlformats.org/drawingml/2006/main">
              <a:ext uri="{FF2B5EF4-FFF2-40B4-BE49-F238E27FC236}">
                <a16:creationId xmlns:a16="http://schemas.microsoft.com/office/drawing/2014/main" id="{DA747360-1095-4C67-8282-D241B015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830175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承运意愿、运力配置与航次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发运时点、通道及方式选择</a:t>
            </a:r>
          </a:p>
        </p:txBody>
      </p:sp>
      <p:sp>
        <p:nvSpPr>
          <p:cNvPr id="108" name="主体行为弹性与调整约束_108">
            <a:extLst xmlns:a="http://schemas.openxmlformats.org/drawingml/2006/main">
              <a:ext uri="{FF2B5EF4-FFF2-40B4-BE49-F238E27FC236}">
                <a16:creationId xmlns:a16="http://schemas.microsoft.com/office/drawing/2014/main" id="{905FC5A1-BAD7-4BAB-9AC9-938D9EEC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329690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9" name="文字_109">
            <a:extLst xmlns:a="http://schemas.openxmlformats.org/drawingml/2006/main">
              <a:ext uri="{FF2B5EF4-FFF2-40B4-BE49-F238E27FC236}">
                <a16:creationId xmlns:a16="http://schemas.microsoft.com/office/drawing/2014/main" id="{744D81A5-C87A-4188-B5F2-06162EE6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338262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主体行为弹性与调整约束</a:t>
            </a:r>
          </a:p>
        </p:txBody>
      </p:sp>
      <p:sp>
        <p:nvSpPr>
          <p:cNvPr id="110" name="文字_110">
            <a:extLst xmlns:a="http://schemas.openxmlformats.org/drawingml/2006/main">
              <a:ext uri="{FF2B5EF4-FFF2-40B4-BE49-F238E27FC236}">
                <a16:creationId xmlns:a16="http://schemas.microsoft.com/office/drawing/2014/main" id="{14D57A59-0561-4F70-A79F-5000CB60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69695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货类期限、替代能力与资源约束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行为方向、调整比例与时滞</a:t>
            </a:r>
          </a:p>
        </p:txBody>
      </p:sp>
      <p:sp>
        <p:nvSpPr>
          <p:cNvPr id="111" name="流程箭头_111">
            <a:extLst xmlns:a="http://schemas.openxmlformats.org/drawingml/2006/main">
              <a:ext uri="{FF2B5EF4-FFF2-40B4-BE49-F238E27FC236}">
                <a16:creationId xmlns:a16="http://schemas.microsoft.com/office/drawing/2014/main" id="{EDFE84F2-F56A-4621-8C68-83F3E61C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2725400"/>
            <a:ext cx="2571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2" name="连接线_112">
            <a:extLst xmlns:a="http://schemas.openxmlformats.org/drawingml/2006/main">
              <a:ext uri="{FF2B5EF4-FFF2-40B4-BE49-F238E27FC236}">
                <a16:creationId xmlns:a16="http://schemas.microsoft.com/office/drawing/2014/main" id="{8CFDCA8C-577D-448B-AD16-6553A59C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42779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3" name="连接线_113">
            <a:extLst xmlns:a="http://schemas.openxmlformats.org/drawingml/2006/main">
              <a:ext uri="{FF2B5EF4-FFF2-40B4-BE49-F238E27FC236}">
                <a16:creationId xmlns:a16="http://schemas.microsoft.com/office/drawing/2014/main" id="{94656AB2-AC1F-4395-B96D-94B44F38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2779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4" name="连接线_114">
            <a:extLst xmlns:a="http://schemas.openxmlformats.org/drawingml/2006/main">
              <a:ext uri="{FF2B5EF4-FFF2-40B4-BE49-F238E27FC236}">
                <a16:creationId xmlns:a16="http://schemas.microsoft.com/office/drawing/2014/main" id="{770F6769-B06A-4C5E-8826-127BC5AF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443037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5" name="流程箭头_115">
            <a:extLst xmlns:a="http://schemas.openxmlformats.org/drawingml/2006/main">
              <a:ext uri="{FF2B5EF4-FFF2-40B4-BE49-F238E27FC236}">
                <a16:creationId xmlns:a16="http://schemas.microsoft.com/office/drawing/2014/main" id="{A0E0BB12-31F6-4D7E-97E0-2895778F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4439900"/>
            <a:ext cx="152400" cy="200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6" name="行为反馈更新有效运力、到达流与运输需求_116">
            <a:extLst xmlns:a="http://schemas.openxmlformats.org/drawingml/2006/main">
              <a:ext uri="{FF2B5EF4-FFF2-40B4-BE49-F238E27FC236}">
                <a16:creationId xmlns:a16="http://schemas.microsoft.com/office/drawing/2014/main" id="{2FE7A36C-8D05-4469-BFA6-932D6F06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4678025"/>
            <a:ext cx="6108192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7" name="文字_117">
            <a:extLst xmlns:a="http://schemas.openxmlformats.org/drawingml/2006/main">
              <a:ext uri="{FF2B5EF4-FFF2-40B4-BE49-F238E27FC236}">
                <a16:creationId xmlns:a16="http://schemas.microsoft.com/office/drawing/2014/main" id="{B716EE0B-0E6D-45EC-B9E8-89AF3DD8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4763750"/>
            <a:ext cx="597484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行为反馈更新有效运力、到达流与运输需求</a:t>
            </a:r>
          </a:p>
        </p:txBody>
      </p:sp>
      <p:sp>
        <p:nvSpPr>
          <p:cNvPr id="118" name="文字_118">
            <a:extLst xmlns:a="http://schemas.openxmlformats.org/drawingml/2006/main">
              <a:ext uri="{FF2B5EF4-FFF2-40B4-BE49-F238E27FC236}">
                <a16:creationId xmlns:a16="http://schemas.microsoft.com/office/drawing/2014/main" id="{84790B49-4927-444A-94BC-F4A5153B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5068550"/>
            <a:ext cx="5936742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将主体选择转化为分时段运力、到达与货类需求变化，并返回第一部分迭代计算</a:t>
            </a:r>
          </a:p>
        </p:txBody>
      </p:sp>
      <p:sp>
        <p:nvSpPr>
          <p:cNvPr id="119" name="文字_119">
            <a:extLst xmlns:a="http://schemas.openxmlformats.org/drawingml/2006/main">
              <a:ext uri="{FF2B5EF4-FFF2-40B4-BE49-F238E27FC236}">
                <a16:creationId xmlns:a16="http://schemas.microsoft.com/office/drawing/2014/main" id="{9807847B-F10C-47BA-A502-AFD54D78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5335250"/>
            <a:ext cx="610819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方法：运输成本核算、运价响应分析、离散选择与行为弹性估计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反馈方向依据数据检验，区分企业成本、货主支付运费和企业收入</a:t>
            </a:r>
          </a:p>
        </p:txBody>
      </p:sp>
      <p:sp>
        <p:nvSpPr>
          <p:cNvPr id="120" name="连接线_120">
            <a:extLst xmlns:a="http://schemas.openxmlformats.org/drawingml/2006/main">
              <a:ext uri="{FF2B5EF4-FFF2-40B4-BE49-F238E27FC236}">
                <a16:creationId xmlns:a16="http://schemas.microsoft.com/office/drawing/2014/main" id="{6B4BCFE3-3654-4045-A292-52647F33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4982825"/>
            <a:ext cx="3021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1" name="连接线_121">
            <a:extLst xmlns:a="http://schemas.openxmlformats.org/drawingml/2006/main">
              <a:ext uri="{FF2B5EF4-FFF2-40B4-BE49-F238E27FC236}">
                <a16:creationId xmlns:a16="http://schemas.microsoft.com/office/drawing/2014/main" id="{C5CFC16B-8443-4659-93D2-7DC760C0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619625"/>
            <a:ext cx="19050" cy="1036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2" name="连接线_122">
            <a:extLst xmlns:a="http://schemas.openxmlformats.org/drawingml/2006/main">
              <a:ext uri="{FF2B5EF4-FFF2-40B4-BE49-F238E27FC236}">
                <a16:creationId xmlns:a16="http://schemas.microsoft.com/office/drawing/2014/main" id="{41AC73AB-C069-410D-BD6A-D16C77EB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619625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3" name="流程箭头_123">
            <a:extLst xmlns:a="http://schemas.openxmlformats.org/drawingml/2006/main">
              <a:ext uri="{FF2B5EF4-FFF2-40B4-BE49-F238E27FC236}">
                <a16:creationId xmlns:a16="http://schemas.microsoft.com/office/drawing/2014/main" id="{7386266F-4AD3-41FD-97BB-42BE23FA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52950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4" name="连接线_124">
            <a:extLst xmlns:a="http://schemas.openxmlformats.org/drawingml/2006/main">
              <a:ext uri="{FF2B5EF4-FFF2-40B4-BE49-F238E27FC236}">
                <a16:creationId xmlns:a16="http://schemas.microsoft.com/office/drawing/2014/main" id="{FF679CBA-A6A5-44A0-AC7B-5BCECE83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98282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5" name="连接线_125">
            <a:extLst xmlns:a="http://schemas.openxmlformats.org/drawingml/2006/main">
              <a:ext uri="{FF2B5EF4-FFF2-40B4-BE49-F238E27FC236}">
                <a16:creationId xmlns:a16="http://schemas.microsoft.com/office/drawing/2014/main" id="{7B905F31-2648-42BE-AA04-AEEB228E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619625"/>
            <a:ext cx="19050" cy="1036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6" name="连接线_126">
            <a:extLst xmlns:a="http://schemas.openxmlformats.org/drawingml/2006/main">
              <a:ext uri="{FF2B5EF4-FFF2-40B4-BE49-F238E27FC236}">
                <a16:creationId xmlns:a16="http://schemas.microsoft.com/office/drawing/2014/main" id="{4B05CBA2-7257-4FE5-B15E-4834347E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196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7" name="流程箭头_127">
            <a:extLst xmlns:a="http://schemas.openxmlformats.org/drawingml/2006/main">
              <a:ext uri="{FF2B5EF4-FFF2-40B4-BE49-F238E27FC236}">
                <a16:creationId xmlns:a16="http://schemas.microsoft.com/office/drawing/2014/main" id="{E2731735-AD53-4D2D-8AAB-3557B792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52950"/>
            <a:ext cx="171450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8" name="容器_128">
            <a:extLst xmlns:a="http://schemas.openxmlformats.org/drawingml/2006/main">
              <a:ext uri="{FF2B5EF4-FFF2-40B4-BE49-F238E27FC236}">
                <a16:creationId xmlns:a16="http://schemas.microsoft.com/office/drawing/2014/main" id="{026C634A-17B0-42BF-9B34-FDE935F9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0391775"/>
            <a:ext cx="2571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9" name="容器_129">
            <a:extLst xmlns:a="http://schemas.openxmlformats.org/drawingml/2006/main">
              <a:ext uri="{FF2B5EF4-FFF2-40B4-BE49-F238E27FC236}">
                <a16:creationId xmlns:a16="http://schemas.microsoft.com/office/drawing/2014/main" id="{079A69D3-5D91-4804-AB40-917A50B9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0877550"/>
            <a:ext cx="2667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0" name="文字_130">
            <a:extLst xmlns:a="http://schemas.openxmlformats.org/drawingml/2006/main">
              <a:ext uri="{FF2B5EF4-FFF2-40B4-BE49-F238E27FC236}">
                <a16:creationId xmlns:a16="http://schemas.microsoft.com/office/drawing/2014/main" id="{492C55D5-98B8-4FF9-BC79-967C4BEF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9763125"/>
            <a:ext cx="238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力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配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31" name="文字_131">
            <a:extLst xmlns:a="http://schemas.openxmlformats.org/drawingml/2006/main">
              <a:ext uri="{FF2B5EF4-FFF2-40B4-BE49-F238E27FC236}">
                <a16:creationId xmlns:a16="http://schemas.microsoft.com/office/drawing/2014/main" id="{08C3B388-8FF0-4CC7-95EA-0467B384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0191750"/>
            <a:ext cx="2381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达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32" name="流程箭头_132">
            <a:extLst xmlns:a="http://schemas.openxmlformats.org/drawingml/2006/main">
              <a:ext uri="{FF2B5EF4-FFF2-40B4-BE49-F238E27FC236}">
                <a16:creationId xmlns:a16="http://schemas.microsoft.com/office/drawing/2014/main" id="{4146C06B-C06E-4723-B405-66017001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5887700"/>
            <a:ext cx="15240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33" name="研究模块_133">
            <a:extLst xmlns:a="http://schemas.openxmlformats.org/drawingml/2006/main">
              <a:ext uri="{FF2B5EF4-FFF2-40B4-BE49-F238E27FC236}">
                <a16:creationId xmlns:a16="http://schemas.microsoft.com/office/drawing/2014/main" id="{68E5F52B-33AD-4745-9D1A-837C88DE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16002000"/>
            <a:ext cx="6473952" cy="7543800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4" name="模块标题背景_134">
            <a:extLst xmlns:a="http://schemas.openxmlformats.org/drawingml/2006/main">
              <a:ext uri="{FF2B5EF4-FFF2-40B4-BE49-F238E27FC236}">
                <a16:creationId xmlns:a16="http://schemas.microsoft.com/office/drawing/2014/main" id="{EA0C18A9-BC0B-495A-A74B-35173343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16066008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5" name="模块标题_135">
            <a:extLst xmlns:a="http://schemas.openxmlformats.org/drawingml/2006/main">
              <a:ext uri="{FF2B5EF4-FFF2-40B4-BE49-F238E27FC236}">
                <a16:creationId xmlns:a16="http://schemas.microsoft.com/office/drawing/2014/main" id="{30F00B71-1304-40EA-A291-B7929557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6068675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航运波动传播与动态响应模型构建</a:t>
            </a:r>
          </a:p>
        </p:txBody>
      </p:sp>
      <p:sp>
        <p:nvSpPr>
          <p:cNvPr id="136" name="传播与恢复机制识别_136">
            <a:extLst xmlns:a="http://schemas.openxmlformats.org/drawingml/2006/main">
              <a:ext uri="{FF2B5EF4-FFF2-40B4-BE49-F238E27FC236}">
                <a16:creationId xmlns:a16="http://schemas.microsoft.com/office/drawing/2014/main" id="{EEB9192B-6A51-4506-9350-420E552E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6554450"/>
            <a:ext cx="6108192" cy="790575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7" name="文字_137">
            <a:extLst xmlns:a="http://schemas.openxmlformats.org/drawingml/2006/main">
              <a:ext uri="{FF2B5EF4-FFF2-40B4-BE49-F238E27FC236}">
                <a16:creationId xmlns:a16="http://schemas.microsoft.com/office/drawing/2014/main" id="{6BF2FB26-5257-40E3-ACC3-012370DB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6640175"/>
            <a:ext cx="597484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传播与恢复机制识别</a:t>
            </a:r>
          </a:p>
        </p:txBody>
      </p:sp>
      <p:sp>
        <p:nvSpPr>
          <p:cNvPr id="138" name="文字_138">
            <a:extLst xmlns:a="http://schemas.openxmlformats.org/drawingml/2006/main">
              <a:ext uri="{FF2B5EF4-FFF2-40B4-BE49-F238E27FC236}">
                <a16:creationId xmlns:a16="http://schemas.microsoft.com/office/drawing/2014/main" id="{0C3D7865-C9DA-41CD-AA8F-BC2BF90E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6983075"/>
            <a:ext cx="593674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识别坝区多通道及上下游港航网络的连接、剩余能力与积压作用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根据运行与行为响应证据提出传播、放大及恢复假设</a:t>
            </a:r>
          </a:p>
        </p:txBody>
      </p:sp>
      <p:sp>
        <p:nvSpPr>
          <p:cNvPr id="139" name="流程箭头_139">
            <a:extLst xmlns:a="http://schemas.openxmlformats.org/drawingml/2006/main">
              <a:ext uri="{FF2B5EF4-FFF2-40B4-BE49-F238E27FC236}">
                <a16:creationId xmlns:a16="http://schemas.microsoft.com/office/drawing/2014/main" id="{735341C8-C684-47E9-837C-BB25FE4C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383125"/>
            <a:ext cx="152400" cy="1809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0" name="融合运行与市场行为反馈的航运动态响应模型_140">
            <a:extLst xmlns:a="http://schemas.openxmlformats.org/drawingml/2006/main">
              <a:ext uri="{FF2B5EF4-FFF2-40B4-BE49-F238E27FC236}">
                <a16:creationId xmlns:a16="http://schemas.microsoft.com/office/drawing/2014/main" id="{58BA61AD-B179-4134-A918-855DCFF1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7592675"/>
            <a:ext cx="6108192" cy="1133475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1" name="文字_141">
            <a:extLst xmlns:a="http://schemas.openxmlformats.org/drawingml/2006/main">
              <a:ext uri="{FF2B5EF4-FFF2-40B4-BE49-F238E27FC236}">
                <a16:creationId xmlns:a16="http://schemas.microsoft.com/office/drawing/2014/main" id="{79DC9F01-088B-44E6-973D-84995BBE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7678400"/>
            <a:ext cx="597484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融合运行与市场行为反馈的航运动态响应模型</a:t>
            </a:r>
          </a:p>
        </p:txBody>
      </p:sp>
      <p:sp>
        <p:nvSpPr>
          <p:cNvPr id="142" name="文字_142">
            <a:extLst xmlns:a="http://schemas.openxmlformats.org/drawingml/2006/main">
              <a:ext uri="{FF2B5EF4-FFF2-40B4-BE49-F238E27FC236}">
                <a16:creationId xmlns:a16="http://schemas.microsoft.com/office/drawing/2014/main" id="{97AA37D3-DB6B-4A1A-868A-A9D529BB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8049875"/>
            <a:ext cx="5936742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动态排队、时变网络与离散事件仿真联动刻画能力、到达、积压及港航衔接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集成成本运价响应、运力配置与货主运输选择，求解航运内部反馈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统一需求、实际流量与积压守恒，区分延后实现及未满足需求</a:t>
            </a:r>
          </a:p>
        </p:txBody>
      </p:sp>
      <p:sp>
        <p:nvSpPr>
          <p:cNvPr id="143" name="连接线_143">
            <a:extLst xmlns:a="http://schemas.openxmlformats.org/drawingml/2006/main">
              <a:ext uri="{FF2B5EF4-FFF2-40B4-BE49-F238E27FC236}">
                <a16:creationId xmlns:a16="http://schemas.microsoft.com/office/drawing/2014/main" id="{F10BC046-D369-40EC-AE8A-2D150C87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874520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4" name="连接线_144">
            <a:extLst xmlns:a="http://schemas.openxmlformats.org/drawingml/2006/main">
              <a:ext uri="{FF2B5EF4-FFF2-40B4-BE49-F238E27FC236}">
                <a16:creationId xmlns:a16="http://schemas.microsoft.com/office/drawing/2014/main" id="{8925F49B-DE00-4CF4-B4F3-D63C339E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8840450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5" name="流程箭头_145">
            <a:extLst xmlns:a="http://schemas.openxmlformats.org/drawingml/2006/main">
              <a:ext uri="{FF2B5EF4-FFF2-40B4-BE49-F238E27FC236}">
                <a16:creationId xmlns:a16="http://schemas.microsoft.com/office/drawing/2014/main" id="{F608842A-E008-4739-95DE-16F83849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8849975"/>
            <a:ext cx="15240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6" name="流程箭头_146">
            <a:extLst xmlns:a="http://schemas.openxmlformats.org/drawingml/2006/main">
              <a:ext uri="{FF2B5EF4-FFF2-40B4-BE49-F238E27FC236}">
                <a16:creationId xmlns:a16="http://schemas.microsoft.com/office/drawing/2014/main" id="{D73820B1-CE4B-45B3-B2F3-5D09201F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849975"/>
            <a:ext cx="15240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7" name="典型事件参数校准_147">
            <a:extLst xmlns:a="http://schemas.openxmlformats.org/drawingml/2006/main">
              <a:ext uri="{FF2B5EF4-FFF2-40B4-BE49-F238E27FC236}">
                <a16:creationId xmlns:a16="http://schemas.microsoft.com/office/drawing/2014/main" id="{2D1E1FE7-3197-4CA1-8609-75A70D8E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9030950"/>
            <a:ext cx="2862072" cy="1419225"/>
          </a:xfrm>
          <a:prstGeom xmlns:a="http://schemas.openxmlformats.org/drawingml/2006/main" prst="roundRect">
            <a:avLst>
              <a:gd name="adj" fmla="val 6711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8" name="文字_148">
            <a:extLst xmlns:a="http://schemas.openxmlformats.org/drawingml/2006/main">
              <a:ext uri="{FF2B5EF4-FFF2-40B4-BE49-F238E27FC236}">
                <a16:creationId xmlns:a16="http://schemas.microsoft.com/office/drawing/2014/main" id="{A8A277CB-A221-4512-A68B-31660510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9116675"/>
            <a:ext cx="2728722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典型事件参数校准</a:t>
            </a:r>
          </a:p>
        </p:txBody>
      </p:sp>
      <p:sp>
        <p:nvSpPr>
          <p:cNvPr id="149" name="文字_149">
            <a:extLst xmlns:a="http://schemas.openxmlformats.org/drawingml/2006/main">
              <a:ext uri="{FF2B5EF4-FFF2-40B4-BE49-F238E27FC236}">
                <a16:creationId xmlns:a16="http://schemas.microsoft.com/office/drawing/2014/main" id="{49D9B26C-143F-408F-A9D3-FCE7B60C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9535775"/>
            <a:ext cx="2690622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施工与检修事件的前中后数据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辨识能力、到达、服务与组织参数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估计成本、运价及行为反馈参数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说明参数来源与可迁移范围</a:t>
            </a:r>
          </a:p>
        </p:txBody>
      </p:sp>
      <p:sp>
        <p:nvSpPr>
          <p:cNvPr id="150" name="独立事件与多指标检验_150">
            <a:extLst xmlns:a="http://schemas.openxmlformats.org/drawingml/2006/main">
              <a:ext uri="{FF2B5EF4-FFF2-40B4-BE49-F238E27FC236}">
                <a16:creationId xmlns:a16="http://schemas.microsoft.com/office/drawing/2014/main" id="{B107EA6D-B7C4-4896-A81A-C197BA5C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19030950"/>
            <a:ext cx="2862072" cy="1419225"/>
          </a:xfrm>
          <a:prstGeom xmlns:a="http://schemas.openxmlformats.org/drawingml/2006/main" prst="roundRect">
            <a:avLst>
              <a:gd name="adj" fmla="val 6711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1" name="文字_151">
            <a:extLst xmlns:a="http://schemas.openxmlformats.org/drawingml/2006/main">
              <a:ext uri="{FF2B5EF4-FFF2-40B4-BE49-F238E27FC236}">
                <a16:creationId xmlns:a16="http://schemas.microsoft.com/office/drawing/2014/main" id="{38D46F2A-2CB0-4A12-A6B9-9B31D02A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1403" y="19116675"/>
            <a:ext cx="2728722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独立事件与多指标检验</a:t>
            </a:r>
          </a:p>
        </p:txBody>
      </p:sp>
      <p:sp>
        <p:nvSpPr>
          <p:cNvPr id="152" name="文字_152">
            <a:extLst xmlns:a="http://schemas.openxmlformats.org/drawingml/2006/main">
              <a:ext uri="{FF2B5EF4-FFF2-40B4-BE49-F238E27FC236}">
                <a16:creationId xmlns:a16="http://schemas.microsoft.com/office/drawing/2014/main" id="{6A2D8AE4-96F9-48DD-A6B8-0DD33267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453" y="19535775"/>
            <a:ext cx="2690622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使用不同事件或时段检验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通过量、排队及等待时间分布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船期偏移、运价响应及传播时滞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评估误差并修正模型假设</a:t>
            </a:r>
          </a:p>
        </p:txBody>
      </p:sp>
      <p:sp>
        <p:nvSpPr>
          <p:cNvPr id="153" name="连接线_153">
            <a:extLst xmlns:a="http://schemas.openxmlformats.org/drawingml/2006/main">
              <a:ext uri="{FF2B5EF4-FFF2-40B4-BE49-F238E27FC236}">
                <a16:creationId xmlns:a16="http://schemas.microsoft.com/office/drawing/2014/main" id="{035997B5-B97E-474A-82F8-F446B1D6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9716750"/>
            <a:ext cx="3021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4" name="连接线_154">
            <a:extLst xmlns:a="http://schemas.openxmlformats.org/drawingml/2006/main">
              <a:ext uri="{FF2B5EF4-FFF2-40B4-BE49-F238E27FC236}">
                <a16:creationId xmlns:a16="http://schemas.microsoft.com/office/drawing/2014/main" id="{7D610089-2B53-4466-A9DD-17CFB73A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8097500"/>
            <a:ext cx="19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5" name="流程箭头_155">
            <a:extLst xmlns:a="http://schemas.openxmlformats.org/drawingml/2006/main">
              <a:ext uri="{FF2B5EF4-FFF2-40B4-BE49-F238E27FC236}">
                <a16:creationId xmlns:a16="http://schemas.microsoft.com/office/drawing/2014/main" id="{74CED99C-988B-489B-8690-F277F6A4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8030825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6" name="连接线_156">
            <a:extLst xmlns:a="http://schemas.openxmlformats.org/drawingml/2006/main">
              <a:ext uri="{FF2B5EF4-FFF2-40B4-BE49-F238E27FC236}">
                <a16:creationId xmlns:a16="http://schemas.microsoft.com/office/drawing/2014/main" id="{E36234A9-DAF5-4C37-A5BE-02408882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8097500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7" name="连接线_157">
            <a:extLst xmlns:a="http://schemas.openxmlformats.org/drawingml/2006/main">
              <a:ext uri="{FF2B5EF4-FFF2-40B4-BE49-F238E27FC236}">
                <a16:creationId xmlns:a16="http://schemas.microsoft.com/office/drawing/2014/main" id="{DD2FF452-AE5F-491C-AE63-043D4B20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71675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8" name="连接线_158">
            <a:extLst xmlns:a="http://schemas.openxmlformats.org/drawingml/2006/main">
              <a:ext uri="{FF2B5EF4-FFF2-40B4-BE49-F238E27FC236}">
                <a16:creationId xmlns:a16="http://schemas.microsoft.com/office/drawing/2014/main" id="{3D443D81-89B2-4F25-83CF-54A08304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8097500"/>
            <a:ext cx="19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9" name="连接线_159">
            <a:extLst xmlns:a="http://schemas.openxmlformats.org/drawingml/2006/main">
              <a:ext uri="{FF2B5EF4-FFF2-40B4-BE49-F238E27FC236}">
                <a16:creationId xmlns:a16="http://schemas.microsoft.com/office/drawing/2014/main" id="{A35281C8-FCCC-4100-A315-5E59A1F9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0" name="流程箭头_160">
            <a:extLst xmlns:a="http://schemas.openxmlformats.org/drawingml/2006/main">
              <a:ext uri="{FF2B5EF4-FFF2-40B4-BE49-F238E27FC236}">
                <a16:creationId xmlns:a16="http://schemas.microsoft.com/office/drawing/2014/main" id="{69422F94-ABD5-4BF3-8A9B-4B23BA9E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030825"/>
            <a:ext cx="171450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1" name="容器_161">
            <a:extLst xmlns:a="http://schemas.openxmlformats.org/drawingml/2006/main">
              <a:ext uri="{FF2B5EF4-FFF2-40B4-BE49-F238E27FC236}">
                <a16:creationId xmlns:a16="http://schemas.microsoft.com/office/drawing/2014/main" id="{8E08FC0F-528B-462F-9F47-0AE0191F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8888075"/>
            <a:ext cx="2571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2" name="容器_162">
            <a:extLst xmlns:a="http://schemas.openxmlformats.org/drawingml/2006/main">
              <a:ext uri="{FF2B5EF4-FFF2-40B4-BE49-F238E27FC236}">
                <a16:creationId xmlns:a16="http://schemas.microsoft.com/office/drawing/2014/main" id="{E714CC2F-B34B-4326-8441-CA4B1219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888075"/>
            <a:ext cx="266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3" name="文字_163">
            <a:extLst xmlns:a="http://schemas.openxmlformats.org/drawingml/2006/main">
              <a:ext uri="{FF2B5EF4-FFF2-40B4-BE49-F238E27FC236}">
                <a16:creationId xmlns:a16="http://schemas.microsoft.com/office/drawing/2014/main" id="{D0777661-B3A1-43EB-B040-D3C14426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8745200"/>
            <a:ext cx="238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64" name="文字_164">
            <a:extLst xmlns:a="http://schemas.openxmlformats.org/drawingml/2006/main">
              <a:ext uri="{FF2B5EF4-FFF2-40B4-BE49-F238E27FC236}">
                <a16:creationId xmlns:a16="http://schemas.microsoft.com/office/drawing/2014/main" id="{3235AF1C-A6B0-4347-A370-18FA9336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745200"/>
            <a:ext cx="238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65" name="连接线_165">
            <a:extLst xmlns:a="http://schemas.openxmlformats.org/drawingml/2006/main">
              <a:ext uri="{FF2B5EF4-FFF2-40B4-BE49-F238E27FC236}">
                <a16:creationId xmlns:a16="http://schemas.microsoft.com/office/drawing/2014/main" id="{B339375E-89A2-4963-B7EC-86D4385E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050732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6" name="连接线_166">
            <a:extLst xmlns:a="http://schemas.openxmlformats.org/drawingml/2006/main">
              <a:ext uri="{FF2B5EF4-FFF2-40B4-BE49-F238E27FC236}">
                <a16:creationId xmlns:a16="http://schemas.microsoft.com/office/drawing/2014/main" id="{F5690F2C-20FF-46BF-8D2F-40C1784E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50732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7" name="连接线_167">
            <a:extLst xmlns:a="http://schemas.openxmlformats.org/drawingml/2006/main">
              <a:ext uri="{FF2B5EF4-FFF2-40B4-BE49-F238E27FC236}">
                <a16:creationId xmlns:a16="http://schemas.microsoft.com/office/drawing/2014/main" id="{F32D47D5-4236-4FF1-903D-C4935AF2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065972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8" name="流程箭头_168">
            <a:extLst xmlns:a="http://schemas.openxmlformats.org/drawingml/2006/main">
              <a:ext uri="{FF2B5EF4-FFF2-40B4-BE49-F238E27FC236}">
                <a16:creationId xmlns:a16="http://schemas.microsoft.com/office/drawing/2014/main" id="{E0E57DAC-63C9-4542-B626-8249353C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669250"/>
            <a:ext cx="152400" cy="200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9" name="多情景传播与恢复推演_169">
            <a:extLst xmlns:a="http://schemas.openxmlformats.org/drawingml/2006/main">
              <a:ext uri="{FF2B5EF4-FFF2-40B4-BE49-F238E27FC236}">
                <a16:creationId xmlns:a16="http://schemas.microsoft.com/office/drawing/2014/main" id="{FA93F7AF-2A3C-4FEC-BD5F-13F62FAD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20907375"/>
            <a:ext cx="6108192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0" name="文字_170">
            <a:extLst xmlns:a="http://schemas.openxmlformats.org/drawingml/2006/main">
              <a:ext uri="{FF2B5EF4-FFF2-40B4-BE49-F238E27FC236}">
                <a16:creationId xmlns:a16="http://schemas.microsoft.com/office/drawing/2014/main" id="{0C76A510-B5DB-427D-B6C5-182376CE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20993100"/>
            <a:ext cx="597484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多情景传播与恢复推演</a:t>
            </a:r>
          </a:p>
        </p:txBody>
      </p:sp>
      <p:sp>
        <p:nvSpPr>
          <p:cNvPr id="171" name="文字_171">
            <a:extLst xmlns:a="http://schemas.openxmlformats.org/drawingml/2006/main">
              <a:ext uri="{FF2B5EF4-FFF2-40B4-BE49-F238E27FC236}">
                <a16:creationId xmlns:a16="http://schemas.microsoft.com/office/drawing/2014/main" id="{28DFA426-0E48-4E82-925F-F94E923E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21336000"/>
            <a:ext cx="5936742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组合施工强度、工期、水文、需求高峰、初始负荷及替代通道条件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分析波动的传播方向、时滞、空间范围与通道间瓶颈转移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比较不同组织措施下的响应及适应性，形成后续优化任务的参数依据</a:t>
            </a:r>
          </a:p>
        </p:txBody>
      </p:sp>
      <p:sp>
        <p:nvSpPr>
          <p:cNvPr id="172" name="流程箭头_172">
            <a:extLst xmlns:a="http://schemas.openxmlformats.org/drawingml/2006/main">
              <a:ext uri="{FF2B5EF4-FFF2-40B4-BE49-F238E27FC236}">
                <a16:creationId xmlns:a16="http://schemas.microsoft.com/office/drawing/2014/main" id="{CBE214F1-CA5F-4869-8748-822620C2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002750"/>
            <a:ext cx="1524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73" name="供需失配与放大阈值_173">
            <a:extLst xmlns:a="http://schemas.openxmlformats.org/drawingml/2006/main">
              <a:ext uri="{FF2B5EF4-FFF2-40B4-BE49-F238E27FC236}">
                <a16:creationId xmlns:a16="http://schemas.microsoft.com/office/drawing/2014/main" id="{AFAFBD50-FFB6-4580-B79A-56EBCE11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22193250"/>
            <a:ext cx="1816608" cy="1276350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4" name="文字_174">
            <a:extLst xmlns:a="http://schemas.openxmlformats.org/drawingml/2006/main">
              <a:ext uri="{FF2B5EF4-FFF2-40B4-BE49-F238E27FC236}">
                <a16:creationId xmlns:a16="http://schemas.microsoft.com/office/drawing/2014/main" id="{63667988-E029-48DD-93EA-FBD5E38B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22278975"/>
            <a:ext cx="16832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供需失配与放大阈值</a:t>
            </a:r>
          </a:p>
        </p:txBody>
      </p:sp>
      <p:sp>
        <p:nvSpPr>
          <p:cNvPr id="175" name="文字_175">
            <a:extLst xmlns:a="http://schemas.openxmlformats.org/drawingml/2006/main">
              <a:ext uri="{FF2B5EF4-FFF2-40B4-BE49-F238E27FC236}">
                <a16:creationId xmlns:a16="http://schemas.microsoft.com/office/drawing/2014/main" id="{F148A4C1-855E-4E1A-9525-72FFDC65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22640925"/>
            <a:ext cx="164515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持续积压出现条件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扰动强度与持续时间阈值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多次短时限制的累积效应</a:t>
            </a:r>
          </a:p>
        </p:txBody>
      </p:sp>
      <p:sp>
        <p:nvSpPr>
          <p:cNvPr id="176" name="积压消散与系统恢复_176">
            <a:extLst xmlns:a="http://schemas.openxmlformats.org/drawingml/2006/main">
              <a:ext uri="{FF2B5EF4-FFF2-40B4-BE49-F238E27FC236}">
                <a16:creationId xmlns:a16="http://schemas.microsoft.com/office/drawing/2014/main" id="{6FDCBA9B-F55B-4134-A213-3B43B811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193250"/>
            <a:ext cx="1816608" cy="1276350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7" name="文字_177">
            <a:extLst xmlns:a="http://schemas.openxmlformats.org/drawingml/2006/main">
              <a:ext uri="{FF2B5EF4-FFF2-40B4-BE49-F238E27FC236}">
                <a16:creationId xmlns:a16="http://schemas.microsoft.com/office/drawing/2014/main" id="{DCDB0B9E-B8C8-4C73-A1B8-306FD2D1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2278975"/>
            <a:ext cx="16832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积压消散与系统恢复</a:t>
            </a:r>
          </a:p>
        </p:txBody>
      </p:sp>
      <p:sp>
        <p:nvSpPr>
          <p:cNvPr id="178" name="文字_178">
            <a:extLst xmlns:a="http://schemas.openxmlformats.org/drawingml/2006/main">
              <a:ext uri="{FF2B5EF4-FFF2-40B4-BE49-F238E27FC236}">
                <a16:creationId xmlns:a16="http://schemas.microsoft.com/office/drawing/2014/main" id="{B30365F3-590A-4641-96CF-03D55641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640925"/>
            <a:ext cx="164515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剩余服务能力与消散速度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能力恢复后的服务滞后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恢复时间与累计服务损失</a:t>
            </a:r>
          </a:p>
        </p:txBody>
      </p:sp>
      <p:sp>
        <p:nvSpPr>
          <p:cNvPr id="179" name="敏感性与不确定性_179">
            <a:extLst xmlns:a="http://schemas.openxmlformats.org/drawingml/2006/main">
              <a:ext uri="{FF2B5EF4-FFF2-40B4-BE49-F238E27FC236}">
                <a16:creationId xmlns:a16="http://schemas.microsoft.com/office/drawing/2014/main" id="{689A1707-045B-4F41-8F5E-5FD1F1AB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192" y="22193250"/>
            <a:ext cx="1816608" cy="1276350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0" name="文字_180">
            <a:extLst xmlns:a="http://schemas.openxmlformats.org/drawingml/2006/main">
              <a:ext uri="{FF2B5EF4-FFF2-40B4-BE49-F238E27FC236}">
                <a16:creationId xmlns:a16="http://schemas.microsoft.com/office/drawing/2014/main" id="{53FE0740-2BA0-4E13-89C0-6BFE29B8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867" y="22278975"/>
            <a:ext cx="16832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敏感性与不确定性</a:t>
            </a:r>
          </a:p>
        </p:txBody>
      </p:sp>
      <p:sp>
        <p:nvSpPr>
          <p:cNvPr id="181" name="文字_181">
            <a:extLst xmlns:a="http://schemas.openxmlformats.org/drawingml/2006/main">
              <a:ext uri="{FF2B5EF4-FFF2-40B4-BE49-F238E27FC236}">
                <a16:creationId xmlns:a16="http://schemas.microsoft.com/office/drawing/2014/main" id="{EBA1DC6A-5FD6-4F4C-BC76-5C9DFF23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917" y="22640925"/>
            <a:ext cx="164515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施工、需求及行为参数扰动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关键敏感因素与情景范围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模型适用边界及参数稳健性</a:t>
            </a:r>
          </a:p>
        </p:txBody>
      </p:sp>
      <p:sp>
        <p:nvSpPr>
          <p:cNvPr id="182" name="扰动情景库与能力映射_182">
            <a:extLst xmlns:a="http://schemas.openxmlformats.org/drawingml/2006/main">
              <a:ext uri="{FF2B5EF4-FFF2-40B4-BE49-F238E27FC236}">
                <a16:creationId xmlns:a16="http://schemas.microsoft.com/office/drawing/2014/main" id="{5DB63970-D766-42CA-8A36-EC36F673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381125"/>
            <a:ext cx="2084832" cy="2333625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3" name="文字_183">
            <a:extLst xmlns:a="http://schemas.openxmlformats.org/drawingml/2006/main">
              <a:ext uri="{FF2B5EF4-FFF2-40B4-BE49-F238E27FC236}">
                <a16:creationId xmlns:a16="http://schemas.microsoft.com/office/drawing/2014/main" id="{F70C1D80-D1D8-4063-AE04-B40BAFD9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1466850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扰动情景库与能力映射</a:t>
            </a:r>
          </a:p>
        </p:txBody>
      </p:sp>
      <p:sp>
        <p:nvSpPr>
          <p:cNvPr id="184" name="文字_184">
            <a:extLst xmlns:a="http://schemas.openxmlformats.org/drawingml/2006/main">
              <a:ext uri="{FF2B5EF4-FFF2-40B4-BE49-F238E27FC236}">
                <a16:creationId xmlns:a16="http://schemas.microsoft.com/office/drawing/2014/main" id="{30EC4012-51F7-4B2F-9637-51CE66C2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1952625"/>
            <a:ext cx="1913382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施工阶段、强度及工期参数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通航约束与有效能力映射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能力折减幅度和持续时间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多情景编号与标准化输入</a:t>
            </a:r>
          </a:p>
        </p:txBody>
      </p:sp>
      <p:sp>
        <p:nvSpPr>
          <p:cNvPr id="185" name="需求基准与施工增量_185">
            <a:extLst xmlns:a="http://schemas.openxmlformats.org/drawingml/2006/main">
              <a:ext uri="{FF2B5EF4-FFF2-40B4-BE49-F238E27FC236}">
                <a16:creationId xmlns:a16="http://schemas.microsoft.com/office/drawing/2014/main" id="{F7FD6DB2-ECAB-487C-9CB0-07349608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4143375"/>
            <a:ext cx="2084832" cy="2190750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6" name="文字_186">
            <a:extLst xmlns:a="http://schemas.openxmlformats.org/drawingml/2006/main">
              <a:ext uri="{FF2B5EF4-FFF2-40B4-BE49-F238E27FC236}">
                <a16:creationId xmlns:a16="http://schemas.microsoft.com/office/drawing/2014/main" id="{4B45F0B8-97F8-4F3F-B0C9-522B0ADE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4229100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需求基准与施工增量</a:t>
            </a:r>
          </a:p>
        </p:txBody>
      </p:sp>
      <p:sp>
        <p:nvSpPr>
          <p:cNvPr id="187" name="文字_187">
            <a:extLst xmlns:a="http://schemas.openxmlformats.org/drawingml/2006/main">
              <a:ext uri="{FF2B5EF4-FFF2-40B4-BE49-F238E27FC236}">
                <a16:creationId xmlns:a16="http://schemas.microsoft.com/office/drawing/2014/main" id="{CBA068B8-276C-4C4B-813A-DD45382C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4714875"/>
            <a:ext cx="1913382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常态货类需求及到达过程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周期、季节与突发波动特征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施工增量响应幅度与时滞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需求弹性及识别条件</a:t>
            </a:r>
          </a:p>
        </p:txBody>
      </p:sp>
      <p:sp>
        <p:nvSpPr>
          <p:cNvPr id="188" name="运行与服务响应规律_188">
            <a:extLst xmlns:a="http://schemas.openxmlformats.org/drawingml/2006/main">
              <a:ext uri="{FF2B5EF4-FFF2-40B4-BE49-F238E27FC236}">
                <a16:creationId xmlns:a16="http://schemas.microsoft.com/office/drawing/2014/main" id="{8E14AEA7-2F1D-4C2C-B258-F30F2E8B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7067550"/>
            <a:ext cx="2084832" cy="2190750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9" name="文字_189">
            <a:extLst xmlns:a="http://schemas.openxmlformats.org/drawingml/2006/main">
              <a:ext uri="{FF2B5EF4-FFF2-40B4-BE49-F238E27FC236}">
                <a16:creationId xmlns:a16="http://schemas.microsoft.com/office/drawing/2014/main" id="{7CADC4DF-7416-44BC-8B86-FEFF144E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7153275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运行与服务响应规律</a:t>
            </a:r>
          </a:p>
        </p:txBody>
      </p:sp>
      <p:sp>
        <p:nvSpPr>
          <p:cNvPr id="190" name="文字_190">
            <a:extLst xmlns:a="http://schemas.openxmlformats.org/drawingml/2006/main">
              <a:ext uri="{FF2B5EF4-FFF2-40B4-BE49-F238E27FC236}">
                <a16:creationId xmlns:a16="http://schemas.microsoft.com/office/drawing/2014/main" id="{1574C9BC-A674-4CA0-8FD0-241322F9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7639050"/>
            <a:ext cx="1913382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能力、流量、拥堵与组织变化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排队、船期及港航作业衔接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运输时效与交付可靠性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分货类航线船型差异</a:t>
            </a:r>
          </a:p>
        </p:txBody>
      </p:sp>
      <p:sp>
        <p:nvSpPr>
          <p:cNvPr id="191" name="市场响应与行为参数_191">
            <a:extLst xmlns:a="http://schemas.openxmlformats.org/drawingml/2006/main">
              <a:ext uri="{FF2B5EF4-FFF2-40B4-BE49-F238E27FC236}">
                <a16:creationId xmlns:a16="http://schemas.microsoft.com/office/drawing/2014/main" id="{0985ACFD-07B5-4412-80E5-D7C385BD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0858500"/>
            <a:ext cx="2084832" cy="2428875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2" name="文字_192">
            <a:extLst xmlns:a="http://schemas.openxmlformats.org/drawingml/2006/main">
              <a:ext uri="{FF2B5EF4-FFF2-40B4-BE49-F238E27FC236}">
                <a16:creationId xmlns:a16="http://schemas.microsoft.com/office/drawing/2014/main" id="{981CD535-A9A4-4293-872F-1E26949F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10944225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市场响应与行为参数</a:t>
            </a:r>
          </a:p>
        </p:txBody>
      </p:sp>
      <p:sp>
        <p:nvSpPr>
          <p:cNvPr id="193" name="文字_193">
            <a:extLst xmlns:a="http://schemas.openxmlformats.org/drawingml/2006/main">
              <a:ext uri="{FF2B5EF4-FFF2-40B4-BE49-F238E27FC236}">
                <a16:creationId xmlns:a16="http://schemas.microsoft.com/office/drawing/2014/main" id="{776FFDE4-2570-4A75-9B24-7EEE7FD6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11430000"/>
            <a:ext cx="1913382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运输成本、运价及收益变化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直接与市场驱动调整关系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运力、航次及运输选择弹性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响应方向、约束与调整时滞</a:t>
            </a:r>
          </a:p>
        </p:txBody>
      </p:sp>
      <p:sp>
        <p:nvSpPr>
          <p:cNvPr id="194" name="航运内部反馈模块_194">
            <a:extLst xmlns:a="http://schemas.openxmlformats.org/drawingml/2006/main">
              <a:ext uri="{FF2B5EF4-FFF2-40B4-BE49-F238E27FC236}">
                <a16:creationId xmlns:a16="http://schemas.microsoft.com/office/drawing/2014/main" id="{53564CF8-D962-4FD5-ACD9-BC9D7839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3906500"/>
            <a:ext cx="2084832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5" name="文字_195">
            <a:extLst xmlns:a="http://schemas.openxmlformats.org/drawingml/2006/main">
              <a:ext uri="{FF2B5EF4-FFF2-40B4-BE49-F238E27FC236}">
                <a16:creationId xmlns:a16="http://schemas.microsoft.com/office/drawing/2014/main" id="{EFAE2270-D0BB-461F-B743-214BC597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13992225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航运内部反馈模块</a:t>
            </a:r>
          </a:p>
        </p:txBody>
      </p:sp>
      <p:sp>
        <p:nvSpPr>
          <p:cNvPr id="196" name="文字_196">
            <a:extLst xmlns:a="http://schemas.openxmlformats.org/drawingml/2006/main">
              <a:ext uri="{FF2B5EF4-FFF2-40B4-BE49-F238E27FC236}">
                <a16:creationId xmlns:a16="http://schemas.microsoft.com/office/drawing/2014/main" id="{AAEE4367-5163-4CD8-8079-06ABD57C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14478000"/>
            <a:ext cx="1913382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主体调整对运力与需求的反馈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迭代关系及一致费用核算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运行、市场与行为关联参数</a:t>
            </a:r>
          </a:p>
        </p:txBody>
      </p:sp>
      <p:sp>
        <p:nvSpPr>
          <p:cNvPr id="197" name="传播阈值与恢复规律_197">
            <a:extLst xmlns:a="http://schemas.openxmlformats.org/drawingml/2006/main">
              <a:ext uri="{FF2B5EF4-FFF2-40B4-BE49-F238E27FC236}">
                <a16:creationId xmlns:a16="http://schemas.microsoft.com/office/drawing/2014/main" id="{F282FBF9-B0AE-4D39-A48E-22F58332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7811750"/>
            <a:ext cx="2084832" cy="2190750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8" name="文字_198">
            <a:extLst xmlns:a="http://schemas.openxmlformats.org/drawingml/2006/main">
              <a:ext uri="{FF2B5EF4-FFF2-40B4-BE49-F238E27FC236}">
                <a16:creationId xmlns:a16="http://schemas.microsoft.com/office/drawing/2014/main" id="{FB7A5DE7-0754-4638-B866-4122A7CE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17897475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传播阈值与恢复规律</a:t>
            </a:r>
          </a:p>
        </p:txBody>
      </p:sp>
      <p:sp>
        <p:nvSpPr>
          <p:cNvPr id="199" name="文字_199">
            <a:extLst xmlns:a="http://schemas.openxmlformats.org/drawingml/2006/main">
              <a:ext uri="{FF2B5EF4-FFF2-40B4-BE49-F238E27FC236}">
                <a16:creationId xmlns:a16="http://schemas.microsoft.com/office/drawing/2014/main" id="{2776D451-D897-4565-990A-796AE801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18383250"/>
            <a:ext cx="1913382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多通道及上下游传播时滞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供需失配与非线性放大阈值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瓶颈转移及积压消散过程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系统恢复与组织适应性</a:t>
            </a:r>
          </a:p>
        </p:txBody>
      </p:sp>
      <p:sp>
        <p:nvSpPr>
          <p:cNvPr id="200" name="动态响应模型与接口_200">
            <a:extLst xmlns:a="http://schemas.openxmlformats.org/drawingml/2006/main">
              <a:ext uri="{FF2B5EF4-FFF2-40B4-BE49-F238E27FC236}">
                <a16:creationId xmlns:a16="http://schemas.microsoft.com/office/drawing/2014/main" id="{DCABDACF-DCA9-4C69-974A-A50D87CD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0955000"/>
            <a:ext cx="2084832" cy="2143125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1" name="文字_201">
            <a:extLst xmlns:a="http://schemas.openxmlformats.org/drawingml/2006/main">
              <a:ext uri="{FF2B5EF4-FFF2-40B4-BE49-F238E27FC236}">
                <a16:creationId xmlns:a16="http://schemas.microsoft.com/office/drawing/2014/main" id="{6B256C81-3118-4072-A2DC-C63D4704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21040725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动态响应模型与接口</a:t>
            </a:r>
          </a:p>
        </p:txBody>
      </p:sp>
      <p:sp>
        <p:nvSpPr>
          <p:cNvPr id="202" name="文字_202">
            <a:extLst xmlns:a="http://schemas.openxmlformats.org/drawingml/2006/main">
              <a:ext uri="{FF2B5EF4-FFF2-40B4-BE49-F238E27FC236}">
                <a16:creationId xmlns:a16="http://schemas.microsoft.com/office/drawing/2014/main" id="{0C025B8B-63A5-4B17-B6DA-CC53B0C7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21526500"/>
            <a:ext cx="1913382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校准模型及独立检验结果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参数来源与不确定性范围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分时段通道货类输入输出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模块可调用性及适用边界</a:t>
            </a:r>
          </a:p>
        </p:txBody>
      </p:sp>
      <p:sp>
        <p:nvSpPr>
          <p:cNvPr id="203" name="流程箭头_203">
            <a:extLst xmlns:a="http://schemas.openxmlformats.org/drawingml/2006/main">
              <a:ext uri="{FF2B5EF4-FFF2-40B4-BE49-F238E27FC236}">
                <a16:creationId xmlns:a16="http://schemas.microsoft.com/office/drawing/2014/main" id="{2B7BCB47-7A51-492A-953D-8AD7F2A2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781425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4" name="流程箭头_204">
            <a:extLst xmlns:a="http://schemas.openxmlformats.org/drawingml/2006/main">
              <a:ext uri="{FF2B5EF4-FFF2-40B4-BE49-F238E27FC236}">
                <a16:creationId xmlns:a16="http://schemas.microsoft.com/office/drawing/2014/main" id="{3E89129B-80D6-4F1E-8D44-5E9C4261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534150"/>
            <a:ext cx="1524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5" name="流程箭头_205">
            <a:extLst xmlns:a="http://schemas.openxmlformats.org/drawingml/2006/main">
              <a:ext uri="{FF2B5EF4-FFF2-40B4-BE49-F238E27FC236}">
                <a16:creationId xmlns:a16="http://schemas.microsoft.com/office/drawing/2014/main" id="{D39EE247-3ADA-4CE9-95E4-4D884E8B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9372600"/>
            <a:ext cx="152400" cy="1238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6" name="流程箭头_206">
            <a:extLst xmlns:a="http://schemas.openxmlformats.org/drawingml/2006/main">
              <a:ext uri="{FF2B5EF4-FFF2-40B4-BE49-F238E27FC236}">
                <a16:creationId xmlns:a16="http://schemas.microsoft.com/office/drawing/2014/main" id="{984BEBB9-1C66-4ACD-89AC-96F8A965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3401675"/>
            <a:ext cx="152400" cy="3333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7" name="流程箭头_207">
            <a:extLst xmlns:a="http://schemas.openxmlformats.org/drawingml/2006/main">
              <a:ext uri="{FF2B5EF4-FFF2-40B4-BE49-F238E27FC236}">
                <a16:creationId xmlns:a16="http://schemas.microsoft.com/office/drawing/2014/main" id="{3B49036D-6C04-470C-9343-6CA703C3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5659100"/>
            <a:ext cx="152400" cy="19145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8" name="流程箭头_208">
            <a:extLst xmlns:a="http://schemas.openxmlformats.org/drawingml/2006/main">
              <a:ext uri="{FF2B5EF4-FFF2-40B4-BE49-F238E27FC236}">
                <a16:creationId xmlns:a16="http://schemas.microsoft.com/office/drawing/2014/main" id="{AB39609D-34C6-43C6-BB06-B10D7EEA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20126325"/>
            <a:ext cx="152400" cy="581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9" name="集成支撑_209">
            <a:extLst xmlns:a="http://schemas.openxmlformats.org/drawingml/2006/main">
              <a:ext uri="{FF2B5EF4-FFF2-40B4-BE49-F238E27FC236}">
                <a16:creationId xmlns:a16="http://schemas.microsoft.com/office/drawing/2014/main" id="{EB6028C7-90BB-4057-A87C-9AF0AA60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3374350"/>
            <a:ext cx="2084832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0" name="文字_210">
            <a:extLst xmlns:a="http://schemas.openxmlformats.org/drawingml/2006/main">
              <a:ext uri="{FF2B5EF4-FFF2-40B4-BE49-F238E27FC236}">
                <a16:creationId xmlns:a16="http://schemas.microsoft.com/office/drawing/2014/main" id="{789E4CFB-E807-4C02-89E3-38EAB1D8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460075"/>
            <a:ext cx="19335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支撑子课题五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级联模型集成与整体验证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提供航运响应模块及接口</a:t>
            </a:r>
          </a:p>
        </p:txBody>
      </p:sp>
      <p:sp>
        <p:nvSpPr>
          <p:cNvPr id="211" name="研究边界_211">
            <a:extLst xmlns:a="http://schemas.openxmlformats.org/drawingml/2006/main">
              <a:ext uri="{FF2B5EF4-FFF2-40B4-BE49-F238E27FC236}">
                <a16:creationId xmlns:a16="http://schemas.microsoft.com/office/drawing/2014/main" id="{979EB79F-3D7D-4B5F-B6FC-0953A88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23622000"/>
            <a:ext cx="6473952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研究边界：航运运行、运输服务及直接市场经营响应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输出运输时间、成本、运价、可靠性、实现流量及行为参数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产业库存、生产与区域经济由相关子课题衔接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完整调度优化、多式联运优化与平台研发由项目相关任务承担</a:t>
            </a:r>
          </a:p>
        </p:txBody>
      </p:sp>
      <p:sp>
        <p:nvSpPr>
          <p:cNvPr id="212" name="协同接口_212">
            <a:extLst xmlns:a="http://schemas.openxmlformats.org/drawingml/2006/main">
              <a:ext uri="{FF2B5EF4-FFF2-40B4-BE49-F238E27FC236}">
                <a16:creationId xmlns:a16="http://schemas.microsoft.com/office/drawing/2014/main" id="{5B286F6B-526B-44A9-A8F5-FC467DB0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6411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数据与模型衔接：子课题一提供数据与特征，子课题二提供全链条作用路径，子课题四反馈需求情景，子课题五统一接口并集成验证。</a:t>
            </a:r>
          </a:p>
        </p:txBody>
      </p:sp>
    </p:spTree>
    <p:extLst>
      <p:ext uri="{BB962C8B-B14F-4D97-AF65-F5344CB8AC3E}">
        <p14:creationId xmlns:p14="http://schemas.microsoft.com/office/powerpoint/2010/main" val="880505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0" name="总标题_1">
            <a:extLst xmlns:a="http://schemas.openxmlformats.org/drawingml/2006/main">
              <a:ext uri="{FF2B5EF4-FFF2-40B4-BE49-F238E27FC236}">
                <a16:creationId xmlns:a16="http://schemas.microsoft.com/office/drawing/2014/main" id="{423660F7-50A3-4565-B783-FCF80196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95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2" name="子课题名称_2">
            <a:extLst xmlns:a="http://schemas.openxmlformats.org/drawingml/2006/main">
              <a:ext uri="{FF2B5EF4-FFF2-40B4-BE49-F238E27FC236}">
                <a16:creationId xmlns:a16="http://schemas.microsoft.com/office/drawing/2014/main" id="{E22298BA-8368-44DC-9A58-03607084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"/>
            <a:ext cx="581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枢纽施工扰动下航运系统波动响应研究</a:t>
            </a:r>
          </a:p>
        </p:txBody>
      </p:sp>
      <p:sp>
        <p:nvSpPr>
          <p:cNvPr id="3" name="容器_3">
            <a:extLst xmlns:a="http://schemas.openxmlformats.org/drawingml/2006/main">
              <a:ext uri="{FF2B5EF4-FFF2-40B4-BE49-F238E27FC236}">
                <a16:creationId xmlns:a16="http://schemas.microsoft.com/office/drawing/2014/main" id="{67D743D7-4218-45C5-B237-536A1356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1057858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</a:ln>
        </p:spPr>
      </p:sp>
      <p:sp>
        <p:nvSpPr>
          <p:cNvPr id="4" name="数据侧栏_4">
            <a:extLst xmlns:a="http://schemas.openxmlformats.org/drawingml/2006/main">
              <a:ext uri="{FF2B5EF4-FFF2-40B4-BE49-F238E27FC236}">
                <a16:creationId xmlns:a16="http://schemas.microsoft.com/office/drawing/2014/main" id="{FB9872B7-A956-4D51-A13C-F83615D7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790575"/>
            <a:ext cx="457200" cy="235839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成果侧栏_5">
            <a:extLst xmlns:a="http://schemas.openxmlformats.org/drawingml/2006/main">
              <a:ext uri="{FF2B5EF4-FFF2-40B4-BE49-F238E27FC236}">
                <a16:creationId xmlns:a16="http://schemas.microsoft.com/office/drawing/2014/main" id="{69088082-080E-452A-A3B5-6B4951A1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790575"/>
            <a:ext cx="457200" cy="235839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" name="文字_6">
            <a:extLst xmlns:a="http://schemas.openxmlformats.org/drawingml/2006/main">
              <a:ext uri="{FF2B5EF4-FFF2-40B4-BE49-F238E27FC236}">
                <a16:creationId xmlns:a16="http://schemas.microsoft.com/office/drawing/2014/main" id="{42224AA7-E450-4684-8A15-642AEEE8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2857500"/>
            <a:ext cx="457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入</a:t>
            </a:r>
          </a:p>
        </p:txBody>
      </p:sp>
      <p:sp>
        <p:nvSpPr>
          <p:cNvPr id="7" name="文字_7">
            <a:extLst xmlns:a="http://schemas.openxmlformats.org/drawingml/2006/main">
              <a:ext uri="{FF2B5EF4-FFF2-40B4-BE49-F238E27FC236}">
                <a16:creationId xmlns:a16="http://schemas.microsoft.com/office/drawing/2014/main" id="{19CF0BF7-523A-4FDF-BBDD-0BAAA829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2857500"/>
            <a:ext cx="457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</p:txBody>
      </p:sp>
      <p:sp>
        <p:nvSpPr>
          <p:cNvPr id="8" name="文字_8">
            <a:extLst xmlns:a="http://schemas.openxmlformats.org/drawingml/2006/main">
              <a:ext uri="{FF2B5EF4-FFF2-40B4-BE49-F238E27FC236}">
                <a16:creationId xmlns:a16="http://schemas.microsoft.com/office/drawing/2014/main" id="{B664C3A6-5CB3-4CAD-AC67-ED8CBAA1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10763250"/>
            <a:ext cx="457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入</a:t>
            </a:r>
          </a:p>
        </p:txBody>
      </p:sp>
      <p:sp>
        <p:nvSpPr>
          <p:cNvPr id="9" name="文字_9">
            <a:extLst xmlns:a="http://schemas.openxmlformats.org/drawingml/2006/main">
              <a:ext uri="{FF2B5EF4-FFF2-40B4-BE49-F238E27FC236}">
                <a16:creationId xmlns:a16="http://schemas.microsoft.com/office/drawing/2014/main" id="{1B533508-C662-4252-8426-5B38D442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10763250"/>
            <a:ext cx="457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</p:txBody>
      </p:sp>
      <p:sp>
        <p:nvSpPr>
          <p:cNvPr id="10" name="文字_10">
            <a:extLst xmlns:a="http://schemas.openxmlformats.org/drawingml/2006/main">
              <a:ext uri="{FF2B5EF4-FFF2-40B4-BE49-F238E27FC236}">
                <a16:creationId xmlns:a16="http://schemas.microsoft.com/office/drawing/2014/main" id="{900EAD74-A2F9-4F72-83E1-6B0674EA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19145250"/>
            <a:ext cx="457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入</a:t>
            </a:r>
          </a:p>
        </p:txBody>
      </p:sp>
      <p:sp>
        <p:nvSpPr>
          <p:cNvPr id="11" name="文字_11">
            <a:extLst xmlns:a="http://schemas.openxmlformats.org/drawingml/2006/main">
              <a:ext uri="{FF2B5EF4-FFF2-40B4-BE49-F238E27FC236}">
                <a16:creationId xmlns:a16="http://schemas.microsoft.com/office/drawing/2014/main" id="{4C41E46C-A2F9-4810-A288-81D26C56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19145250"/>
            <a:ext cx="457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</p:txBody>
      </p:sp>
      <p:sp>
        <p:nvSpPr>
          <p:cNvPr id="12" name="施工与 通航条件_12">
            <a:extLst xmlns:a="http://schemas.openxmlformats.org/drawingml/2006/main">
              <a:ext uri="{FF2B5EF4-FFF2-40B4-BE49-F238E27FC236}">
                <a16:creationId xmlns:a16="http://schemas.microsoft.com/office/drawing/2014/main" id="{3DE0E452-13AA-42CA-80C0-13DE6B77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381125"/>
            <a:ext cx="1188720" cy="238125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文字_13">
            <a:extLst xmlns:a="http://schemas.openxmlformats.org/drawingml/2006/main">
              <a:ext uri="{FF2B5EF4-FFF2-40B4-BE49-F238E27FC236}">
                <a16:creationId xmlns:a16="http://schemas.microsoft.com/office/drawing/2014/main" id="{F92AA673-EA07-48A8-BD90-5FD02BEA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" y="1466850"/>
            <a:ext cx="10363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通航条件</a:t>
            </a:r>
          </a:p>
        </p:txBody>
      </p:sp>
      <p:sp>
        <p:nvSpPr>
          <p:cNvPr id="14" name="文字_14">
            <a:extLst xmlns:a="http://schemas.openxmlformats.org/drawingml/2006/main">
              <a:ext uri="{FF2B5EF4-FFF2-40B4-BE49-F238E27FC236}">
                <a16:creationId xmlns:a16="http://schemas.microsoft.com/office/drawing/2014/main" id="{F5730AB4-4631-4A9B-960D-69296A06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" y="2000250"/>
            <a:ext cx="97917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施工方案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工期与检修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停限航窗口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设施与船型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放行规则</a:t>
            </a:r>
          </a:p>
        </p:txBody>
      </p:sp>
      <p:sp>
        <p:nvSpPr>
          <p:cNvPr id="15" name="运行与 运输需求_15">
            <a:extLst xmlns:a="http://schemas.openxmlformats.org/drawingml/2006/main">
              <a:ext uri="{FF2B5EF4-FFF2-40B4-BE49-F238E27FC236}">
                <a16:creationId xmlns:a16="http://schemas.microsoft.com/office/drawing/2014/main" id="{8B7E0F7C-5352-4F2B-94D8-F8619AF4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238625"/>
            <a:ext cx="1188720" cy="3190875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文字_16">
            <a:extLst xmlns:a="http://schemas.openxmlformats.org/drawingml/2006/main">
              <a:ext uri="{FF2B5EF4-FFF2-40B4-BE49-F238E27FC236}">
                <a16:creationId xmlns:a16="http://schemas.microsoft.com/office/drawing/2014/main" id="{7310CBA7-6CE1-4AB0-8AFE-F821D8E9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" y="4324350"/>
            <a:ext cx="10363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运行与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运输需求</a:t>
            </a:r>
          </a:p>
        </p:txBody>
      </p:sp>
      <p:sp>
        <p:nvSpPr>
          <p:cNvPr id="17" name="文字_17">
            <a:extLst xmlns:a="http://schemas.openxmlformats.org/drawingml/2006/main">
              <a:ext uri="{FF2B5EF4-FFF2-40B4-BE49-F238E27FC236}">
                <a16:creationId xmlns:a16="http://schemas.microsoft.com/office/drawing/2014/main" id="{B39275F2-E259-430E-AEBB-9AC4F776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" y="4857750"/>
            <a:ext cx="97917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船舶轨迹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到达与通过量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排队与船期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港口作业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货类与流向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发运与交付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替代通道</a:t>
            </a:r>
          </a:p>
        </p:txBody>
      </p:sp>
      <p:sp>
        <p:nvSpPr>
          <p:cNvPr id="18" name="常态运行 与外部条件_18">
            <a:extLst xmlns:a="http://schemas.openxmlformats.org/drawingml/2006/main">
              <a:ext uri="{FF2B5EF4-FFF2-40B4-BE49-F238E27FC236}">
                <a16:creationId xmlns:a16="http://schemas.microsoft.com/office/drawing/2014/main" id="{8FBB5C89-2A2A-487F-942A-E0A5BF34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7905750"/>
            <a:ext cx="1188720" cy="209550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文字_19">
            <a:extLst xmlns:a="http://schemas.openxmlformats.org/drawingml/2006/main">
              <a:ext uri="{FF2B5EF4-FFF2-40B4-BE49-F238E27FC236}">
                <a16:creationId xmlns:a16="http://schemas.microsoft.com/office/drawing/2014/main" id="{6EA48818-C5D4-409C-A7B8-68BEF917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" y="7991475"/>
            <a:ext cx="10363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常态运行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与外部条件</a:t>
            </a:r>
          </a:p>
        </p:txBody>
      </p:sp>
      <p:sp>
        <p:nvSpPr>
          <p:cNvPr id="20" name="文字_20">
            <a:extLst xmlns:a="http://schemas.openxmlformats.org/drawingml/2006/main">
              <a:ext uri="{FF2B5EF4-FFF2-40B4-BE49-F238E27FC236}">
                <a16:creationId xmlns:a16="http://schemas.microsoft.com/office/drawing/2014/main" id="{0A3F3E43-485C-4D9E-A20D-CB6565F6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" y="8524875"/>
            <a:ext cx="97917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无施工基准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水文与天气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季节性需求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初始负荷</a:t>
            </a:r>
          </a:p>
        </p:txBody>
      </p:sp>
      <p:sp>
        <p:nvSpPr>
          <p:cNvPr id="21" name="运输组织 记录_21">
            <a:extLst xmlns:a="http://schemas.openxmlformats.org/drawingml/2006/main">
              <a:ext uri="{FF2B5EF4-FFF2-40B4-BE49-F238E27FC236}">
                <a16:creationId xmlns:a16="http://schemas.microsoft.com/office/drawing/2014/main" id="{3EEFFD75-9924-49E9-B73A-71E47229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0668000"/>
            <a:ext cx="1188720" cy="285750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文字_22">
            <a:extLst xmlns:a="http://schemas.openxmlformats.org/drawingml/2006/main">
              <a:ext uri="{FF2B5EF4-FFF2-40B4-BE49-F238E27FC236}">
                <a16:creationId xmlns:a16="http://schemas.microsoft.com/office/drawing/2014/main" id="{87511327-A48F-4A2A-AEFA-D1ABB0AB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" y="10753725"/>
            <a:ext cx="10363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运输组织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记录</a:t>
            </a:r>
          </a:p>
        </p:txBody>
      </p:sp>
      <p:sp>
        <p:nvSpPr>
          <p:cNvPr id="23" name="文字_23">
            <a:extLst xmlns:a="http://schemas.openxmlformats.org/drawingml/2006/main">
              <a:ext uri="{FF2B5EF4-FFF2-40B4-BE49-F238E27FC236}">
                <a16:creationId xmlns:a16="http://schemas.microsoft.com/office/drawing/2014/main" id="{89C46728-50F4-4FB1-B4E8-84D8916F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" y="11287125"/>
            <a:ext cx="979170" cy="2124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航次与待闸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船型与通道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发运与到达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港航衔接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组织调整记录</a:t>
            </a:r>
          </a:p>
        </p:txBody>
      </p:sp>
      <p:sp>
        <p:nvSpPr>
          <p:cNvPr id="24" name="典型事件 与检验数据_24">
            <a:extLst xmlns:a="http://schemas.openxmlformats.org/drawingml/2006/main">
              <a:ext uri="{FF2B5EF4-FFF2-40B4-BE49-F238E27FC236}">
                <a16:creationId xmlns:a16="http://schemas.microsoft.com/office/drawing/2014/main" id="{3107BFED-78DB-48AA-AA3D-DBD78D9D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7430750"/>
            <a:ext cx="1188720" cy="342900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文字_25">
            <a:extLst xmlns:a="http://schemas.openxmlformats.org/drawingml/2006/main">
              <a:ext uri="{FF2B5EF4-FFF2-40B4-BE49-F238E27FC236}">
                <a16:creationId xmlns:a16="http://schemas.microsoft.com/office/drawing/2014/main" id="{A161E673-1908-4072-81F0-80225A36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312" y="17516475"/>
            <a:ext cx="103632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典型事件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与检验数据</a:t>
            </a:r>
          </a:p>
        </p:txBody>
      </p:sp>
      <p:sp>
        <p:nvSpPr>
          <p:cNvPr id="26" name="文字_26">
            <a:extLst xmlns:a="http://schemas.openxmlformats.org/drawingml/2006/main">
              <a:ext uri="{FF2B5EF4-FFF2-40B4-BE49-F238E27FC236}">
                <a16:creationId xmlns:a16="http://schemas.microsoft.com/office/drawing/2014/main" id="{174B1F81-A8CA-4987-97C5-01941777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87" y="18049875"/>
            <a:ext cx="979170" cy="2695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施工检修事件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前后运行记录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到达与排队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船期与交付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独立检验事件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数据口径核对</a:t>
            </a:r>
          </a:p>
        </p:txBody>
      </p:sp>
      <p:sp>
        <p:nvSpPr>
          <p:cNvPr id="27" name="研究模块_27">
            <a:extLst xmlns:a="http://schemas.openxmlformats.org/drawingml/2006/main">
              <a:ext uri="{FF2B5EF4-FFF2-40B4-BE49-F238E27FC236}">
                <a16:creationId xmlns:a16="http://schemas.microsoft.com/office/drawing/2014/main" id="{6155859D-B864-49A2-B93E-8C266801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790575"/>
            <a:ext cx="6473952" cy="8686800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8" name="模块标题背景_28">
            <a:extLst xmlns:a="http://schemas.openxmlformats.org/drawingml/2006/main">
              <a:ext uri="{FF2B5EF4-FFF2-40B4-BE49-F238E27FC236}">
                <a16:creationId xmlns:a16="http://schemas.microsoft.com/office/drawing/2014/main" id="{BA194675-CA34-41D1-8311-825A5EF5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854583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模块标题_29">
            <a:extLst xmlns:a="http://schemas.openxmlformats.org/drawingml/2006/main">
              <a:ext uri="{FF2B5EF4-FFF2-40B4-BE49-F238E27FC236}">
                <a16:creationId xmlns:a16="http://schemas.microsoft.com/office/drawing/2014/main" id="{39C4E5B3-1840-4778-86FE-3A92B511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85725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施工扰动与航运运行响应</a:t>
            </a:r>
          </a:p>
        </p:txBody>
      </p:sp>
      <p:sp>
        <p:nvSpPr>
          <p:cNvPr id="30" name="施工扰动表征_30">
            <a:extLst xmlns:a="http://schemas.openxmlformats.org/drawingml/2006/main">
              <a:ext uri="{FF2B5EF4-FFF2-40B4-BE49-F238E27FC236}">
                <a16:creationId xmlns:a16="http://schemas.microsoft.com/office/drawing/2014/main" id="{43DFED09-8E5C-45E7-B616-33AAD973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381125"/>
            <a:ext cx="181660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1" name="文字_31">
            <a:extLst xmlns:a="http://schemas.openxmlformats.org/drawingml/2006/main">
              <a:ext uri="{FF2B5EF4-FFF2-40B4-BE49-F238E27FC236}">
                <a16:creationId xmlns:a16="http://schemas.microsoft.com/office/drawing/2014/main" id="{B3EFFA97-0921-4EC7-9E62-DC01CC77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466850"/>
            <a:ext cx="1664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施工扰动表征</a:t>
            </a:r>
          </a:p>
        </p:txBody>
      </p:sp>
      <p:sp>
        <p:nvSpPr>
          <p:cNvPr id="32" name="文字_32">
            <a:extLst xmlns:a="http://schemas.openxmlformats.org/drawingml/2006/main">
              <a:ext uri="{FF2B5EF4-FFF2-40B4-BE49-F238E27FC236}">
                <a16:creationId xmlns:a16="http://schemas.microsoft.com/office/drawing/2014/main" id="{475FA31B-8136-42A5-9A3F-3935A096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905000"/>
            <a:ext cx="1607058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阶段、范围与强度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工期、检修与恢复</a:t>
            </a:r>
          </a:p>
        </p:txBody>
      </p:sp>
      <p:sp>
        <p:nvSpPr>
          <p:cNvPr id="33" name="通航约束变化_33">
            <a:extLst xmlns:a="http://schemas.openxmlformats.org/drawingml/2006/main">
              <a:ext uri="{FF2B5EF4-FFF2-40B4-BE49-F238E27FC236}">
                <a16:creationId xmlns:a16="http://schemas.microsoft.com/office/drawing/2014/main" id="{EC10B0F5-EE57-40F1-8EC9-79128157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381125"/>
            <a:ext cx="181660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4" name="文字_34">
            <a:extLst xmlns:a="http://schemas.openxmlformats.org/drawingml/2006/main">
              <a:ext uri="{FF2B5EF4-FFF2-40B4-BE49-F238E27FC236}">
                <a16:creationId xmlns:a16="http://schemas.microsoft.com/office/drawing/2014/main" id="{928A7CBF-1CD6-44DB-88BA-AADC71C9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66850"/>
            <a:ext cx="1664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通航约束变化</a:t>
            </a:r>
          </a:p>
        </p:txBody>
      </p:sp>
      <p:sp>
        <p:nvSpPr>
          <p:cNvPr id="35" name="文字_35">
            <a:extLst xmlns:a="http://schemas.openxmlformats.org/drawingml/2006/main">
              <a:ext uri="{FF2B5EF4-FFF2-40B4-BE49-F238E27FC236}">
                <a16:creationId xmlns:a16="http://schemas.microsoft.com/office/drawing/2014/main" id="{AB46B5A1-A60E-4D1A-BC59-D7AD70B6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905000"/>
            <a:ext cx="1607058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通航时间与放行规则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设施可用与船型限制</a:t>
            </a:r>
          </a:p>
        </p:txBody>
      </p:sp>
      <p:sp>
        <p:nvSpPr>
          <p:cNvPr id="36" name="施工扰动情景_36">
            <a:extLst xmlns:a="http://schemas.openxmlformats.org/drawingml/2006/main">
              <a:ext uri="{FF2B5EF4-FFF2-40B4-BE49-F238E27FC236}">
                <a16:creationId xmlns:a16="http://schemas.microsoft.com/office/drawing/2014/main" id="{2DE5EADB-76F1-47FF-BD37-1308C0ED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192" y="1381125"/>
            <a:ext cx="181660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7" name="文字_37">
            <a:extLst xmlns:a="http://schemas.openxmlformats.org/drawingml/2006/main">
              <a:ext uri="{FF2B5EF4-FFF2-40B4-BE49-F238E27FC236}">
                <a16:creationId xmlns:a16="http://schemas.microsoft.com/office/drawing/2014/main" id="{DF08E5E5-ACC1-4F4F-984C-708D879C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2" y="1466850"/>
            <a:ext cx="166420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施工扰动情景</a:t>
            </a:r>
          </a:p>
        </p:txBody>
      </p:sp>
      <p:sp>
        <p:nvSpPr>
          <p:cNvPr id="38" name="文字_38">
            <a:extLst xmlns:a="http://schemas.openxmlformats.org/drawingml/2006/main">
              <a:ext uri="{FF2B5EF4-FFF2-40B4-BE49-F238E27FC236}">
                <a16:creationId xmlns:a16="http://schemas.microsoft.com/office/drawing/2014/main" id="{96A50551-DD05-45B7-9B01-5DE55EEB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967" y="1905000"/>
            <a:ext cx="1607058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常态与施工情景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水文与需求叠加</a:t>
            </a:r>
          </a:p>
        </p:txBody>
      </p:sp>
      <p:sp>
        <p:nvSpPr>
          <p:cNvPr id="39" name="流程箭头_39">
            <a:extLst xmlns:a="http://schemas.openxmlformats.org/drawingml/2006/main">
              <a:ext uri="{FF2B5EF4-FFF2-40B4-BE49-F238E27FC236}">
                <a16:creationId xmlns:a16="http://schemas.microsoft.com/office/drawing/2014/main" id="{C160838E-5DA0-414F-A8B3-50199A89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792" y="2019300"/>
            <a:ext cx="256032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0" name="流程箭头_40">
            <a:extLst xmlns:a="http://schemas.openxmlformats.org/drawingml/2006/main">
              <a:ext uri="{FF2B5EF4-FFF2-40B4-BE49-F238E27FC236}">
                <a16:creationId xmlns:a16="http://schemas.microsoft.com/office/drawing/2014/main" id="{B0E0B8DB-8025-4223-962C-A7D9772F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584" y="2019300"/>
            <a:ext cx="256032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1" name="连接线_41">
            <a:extLst xmlns:a="http://schemas.openxmlformats.org/drawingml/2006/main">
              <a:ext uri="{FF2B5EF4-FFF2-40B4-BE49-F238E27FC236}">
                <a16:creationId xmlns:a16="http://schemas.microsoft.com/office/drawing/2014/main" id="{19C73164-CA2B-4D57-9409-AA0FA9EA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496" y="2924175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2" name="连接线_42">
            <a:extLst xmlns:a="http://schemas.openxmlformats.org/drawingml/2006/main">
              <a:ext uri="{FF2B5EF4-FFF2-40B4-BE49-F238E27FC236}">
                <a16:creationId xmlns:a16="http://schemas.microsoft.com/office/drawing/2014/main" id="{7C5590FC-9C7B-4B0F-8AFF-51ECDBD1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48025"/>
            <a:ext cx="213969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3" name="连接线_43">
            <a:extLst xmlns:a="http://schemas.openxmlformats.org/drawingml/2006/main">
              <a:ext uri="{FF2B5EF4-FFF2-40B4-BE49-F238E27FC236}">
                <a16:creationId xmlns:a16="http://schemas.microsoft.com/office/drawing/2014/main" id="{13680637-C575-4207-8B91-13AB119E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7660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4" name="连接线_44">
            <a:extLst xmlns:a="http://schemas.openxmlformats.org/drawingml/2006/main">
              <a:ext uri="{FF2B5EF4-FFF2-40B4-BE49-F238E27FC236}">
                <a16:creationId xmlns:a16="http://schemas.microsoft.com/office/drawing/2014/main" id="{D9EBABEF-EF80-4520-B49D-31614A90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390900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5" name="流程箭头_45">
            <a:extLst xmlns:a="http://schemas.openxmlformats.org/drawingml/2006/main">
              <a:ext uri="{FF2B5EF4-FFF2-40B4-BE49-F238E27FC236}">
                <a16:creationId xmlns:a16="http://schemas.microsoft.com/office/drawing/2014/main" id="{A835DD16-FE74-49EA-9784-88983CDD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400425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6" name="流程箭头_46">
            <a:extLst xmlns:a="http://schemas.openxmlformats.org/drawingml/2006/main">
              <a:ext uri="{FF2B5EF4-FFF2-40B4-BE49-F238E27FC236}">
                <a16:creationId xmlns:a16="http://schemas.microsoft.com/office/drawing/2014/main" id="{C98FAB0A-5A1B-4519-A164-7ACFFFAF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00425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7" name="容器_47">
            <a:extLst xmlns:a="http://schemas.openxmlformats.org/drawingml/2006/main">
              <a:ext uri="{FF2B5EF4-FFF2-40B4-BE49-F238E27FC236}">
                <a16:creationId xmlns:a16="http://schemas.microsoft.com/office/drawing/2014/main" id="{8E2E7321-2040-418C-8C00-6105D308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3600450"/>
            <a:ext cx="2862072" cy="3171825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16193">
            <a:solidFill>
              <a:srgbClr val="2E75B6"/>
            </a:solidFill>
          </a:ln>
        </p:spPr>
      </p:sp>
      <p:sp>
        <p:nvSpPr>
          <p:cNvPr id="48" name="容器_48">
            <a:extLst xmlns:a="http://schemas.openxmlformats.org/drawingml/2006/main">
              <a:ext uri="{FF2B5EF4-FFF2-40B4-BE49-F238E27FC236}">
                <a16:creationId xmlns:a16="http://schemas.microsoft.com/office/drawing/2014/main" id="{C0C7DEF5-BF57-425D-9A3D-F9924BC5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600450"/>
            <a:ext cx="2862072" cy="3171825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16193">
            <a:solidFill>
              <a:srgbClr val="2E75B6"/>
            </a:solidFill>
          </a:ln>
        </p:spPr>
      </p:sp>
      <p:sp>
        <p:nvSpPr>
          <p:cNvPr id="49" name="文字_49">
            <a:extLst xmlns:a="http://schemas.openxmlformats.org/drawingml/2006/main">
              <a:ext uri="{FF2B5EF4-FFF2-40B4-BE49-F238E27FC236}">
                <a16:creationId xmlns:a16="http://schemas.microsoft.com/office/drawing/2014/main" id="{5BEB9E78-6B90-4A02-B0FD-F64AD406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86175"/>
            <a:ext cx="2676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运输能力变化</a:t>
            </a:r>
          </a:p>
        </p:txBody>
      </p:sp>
      <p:sp>
        <p:nvSpPr>
          <p:cNvPr id="50" name="文字_50">
            <a:extLst xmlns:a="http://schemas.openxmlformats.org/drawingml/2006/main">
              <a:ext uri="{FF2B5EF4-FFF2-40B4-BE49-F238E27FC236}">
                <a16:creationId xmlns:a16="http://schemas.microsoft.com/office/drawing/2014/main" id="{5B0A3CE6-FA0D-402A-8405-ED927BA8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686175"/>
            <a:ext cx="2676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需求与到达变化</a:t>
            </a:r>
          </a:p>
        </p:txBody>
      </p:sp>
      <p:sp>
        <p:nvSpPr>
          <p:cNvPr id="51" name="能力约束_51">
            <a:extLst xmlns:a="http://schemas.openxmlformats.org/drawingml/2006/main">
              <a:ext uri="{FF2B5EF4-FFF2-40B4-BE49-F238E27FC236}">
                <a16:creationId xmlns:a16="http://schemas.microsoft.com/office/drawing/2014/main" id="{55E06413-235C-4AF1-89AD-DDDBEE1A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1480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2" name="文字_52">
            <a:extLst xmlns:a="http://schemas.openxmlformats.org/drawingml/2006/main">
              <a:ext uri="{FF2B5EF4-FFF2-40B4-BE49-F238E27FC236}">
                <a16:creationId xmlns:a16="http://schemas.microsoft.com/office/drawing/2014/main" id="{137CC9FA-3931-4C1F-845A-5F00D318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00525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能力约束</a:t>
            </a:r>
          </a:p>
        </p:txBody>
      </p:sp>
      <p:sp>
        <p:nvSpPr>
          <p:cNvPr id="53" name="文字_53">
            <a:extLst xmlns:a="http://schemas.openxmlformats.org/drawingml/2006/main">
              <a:ext uri="{FF2B5EF4-FFF2-40B4-BE49-F238E27FC236}">
                <a16:creationId xmlns:a16="http://schemas.microsoft.com/office/drawing/2014/main" id="{B1046BB1-BCA3-47F3-9AB5-7B4D3C97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552950"/>
            <a:ext cx="2466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航道、船闸与船舶运力</a:t>
            </a:r>
          </a:p>
        </p:txBody>
      </p:sp>
      <p:sp>
        <p:nvSpPr>
          <p:cNvPr id="54" name="能力折减_54">
            <a:extLst xmlns:a="http://schemas.openxmlformats.org/drawingml/2006/main">
              <a:ext uri="{FF2B5EF4-FFF2-40B4-BE49-F238E27FC236}">
                <a16:creationId xmlns:a16="http://schemas.microsoft.com/office/drawing/2014/main" id="{9AE4EAF9-8487-44DC-B83A-8BD01CD6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00625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5" name="文字_55">
            <a:extLst xmlns:a="http://schemas.openxmlformats.org/drawingml/2006/main">
              <a:ext uri="{FF2B5EF4-FFF2-40B4-BE49-F238E27FC236}">
                <a16:creationId xmlns:a16="http://schemas.microsoft.com/office/drawing/2014/main" id="{ACAD8F53-FBE0-4A71-97CF-07C42D21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86350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能力折减</a:t>
            </a:r>
          </a:p>
        </p:txBody>
      </p:sp>
      <p:sp>
        <p:nvSpPr>
          <p:cNvPr id="56" name="文字_56">
            <a:extLst xmlns:a="http://schemas.openxmlformats.org/drawingml/2006/main">
              <a:ext uri="{FF2B5EF4-FFF2-40B4-BE49-F238E27FC236}">
                <a16:creationId xmlns:a16="http://schemas.microsoft.com/office/drawing/2014/main" id="{13B05E9C-3ED1-4858-B71F-787A2591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438775"/>
            <a:ext cx="2466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折减幅度与持续时间</a:t>
            </a:r>
          </a:p>
        </p:txBody>
      </p:sp>
      <p:sp>
        <p:nvSpPr>
          <p:cNvPr id="57" name="时空差异_57">
            <a:extLst xmlns:a="http://schemas.openxmlformats.org/drawingml/2006/main">
              <a:ext uri="{FF2B5EF4-FFF2-40B4-BE49-F238E27FC236}">
                <a16:creationId xmlns:a16="http://schemas.microsoft.com/office/drawing/2014/main" id="{89ACF529-FD6E-42ED-B228-4FDAC172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8645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8" name="文字_58">
            <a:extLst xmlns:a="http://schemas.openxmlformats.org/drawingml/2006/main">
              <a:ext uri="{FF2B5EF4-FFF2-40B4-BE49-F238E27FC236}">
                <a16:creationId xmlns:a16="http://schemas.microsoft.com/office/drawing/2014/main" id="{0B485A0A-6E06-4A53-8CA9-123DF9BE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972175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时空差异</a:t>
            </a:r>
          </a:p>
        </p:txBody>
      </p:sp>
      <p:sp>
        <p:nvSpPr>
          <p:cNvPr id="59" name="文字_59">
            <a:extLst xmlns:a="http://schemas.openxmlformats.org/drawingml/2006/main">
              <a:ext uri="{FF2B5EF4-FFF2-40B4-BE49-F238E27FC236}">
                <a16:creationId xmlns:a16="http://schemas.microsoft.com/office/drawing/2014/main" id="{200FA3CC-7E2E-48A4-AF81-67873F73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6324600"/>
            <a:ext cx="2466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能力恢复与瓶颈分布</a:t>
            </a:r>
          </a:p>
        </p:txBody>
      </p:sp>
      <p:sp>
        <p:nvSpPr>
          <p:cNvPr id="60" name="需求与到达_60">
            <a:extLst xmlns:a="http://schemas.openxmlformats.org/drawingml/2006/main">
              <a:ext uri="{FF2B5EF4-FFF2-40B4-BE49-F238E27FC236}">
                <a16:creationId xmlns:a16="http://schemas.microsoft.com/office/drawing/2014/main" id="{4E43E863-793E-48DC-B1CF-F405A75F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11480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1" name="文字_61">
            <a:extLst xmlns:a="http://schemas.openxmlformats.org/drawingml/2006/main">
              <a:ext uri="{FF2B5EF4-FFF2-40B4-BE49-F238E27FC236}">
                <a16:creationId xmlns:a16="http://schemas.microsoft.com/office/drawing/2014/main" id="{0EE45CEB-F035-4BAF-8465-80DE8FA3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200525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</a:t>
            </a:r>
          </a:p>
        </p:txBody>
      </p:sp>
      <p:sp>
        <p:nvSpPr>
          <p:cNvPr id="62" name="文字_62">
            <a:extLst xmlns:a="http://schemas.openxmlformats.org/drawingml/2006/main">
              <a:ext uri="{FF2B5EF4-FFF2-40B4-BE49-F238E27FC236}">
                <a16:creationId xmlns:a16="http://schemas.microsoft.com/office/drawing/2014/main" id="{84904B2D-C2CA-46DB-9F24-04C85293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52950"/>
            <a:ext cx="2466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货类、流向与到达节奏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区分需求与实际流量</a:t>
            </a:r>
          </a:p>
        </p:txBody>
      </p:sp>
      <p:sp>
        <p:nvSpPr>
          <p:cNvPr id="63" name="常态波动_63">
            <a:extLst xmlns:a="http://schemas.openxmlformats.org/drawingml/2006/main">
              <a:ext uri="{FF2B5EF4-FFF2-40B4-BE49-F238E27FC236}">
                <a16:creationId xmlns:a16="http://schemas.microsoft.com/office/drawing/2014/main" id="{5E40AEA8-0A02-48FB-9E18-DEAB0724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000625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4" name="文字_64">
            <a:extLst xmlns:a="http://schemas.openxmlformats.org/drawingml/2006/main">
              <a:ext uri="{FF2B5EF4-FFF2-40B4-BE49-F238E27FC236}">
                <a16:creationId xmlns:a16="http://schemas.microsoft.com/office/drawing/2014/main" id="{FDE46498-FECE-4D6C-BACB-92FF2DC9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086350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常态波动</a:t>
            </a:r>
          </a:p>
        </p:txBody>
      </p:sp>
      <p:sp>
        <p:nvSpPr>
          <p:cNvPr id="65" name="文字_65">
            <a:extLst xmlns:a="http://schemas.openxmlformats.org/drawingml/2006/main">
              <a:ext uri="{FF2B5EF4-FFF2-40B4-BE49-F238E27FC236}">
                <a16:creationId xmlns:a16="http://schemas.microsoft.com/office/drawing/2014/main" id="{FCC0A4A8-5C6E-4C35-AED4-487197B1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38775"/>
            <a:ext cx="2466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周期、季节与突发变化</a:t>
            </a:r>
          </a:p>
        </p:txBody>
      </p:sp>
      <p:sp>
        <p:nvSpPr>
          <p:cNvPr id="66" name="施工影响_66">
            <a:extLst xmlns:a="http://schemas.openxmlformats.org/drawingml/2006/main">
              <a:ext uri="{FF2B5EF4-FFF2-40B4-BE49-F238E27FC236}">
                <a16:creationId xmlns:a16="http://schemas.microsoft.com/office/drawing/2014/main" id="{666FD13B-CFF6-4671-9BFE-BE96F3DB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88645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7" name="文字_67">
            <a:extLst xmlns:a="http://schemas.openxmlformats.org/drawingml/2006/main">
              <a:ext uri="{FF2B5EF4-FFF2-40B4-BE49-F238E27FC236}">
                <a16:creationId xmlns:a16="http://schemas.microsoft.com/office/drawing/2014/main" id="{35593AC4-63F7-4B60-B282-54765F72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972175"/>
            <a:ext cx="252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施工影响</a:t>
            </a:r>
          </a:p>
        </p:txBody>
      </p:sp>
      <p:sp>
        <p:nvSpPr>
          <p:cNvPr id="68" name="文字_68">
            <a:extLst xmlns:a="http://schemas.openxmlformats.org/drawingml/2006/main">
              <a:ext uri="{FF2B5EF4-FFF2-40B4-BE49-F238E27FC236}">
                <a16:creationId xmlns:a16="http://schemas.microsoft.com/office/drawing/2014/main" id="{0040A42A-9B0A-4862-BAA4-F3A29FE4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6324600"/>
            <a:ext cx="2466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变化幅度、时滞与货类差异</a:t>
            </a:r>
          </a:p>
        </p:txBody>
      </p:sp>
      <p:sp>
        <p:nvSpPr>
          <p:cNvPr id="69" name="连接线_69">
            <a:extLst xmlns:a="http://schemas.openxmlformats.org/drawingml/2006/main">
              <a:ext uri="{FF2B5EF4-FFF2-40B4-BE49-F238E27FC236}">
                <a16:creationId xmlns:a16="http://schemas.microsoft.com/office/drawing/2014/main" id="{BF1E3F79-DAB2-4D89-BC81-1D6D667B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69246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0" name="连接线_70">
            <a:extLst xmlns:a="http://schemas.openxmlformats.org/drawingml/2006/main">
              <a:ext uri="{FF2B5EF4-FFF2-40B4-BE49-F238E27FC236}">
                <a16:creationId xmlns:a16="http://schemas.microsoft.com/office/drawing/2014/main" id="{03B1146C-0C43-4797-BC27-FAFA6B35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9246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1" name="连接线_71">
            <a:extLst xmlns:a="http://schemas.openxmlformats.org/drawingml/2006/main">
              <a:ext uri="{FF2B5EF4-FFF2-40B4-BE49-F238E27FC236}">
                <a16:creationId xmlns:a16="http://schemas.microsoft.com/office/drawing/2014/main" id="{684D2409-E087-46DD-AD19-7857952B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707707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2" name="流程箭头_72">
            <a:extLst xmlns:a="http://schemas.openxmlformats.org/drawingml/2006/main">
              <a:ext uri="{FF2B5EF4-FFF2-40B4-BE49-F238E27FC236}">
                <a16:creationId xmlns:a16="http://schemas.microsoft.com/office/drawing/2014/main" id="{1677D6E2-9414-4BDD-B484-ADF86CCB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086600"/>
            <a:ext cx="152400" cy="200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3" name="供需失配与运输服务响应_73">
            <a:extLst xmlns:a="http://schemas.openxmlformats.org/drawingml/2006/main">
              <a:ext uri="{FF2B5EF4-FFF2-40B4-BE49-F238E27FC236}">
                <a16:creationId xmlns:a16="http://schemas.microsoft.com/office/drawing/2014/main" id="{5F1C531B-5114-4DA2-85A6-C4E704CF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7362825"/>
            <a:ext cx="6108192" cy="17526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4" name="文字_74">
            <a:extLst xmlns:a="http://schemas.openxmlformats.org/drawingml/2006/main">
              <a:ext uri="{FF2B5EF4-FFF2-40B4-BE49-F238E27FC236}">
                <a16:creationId xmlns:a16="http://schemas.microsoft.com/office/drawing/2014/main" id="{B72E928B-A436-43C1-BA3D-0748936E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7448550"/>
            <a:ext cx="59557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供需失配与运输服务响应</a:t>
            </a:r>
          </a:p>
        </p:txBody>
      </p:sp>
      <p:sp>
        <p:nvSpPr>
          <p:cNvPr id="75" name="文字_75">
            <a:extLst xmlns:a="http://schemas.openxmlformats.org/drawingml/2006/main">
              <a:ext uri="{FF2B5EF4-FFF2-40B4-BE49-F238E27FC236}">
                <a16:creationId xmlns:a16="http://schemas.microsoft.com/office/drawing/2014/main" id="{F2B2BB82-665E-4319-A0B2-B9293495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7905750"/>
            <a:ext cx="5898642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通过量与货物积压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排队等待与船期偏移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港航衔接、运输时效与交付可靠性</a:t>
            </a:r>
          </a:p>
        </p:txBody>
      </p:sp>
      <p:sp>
        <p:nvSpPr>
          <p:cNvPr id="76" name="流程箭头_76">
            <a:extLst xmlns:a="http://schemas.openxmlformats.org/drawingml/2006/main">
              <a:ext uri="{FF2B5EF4-FFF2-40B4-BE49-F238E27FC236}">
                <a16:creationId xmlns:a16="http://schemas.microsoft.com/office/drawing/2014/main" id="{06776B8F-1D5E-4AFE-BD79-EE3E7F2F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9505950"/>
            <a:ext cx="1524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7" name="研究模块_77">
            <a:extLst xmlns:a="http://schemas.openxmlformats.org/drawingml/2006/main">
              <a:ext uri="{FF2B5EF4-FFF2-40B4-BE49-F238E27FC236}">
                <a16:creationId xmlns:a16="http://schemas.microsoft.com/office/drawing/2014/main" id="{AA2623D5-B576-4DCE-A224-56FA6742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9639300"/>
            <a:ext cx="6473952" cy="4533900"/>
          </a:xfrm>
          <a:prstGeom xmlns:a="http://schemas.openxmlformats.org/drawingml/2006/main" prst="roundRect">
            <a:avLst>
              <a:gd name="adj" fmla="val 2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8" name="模块标题背景_78">
            <a:extLst xmlns:a="http://schemas.openxmlformats.org/drawingml/2006/main">
              <a:ext uri="{FF2B5EF4-FFF2-40B4-BE49-F238E27FC236}">
                <a16:creationId xmlns:a16="http://schemas.microsoft.com/office/drawing/2014/main" id="{5F0DECC9-95AC-4877-9F01-4197AB55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9703308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9" name="模块标题_79">
            <a:extLst xmlns:a="http://schemas.openxmlformats.org/drawingml/2006/main">
              <a:ext uri="{FF2B5EF4-FFF2-40B4-BE49-F238E27FC236}">
                <a16:creationId xmlns:a16="http://schemas.microsoft.com/office/drawing/2014/main" id="{C78B2EBA-044F-4629-B87C-C01A05F6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9705975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运输组织调整与运行反馈</a:t>
            </a:r>
          </a:p>
        </p:txBody>
      </p:sp>
      <p:sp>
        <p:nvSpPr>
          <p:cNvPr id="80" name="通航限制与运输服务变化_80">
            <a:extLst xmlns:a="http://schemas.openxmlformats.org/drawingml/2006/main">
              <a:ext uri="{FF2B5EF4-FFF2-40B4-BE49-F238E27FC236}">
                <a16:creationId xmlns:a16="http://schemas.microsoft.com/office/drawing/2014/main" id="{05D40E59-28D2-4F4B-B7F8-1EA7E7A0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0191750"/>
            <a:ext cx="6108192" cy="695325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1" name="文字_81">
            <a:extLst xmlns:a="http://schemas.openxmlformats.org/drawingml/2006/main">
              <a:ext uri="{FF2B5EF4-FFF2-40B4-BE49-F238E27FC236}">
                <a16:creationId xmlns:a16="http://schemas.microsoft.com/office/drawing/2014/main" id="{926153ED-196C-4A4E-84E6-A2B55D5A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0277475"/>
            <a:ext cx="595579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通航限制与运输服务变化</a:t>
            </a:r>
          </a:p>
        </p:txBody>
      </p:sp>
      <p:sp>
        <p:nvSpPr>
          <p:cNvPr id="82" name="文字_82">
            <a:extLst xmlns:a="http://schemas.openxmlformats.org/drawingml/2006/main">
              <a:ext uri="{FF2B5EF4-FFF2-40B4-BE49-F238E27FC236}">
                <a16:creationId xmlns:a16="http://schemas.microsoft.com/office/drawing/2014/main" id="{43F992C9-681B-4511-BBAC-D501A818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0620375"/>
            <a:ext cx="5898642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待闸、船期与港航衔接变化</a:t>
            </a:r>
          </a:p>
        </p:txBody>
      </p:sp>
      <p:sp>
        <p:nvSpPr>
          <p:cNvPr id="83" name="连接线_83">
            <a:extLst xmlns:a="http://schemas.openxmlformats.org/drawingml/2006/main">
              <a:ext uri="{FF2B5EF4-FFF2-40B4-BE49-F238E27FC236}">
                <a16:creationId xmlns:a16="http://schemas.microsoft.com/office/drawing/2014/main" id="{2C5476AB-157C-402C-B410-C04A2ED0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09156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4" name="连接线_84">
            <a:extLst xmlns:a="http://schemas.openxmlformats.org/drawingml/2006/main">
              <a:ext uri="{FF2B5EF4-FFF2-40B4-BE49-F238E27FC236}">
                <a16:creationId xmlns:a16="http://schemas.microsoft.com/office/drawing/2014/main" id="{A2821B39-377F-4228-8541-530EE1B7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1029950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5" name="流程箭头_85">
            <a:extLst xmlns:a="http://schemas.openxmlformats.org/drawingml/2006/main">
              <a:ext uri="{FF2B5EF4-FFF2-40B4-BE49-F238E27FC236}">
                <a16:creationId xmlns:a16="http://schemas.microsoft.com/office/drawing/2014/main" id="{D577AD5A-8D42-4785-A43A-63DE629D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1039475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6" name="流程箭头_86">
            <a:extLst xmlns:a="http://schemas.openxmlformats.org/drawingml/2006/main">
              <a:ext uri="{FF2B5EF4-FFF2-40B4-BE49-F238E27FC236}">
                <a16:creationId xmlns:a16="http://schemas.microsoft.com/office/drawing/2014/main" id="{CA6FBC5B-A1E0-4DB7-BD74-BF6F1BC0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1039475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7" name="船舶组织调整_87">
            <a:extLst xmlns:a="http://schemas.openxmlformats.org/drawingml/2006/main">
              <a:ext uri="{FF2B5EF4-FFF2-40B4-BE49-F238E27FC236}">
                <a16:creationId xmlns:a16="http://schemas.microsoft.com/office/drawing/2014/main" id="{F8FC2F7C-94FC-477D-AEDA-151B6CA2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1258550"/>
            <a:ext cx="2862072" cy="158115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8" name="文字_88">
            <a:extLst xmlns:a="http://schemas.openxmlformats.org/drawingml/2006/main">
              <a:ext uri="{FF2B5EF4-FFF2-40B4-BE49-F238E27FC236}">
                <a16:creationId xmlns:a16="http://schemas.microsoft.com/office/drawing/2014/main" id="{97388FBE-C2BC-4414-B7E9-D32997E1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1344275"/>
            <a:ext cx="2709672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船舶组织调整</a:t>
            </a:r>
          </a:p>
        </p:txBody>
      </p:sp>
      <p:sp>
        <p:nvSpPr>
          <p:cNvPr id="89" name="文字_89">
            <a:extLst xmlns:a="http://schemas.openxmlformats.org/drawingml/2006/main">
              <a:ext uri="{FF2B5EF4-FFF2-40B4-BE49-F238E27FC236}">
                <a16:creationId xmlns:a16="http://schemas.microsoft.com/office/drawing/2014/main" id="{40781453-10C2-468E-AD30-AD8191F8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1763375"/>
            <a:ext cx="2652522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航次与待闸安排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船型及通道变化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港航作业衔接</a:t>
            </a:r>
          </a:p>
        </p:txBody>
      </p:sp>
      <p:sp>
        <p:nvSpPr>
          <p:cNvPr id="90" name="货物发运调整_90">
            <a:extLst xmlns:a="http://schemas.openxmlformats.org/drawingml/2006/main">
              <a:ext uri="{FF2B5EF4-FFF2-40B4-BE49-F238E27FC236}">
                <a16:creationId xmlns:a16="http://schemas.microsoft.com/office/drawing/2014/main" id="{29C09FC0-DD65-4D39-9E48-60CBAFD0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11258550"/>
            <a:ext cx="2862072" cy="158115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1" name="文字_91">
            <a:extLst xmlns:a="http://schemas.openxmlformats.org/drawingml/2006/main">
              <a:ext uri="{FF2B5EF4-FFF2-40B4-BE49-F238E27FC236}">
                <a16:creationId xmlns:a16="http://schemas.microsoft.com/office/drawing/2014/main" id="{F7718EA9-B0A0-4910-8500-E94FCB38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928" y="11344275"/>
            <a:ext cx="2709672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货物发运调整</a:t>
            </a:r>
          </a:p>
        </p:txBody>
      </p:sp>
      <p:sp>
        <p:nvSpPr>
          <p:cNvPr id="92" name="文字_92">
            <a:extLst xmlns:a="http://schemas.openxmlformats.org/drawingml/2006/main">
              <a:ext uri="{FF2B5EF4-FFF2-40B4-BE49-F238E27FC236}">
                <a16:creationId xmlns:a16="http://schemas.microsoft.com/office/drawing/2014/main" id="{B45327D0-35FB-498E-B3A0-59F1562D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503" y="11763375"/>
            <a:ext cx="2652522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提前或延后发运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到达节奏变化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受限货流转移</a:t>
            </a:r>
          </a:p>
        </p:txBody>
      </p:sp>
      <p:sp>
        <p:nvSpPr>
          <p:cNvPr id="93" name="连接线_93">
            <a:extLst xmlns:a="http://schemas.openxmlformats.org/drawingml/2006/main">
              <a:ext uri="{FF2B5EF4-FFF2-40B4-BE49-F238E27FC236}">
                <a16:creationId xmlns:a16="http://schemas.microsoft.com/office/drawing/2014/main" id="{C88C645E-85E3-444E-8413-F2CE0953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292542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94" name="连接线_94">
            <a:extLst xmlns:a="http://schemas.openxmlformats.org/drawingml/2006/main">
              <a:ext uri="{FF2B5EF4-FFF2-40B4-BE49-F238E27FC236}">
                <a16:creationId xmlns:a16="http://schemas.microsoft.com/office/drawing/2014/main" id="{F5B45567-78D1-456C-97A5-F0E873D4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292542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95" name="连接线_95">
            <a:extLst xmlns:a="http://schemas.openxmlformats.org/drawingml/2006/main">
              <a:ext uri="{FF2B5EF4-FFF2-40B4-BE49-F238E27FC236}">
                <a16:creationId xmlns:a16="http://schemas.microsoft.com/office/drawing/2014/main" id="{BAEF905D-E788-46D6-897D-663FF734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307782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96" name="流程箭头_96">
            <a:extLst xmlns:a="http://schemas.openxmlformats.org/drawingml/2006/main">
              <a:ext uri="{FF2B5EF4-FFF2-40B4-BE49-F238E27FC236}">
                <a16:creationId xmlns:a16="http://schemas.microsoft.com/office/drawing/2014/main" id="{66DB9D32-2A3D-4586-8938-441CC0CD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3087350"/>
            <a:ext cx="152400" cy="200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97" name="组织调整对运行的反馈_97">
            <a:extLst xmlns:a="http://schemas.openxmlformats.org/drawingml/2006/main">
              <a:ext uri="{FF2B5EF4-FFF2-40B4-BE49-F238E27FC236}">
                <a16:creationId xmlns:a16="http://schemas.microsoft.com/office/drawing/2014/main" id="{DC30CFB0-CB2A-4AC6-9118-1191A37B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3325475"/>
            <a:ext cx="6108192" cy="7143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8" name="文字_98">
            <a:extLst xmlns:a="http://schemas.openxmlformats.org/drawingml/2006/main">
              <a:ext uri="{FF2B5EF4-FFF2-40B4-BE49-F238E27FC236}">
                <a16:creationId xmlns:a16="http://schemas.microsoft.com/office/drawing/2014/main" id="{2E5E0941-7818-4F37-8F1C-6CAD5904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3411200"/>
            <a:ext cx="5955792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组织调整对运行的反馈</a:t>
            </a:r>
          </a:p>
        </p:txBody>
      </p:sp>
      <p:sp>
        <p:nvSpPr>
          <p:cNvPr id="99" name="文字_99">
            <a:extLst xmlns:a="http://schemas.openxmlformats.org/drawingml/2006/main">
              <a:ext uri="{FF2B5EF4-FFF2-40B4-BE49-F238E27FC236}">
                <a16:creationId xmlns:a16="http://schemas.microsoft.com/office/drawing/2014/main" id="{0EBDAC82-4D69-42A2-BE71-E5EBE2FF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3754100"/>
            <a:ext cx="5898642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更新运力、到达流与货类运输时序</a:t>
            </a:r>
          </a:p>
        </p:txBody>
      </p:sp>
      <p:sp>
        <p:nvSpPr>
          <p:cNvPr id="100" name="连接线_100">
            <a:extLst xmlns:a="http://schemas.openxmlformats.org/drawingml/2006/main">
              <a:ext uri="{FF2B5EF4-FFF2-40B4-BE49-F238E27FC236}">
                <a16:creationId xmlns:a16="http://schemas.microsoft.com/office/drawing/2014/main" id="{026C6F14-3CF8-41E4-910C-0045C388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3687425"/>
            <a:ext cx="3021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1" name="连接线_101">
            <a:extLst xmlns:a="http://schemas.openxmlformats.org/drawingml/2006/main">
              <a:ext uri="{FF2B5EF4-FFF2-40B4-BE49-F238E27FC236}">
                <a16:creationId xmlns:a16="http://schemas.microsoft.com/office/drawing/2014/main" id="{3604867C-034C-40D7-9F4F-1E62DD57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495800"/>
            <a:ext cx="19050" cy="919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2" name="连接线_102">
            <a:extLst xmlns:a="http://schemas.openxmlformats.org/drawingml/2006/main">
              <a:ext uri="{FF2B5EF4-FFF2-40B4-BE49-F238E27FC236}">
                <a16:creationId xmlns:a16="http://schemas.microsoft.com/office/drawing/2014/main" id="{8DA94EE7-71BA-41C3-97F5-88640712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495800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3" name="流程箭头_103">
            <a:extLst xmlns:a="http://schemas.openxmlformats.org/drawingml/2006/main">
              <a:ext uri="{FF2B5EF4-FFF2-40B4-BE49-F238E27FC236}">
                <a16:creationId xmlns:a16="http://schemas.microsoft.com/office/drawing/2014/main" id="{6455284D-91B6-42A2-A768-F401C1DC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29125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4" name="连接线_104">
            <a:extLst xmlns:a="http://schemas.openxmlformats.org/drawingml/2006/main">
              <a:ext uri="{FF2B5EF4-FFF2-40B4-BE49-F238E27FC236}">
                <a16:creationId xmlns:a16="http://schemas.microsoft.com/office/drawing/2014/main" id="{6DB570A0-3A7C-420C-A1C9-D458F10E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368742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5" name="连接线_105">
            <a:extLst xmlns:a="http://schemas.openxmlformats.org/drawingml/2006/main">
              <a:ext uri="{FF2B5EF4-FFF2-40B4-BE49-F238E27FC236}">
                <a16:creationId xmlns:a16="http://schemas.microsoft.com/office/drawing/2014/main" id="{8E631A6D-1ACB-42F8-AB6C-0B590A7C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495800"/>
            <a:ext cx="19050" cy="919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6" name="连接线_106">
            <a:extLst xmlns:a="http://schemas.openxmlformats.org/drawingml/2006/main">
              <a:ext uri="{FF2B5EF4-FFF2-40B4-BE49-F238E27FC236}">
                <a16:creationId xmlns:a16="http://schemas.microsoft.com/office/drawing/2014/main" id="{F588F65D-FFC8-4784-AD33-8092D15A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9580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7" name="流程箭头_107">
            <a:extLst xmlns:a="http://schemas.openxmlformats.org/drawingml/2006/main">
              <a:ext uri="{FF2B5EF4-FFF2-40B4-BE49-F238E27FC236}">
                <a16:creationId xmlns:a16="http://schemas.microsoft.com/office/drawing/2014/main" id="{EC66DD5C-151F-4273-A7C5-6FBFE69F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29125"/>
            <a:ext cx="171450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08" name="容器_108">
            <a:extLst xmlns:a="http://schemas.openxmlformats.org/drawingml/2006/main">
              <a:ext uri="{FF2B5EF4-FFF2-40B4-BE49-F238E27FC236}">
                <a16:creationId xmlns:a16="http://schemas.microsoft.com/office/drawing/2014/main" id="{FA0D3D4E-E4EF-4987-86CE-1E45321C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0591800"/>
            <a:ext cx="247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9" name="容器_109">
            <a:extLst xmlns:a="http://schemas.openxmlformats.org/drawingml/2006/main">
              <a:ext uri="{FF2B5EF4-FFF2-40B4-BE49-F238E27FC236}">
                <a16:creationId xmlns:a16="http://schemas.microsoft.com/office/drawing/2014/main" id="{E37B12F6-AA04-4BCC-B02B-842EFA70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0591800"/>
            <a:ext cx="247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0" name="文字_110">
            <a:extLst xmlns:a="http://schemas.openxmlformats.org/drawingml/2006/main">
              <a:ext uri="{FF2B5EF4-FFF2-40B4-BE49-F238E27FC236}">
                <a16:creationId xmlns:a16="http://schemas.microsoft.com/office/drawing/2014/main" id="{64B06468-52D0-41BC-98AC-CA58DC0B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0591800"/>
            <a:ext cx="238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力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11" name="文字_111">
            <a:extLst xmlns:a="http://schemas.openxmlformats.org/drawingml/2006/main">
              <a:ext uri="{FF2B5EF4-FFF2-40B4-BE49-F238E27FC236}">
                <a16:creationId xmlns:a16="http://schemas.microsoft.com/office/drawing/2014/main" id="{BE156B72-F4F6-4099-BB72-F4D8EA5E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0591800"/>
            <a:ext cx="238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达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12" name="流程箭头_112">
            <a:extLst xmlns:a="http://schemas.openxmlformats.org/drawingml/2006/main">
              <a:ext uri="{FF2B5EF4-FFF2-40B4-BE49-F238E27FC236}">
                <a16:creationId xmlns:a16="http://schemas.microsoft.com/office/drawing/2014/main" id="{5B99A5AE-3259-4EF0-9D00-46201DD9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4201775"/>
            <a:ext cx="1524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3" name="研究模块_113">
            <a:extLst xmlns:a="http://schemas.openxmlformats.org/drawingml/2006/main">
              <a:ext uri="{FF2B5EF4-FFF2-40B4-BE49-F238E27FC236}">
                <a16:creationId xmlns:a16="http://schemas.microsoft.com/office/drawing/2014/main" id="{9A88C975-0FC4-41AE-B142-C084BCBC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14363700"/>
            <a:ext cx="6473952" cy="9182100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4" name="模块标题背景_114">
            <a:extLst xmlns:a="http://schemas.openxmlformats.org/drawingml/2006/main">
              <a:ext uri="{FF2B5EF4-FFF2-40B4-BE49-F238E27FC236}">
                <a16:creationId xmlns:a16="http://schemas.microsoft.com/office/drawing/2014/main" id="{D7C31384-F5A9-476C-AF6C-7597EA2E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14427708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5" name="模块标题_115">
            <a:extLst xmlns:a="http://schemas.openxmlformats.org/drawingml/2006/main">
              <a:ext uri="{FF2B5EF4-FFF2-40B4-BE49-F238E27FC236}">
                <a16:creationId xmlns:a16="http://schemas.microsoft.com/office/drawing/2014/main" id="{D882D55A-3111-4DB6-B746-72C5BC2C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4430375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航运波动传播与动态响应模型构建</a:t>
            </a:r>
          </a:p>
        </p:txBody>
      </p:sp>
      <p:sp>
        <p:nvSpPr>
          <p:cNvPr id="116" name="波动传播与恢复特征_116">
            <a:extLst xmlns:a="http://schemas.openxmlformats.org/drawingml/2006/main">
              <a:ext uri="{FF2B5EF4-FFF2-40B4-BE49-F238E27FC236}">
                <a16:creationId xmlns:a16="http://schemas.microsoft.com/office/drawing/2014/main" id="{0C759905-C7B4-4AE9-B83D-C7C3BD05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4925675"/>
            <a:ext cx="6108192" cy="885825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7" name="文字_117">
            <a:extLst xmlns:a="http://schemas.openxmlformats.org/drawingml/2006/main">
              <a:ext uri="{FF2B5EF4-FFF2-40B4-BE49-F238E27FC236}">
                <a16:creationId xmlns:a16="http://schemas.microsoft.com/office/drawing/2014/main" id="{34014CD4-3683-4E01-95F1-AC59FA84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5011400"/>
            <a:ext cx="595579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波动传播与恢复特征</a:t>
            </a:r>
          </a:p>
        </p:txBody>
      </p:sp>
      <p:sp>
        <p:nvSpPr>
          <p:cNvPr id="118" name="文字_118">
            <a:extLst xmlns:a="http://schemas.openxmlformats.org/drawingml/2006/main">
              <a:ext uri="{FF2B5EF4-FFF2-40B4-BE49-F238E27FC236}">
                <a16:creationId xmlns:a16="http://schemas.microsoft.com/office/drawing/2014/main" id="{6EE29853-7E46-469B-8D46-0B0D3F4A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5373350"/>
            <a:ext cx="5898642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坝区多通道与上下游传播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波动时滞、放大与恢复</a:t>
            </a:r>
          </a:p>
        </p:txBody>
      </p:sp>
      <p:sp>
        <p:nvSpPr>
          <p:cNvPr id="119" name="流程箭头_119">
            <a:extLst xmlns:a="http://schemas.openxmlformats.org/drawingml/2006/main">
              <a:ext uri="{FF2B5EF4-FFF2-40B4-BE49-F238E27FC236}">
                <a16:creationId xmlns:a16="http://schemas.microsoft.com/office/drawing/2014/main" id="{57C68D28-CB7A-408F-87DF-37A2912E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5859125"/>
            <a:ext cx="1524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20" name="航运动态响应模型_120">
            <a:extLst xmlns:a="http://schemas.openxmlformats.org/drawingml/2006/main">
              <a:ext uri="{FF2B5EF4-FFF2-40B4-BE49-F238E27FC236}">
                <a16:creationId xmlns:a16="http://schemas.microsoft.com/office/drawing/2014/main" id="{D307EB09-4F23-42D6-9486-F22AEC6E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6135350"/>
            <a:ext cx="6108192" cy="1152525"/>
          </a:xfrm>
          <a:prstGeom xmlns:a="http://schemas.openxmlformats.org/drawingml/2006/main" prst="roundRect">
            <a:avLst>
              <a:gd name="adj" fmla="val 8264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1" name="文字_121">
            <a:extLst xmlns:a="http://schemas.openxmlformats.org/drawingml/2006/main">
              <a:ext uri="{FF2B5EF4-FFF2-40B4-BE49-F238E27FC236}">
                <a16:creationId xmlns:a16="http://schemas.microsoft.com/office/drawing/2014/main" id="{6044E9BE-9010-40F0-87BD-62DDEBBF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6221075"/>
            <a:ext cx="5955792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航运动态响应模型</a:t>
            </a:r>
          </a:p>
        </p:txBody>
      </p:sp>
      <p:sp>
        <p:nvSpPr>
          <p:cNvPr id="122" name="文字_122">
            <a:extLst xmlns:a="http://schemas.openxmlformats.org/drawingml/2006/main">
              <a:ext uri="{FF2B5EF4-FFF2-40B4-BE49-F238E27FC236}">
                <a16:creationId xmlns:a16="http://schemas.microsoft.com/office/drawing/2014/main" id="{6AA0E053-6595-4512-8E3D-B67C6CCB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6640175"/>
            <a:ext cx="5898642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能力、需求、排队与组织调整联动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区分实际流量、积压与未满足需求</a:t>
            </a:r>
          </a:p>
        </p:txBody>
      </p:sp>
      <p:sp>
        <p:nvSpPr>
          <p:cNvPr id="123" name="连接线_123">
            <a:extLst xmlns:a="http://schemas.openxmlformats.org/drawingml/2006/main">
              <a:ext uri="{FF2B5EF4-FFF2-40B4-BE49-F238E27FC236}">
                <a16:creationId xmlns:a16="http://schemas.microsoft.com/office/drawing/2014/main" id="{2A2B9652-836C-4CFE-B624-825A3502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325975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24" name="连接线_124">
            <a:extLst xmlns:a="http://schemas.openxmlformats.org/drawingml/2006/main">
              <a:ext uri="{FF2B5EF4-FFF2-40B4-BE49-F238E27FC236}">
                <a16:creationId xmlns:a16="http://schemas.microsoft.com/office/drawing/2014/main" id="{1994ECC4-B4B1-42F1-9C68-1C3A7DCB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744027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25" name="流程箭头_125">
            <a:extLst xmlns:a="http://schemas.openxmlformats.org/drawingml/2006/main">
              <a:ext uri="{FF2B5EF4-FFF2-40B4-BE49-F238E27FC236}">
                <a16:creationId xmlns:a16="http://schemas.microsoft.com/office/drawing/2014/main" id="{676C5AED-EF10-4316-817A-D6C97B99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7449800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26" name="流程箭头_126">
            <a:extLst xmlns:a="http://schemas.openxmlformats.org/drawingml/2006/main">
              <a:ext uri="{FF2B5EF4-FFF2-40B4-BE49-F238E27FC236}">
                <a16:creationId xmlns:a16="http://schemas.microsoft.com/office/drawing/2014/main" id="{86D7EC56-B148-40F1-8FAD-3386F9C7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449800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27" name="典型事件校准_127">
            <a:extLst xmlns:a="http://schemas.openxmlformats.org/drawingml/2006/main">
              <a:ext uri="{FF2B5EF4-FFF2-40B4-BE49-F238E27FC236}">
                <a16:creationId xmlns:a16="http://schemas.microsoft.com/office/drawing/2014/main" id="{D32BD6A2-6F6C-4DAB-81A8-7CEB5C20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7668875"/>
            <a:ext cx="2862072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8" name="文字_128">
            <a:extLst xmlns:a="http://schemas.openxmlformats.org/drawingml/2006/main">
              <a:ext uri="{FF2B5EF4-FFF2-40B4-BE49-F238E27FC236}">
                <a16:creationId xmlns:a16="http://schemas.microsoft.com/office/drawing/2014/main" id="{AFA20D95-DD70-4750-B733-FA246833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7754600"/>
            <a:ext cx="2709672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典型事件校准</a:t>
            </a:r>
          </a:p>
        </p:txBody>
      </p:sp>
      <p:sp>
        <p:nvSpPr>
          <p:cNvPr id="129" name="文字_129">
            <a:extLst xmlns:a="http://schemas.openxmlformats.org/drawingml/2006/main">
              <a:ext uri="{FF2B5EF4-FFF2-40B4-BE49-F238E27FC236}">
                <a16:creationId xmlns:a16="http://schemas.microsoft.com/office/drawing/2014/main" id="{364505C6-2E49-438E-A451-BAFD064E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18173700"/>
            <a:ext cx="2652522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能力与到达参数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排队与组织调整参数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参数来源与适用范围</a:t>
            </a:r>
          </a:p>
        </p:txBody>
      </p:sp>
      <p:sp>
        <p:nvSpPr>
          <p:cNvPr id="130" name="独立事件检验_130">
            <a:extLst xmlns:a="http://schemas.openxmlformats.org/drawingml/2006/main">
              <a:ext uri="{FF2B5EF4-FFF2-40B4-BE49-F238E27FC236}">
                <a16:creationId xmlns:a16="http://schemas.microsoft.com/office/drawing/2014/main" id="{70772D8B-CE0D-4248-AF05-477F558F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17668875"/>
            <a:ext cx="2862072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1" name="文字_131">
            <a:extLst xmlns:a="http://schemas.openxmlformats.org/drawingml/2006/main">
              <a:ext uri="{FF2B5EF4-FFF2-40B4-BE49-F238E27FC236}">
                <a16:creationId xmlns:a16="http://schemas.microsoft.com/office/drawing/2014/main" id="{34524C9F-8E1A-49E4-90ED-1A885736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928" y="17754600"/>
            <a:ext cx="2709672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独立事件检验</a:t>
            </a:r>
          </a:p>
        </p:txBody>
      </p:sp>
      <p:sp>
        <p:nvSpPr>
          <p:cNvPr id="132" name="文字_132">
            <a:extLst xmlns:a="http://schemas.openxmlformats.org/drawingml/2006/main">
              <a:ext uri="{FF2B5EF4-FFF2-40B4-BE49-F238E27FC236}">
                <a16:creationId xmlns:a16="http://schemas.microsoft.com/office/drawing/2014/main" id="{EBCD11A6-F8A2-4D3C-A487-A6458ADE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503" y="18173700"/>
            <a:ext cx="2652522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通过量与等待时间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船期偏移与传播时滞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误差与模型修正</a:t>
            </a:r>
          </a:p>
        </p:txBody>
      </p:sp>
      <p:sp>
        <p:nvSpPr>
          <p:cNvPr id="133" name="连接线_133">
            <a:extLst xmlns:a="http://schemas.openxmlformats.org/drawingml/2006/main">
              <a:ext uri="{FF2B5EF4-FFF2-40B4-BE49-F238E27FC236}">
                <a16:creationId xmlns:a16="http://schemas.microsoft.com/office/drawing/2014/main" id="{45372544-E4BD-45C3-A52D-ED5D22AE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8478500"/>
            <a:ext cx="3021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4" name="连接线_134">
            <a:extLst xmlns:a="http://schemas.openxmlformats.org/drawingml/2006/main">
              <a:ext uri="{FF2B5EF4-FFF2-40B4-BE49-F238E27FC236}">
                <a16:creationId xmlns:a16="http://schemas.microsoft.com/office/drawing/2014/main" id="{2248E408-ACED-4EAA-ABB7-78D6DBAB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6706850"/>
            <a:ext cx="190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5" name="连接线_135">
            <a:extLst xmlns:a="http://schemas.openxmlformats.org/drawingml/2006/main">
              <a:ext uri="{FF2B5EF4-FFF2-40B4-BE49-F238E27FC236}">
                <a16:creationId xmlns:a16="http://schemas.microsoft.com/office/drawing/2014/main" id="{4DDADE83-1600-47BB-BDEB-9BF56A3E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6706850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6" name="流程箭头_136">
            <a:extLst xmlns:a="http://schemas.openxmlformats.org/drawingml/2006/main">
              <a:ext uri="{FF2B5EF4-FFF2-40B4-BE49-F238E27FC236}">
                <a16:creationId xmlns:a16="http://schemas.microsoft.com/office/drawing/2014/main" id="{C5A7E60B-7A1A-4914-90A8-F6ECA0AB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6640175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7" name="连接线_137">
            <a:extLst xmlns:a="http://schemas.openxmlformats.org/drawingml/2006/main">
              <a:ext uri="{FF2B5EF4-FFF2-40B4-BE49-F238E27FC236}">
                <a16:creationId xmlns:a16="http://schemas.microsoft.com/office/drawing/2014/main" id="{0444ED3B-3558-4B73-8C2E-EA6FDCA0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4785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8" name="连接线_138">
            <a:extLst xmlns:a="http://schemas.openxmlformats.org/drawingml/2006/main">
              <a:ext uri="{FF2B5EF4-FFF2-40B4-BE49-F238E27FC236}">
                <a16:creationId xmlns:a16="http://schemas.microsoft.com/office/drawing/2014/main" id="{505A6364-36DB-4C0F-B48C-DAC8C9C1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6706850"/>
            <a:ext cx="190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39" name="连接线_139">
            <a:extLst xmlns:a="http://schemas.openxmlformats.org/drawingml/2006/main">
              <a:ext uri="{FF2B5EF4-FFF2-40B4-BE49-F238E27FC236}">
                <a16:creationId xmlns:a16="http://schemas.microsoft.com/office/drawing/2014/main" id="{5D366009-B5CC-429B-84A5-737DB67D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7068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0" name="流程箭头_140">
            <a:extLst xmlns:a="http://schemas.openxmlformats.org/drawingml/2006/main">
              <a:ext uri="{FF2B5EF4-FFF2-40B4-BE49-F238E27FC236}">
                <a16:creationId xmlns:a16="http://schemas.microsoft.com/office/drawing/2014/main" id="{A96B7664-CF1A-479D-BC0A-681D4669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640175"/>
            <a:ext cx="171450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1" name="容器_141">
            <a:extLst xmlns:a="http://schemas.openxmlformats.org/drawingml/2006/main">
              <a:ext uri="{FF2B5EF4-FFF2-40B4-BE49-F238E27FC236}">
                <a16:creationId xmlns:a16="http://schemas.microsoft.com/office/drawing/2014/main" id="{C5929283-C95B-48F1-B16D-9AA104C0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7335500"/>
            <a:ext cx="247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2" name="容器_142">
            <a:extLst xmlns:a="http://schemas.openxmlformats.org/drawingml/2006/main">
              <a:ext uri="{FF2B5EF4-FFF2-40B4-BE49-F238E27FC236}">
                <a16:creationId xmlns:a16="http://schemas.microsoft.com/office/drawing/2014/main" id="{8F338004-2283-42F5-89FB-7358452C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335500"/>
            <a:ext cx="247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3" name="文字_143">
            <a:extLst xmlns:a="http://schemas.openxmlformats.org/drawingml/2006/main">
              <a:ext uri="{FF2B5EF4-FFF2-40B4-BE49-F238E27FC236}">
                <a16:creationId xmlns:a16="http://schemas.microsoft.com/office/drawing/2014/main" id="{FEAA3DDC-041D-4A15-957C-2BE21A67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7335500"/>
            <a:ext cx="238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44" name="文字_144">
            <a:extLst xmlns:a="http://schemas.openxmlformats.org/drawingml/2006/main">
              <a:ext uri="{FF2B5EF4-FFF2-40B4-BE49-F238E27FC236}">
                <a16:creationId xmlns:a16="http://schemas.microsoft.com/office/drawing/2014/main" id="{CA58294A-8A92-41A5-A732-FC48CB8C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335500"/>
            <a:ext cx="238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模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45" name="连接线_145">
            <a:extLst xmlns:a="http://schemas.openxmlformats.org/drawingml/2006/main">
              <a:ext uri="{FF2B5EF4-FFF2-40B4-BE49-F238E27FC236}">
                <a16:creationId xmlns:a16="http://schemas.microsoft.com/office/drawing/2014/main" id="{F0522720-2541-4E0B-BC6E-94FE85A2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93833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6" name="连接线_146">
            <a:extLst xmlns:a="http://schemas.openxmlformats.org/drawingml/2006/main">
              <a:ext uri="{FF2B5EF4-FFF2-40B4-BE49-F238E27FC236}">
                <a16:creationId xmlns:a16="http://schemas.microsoft.com/office/drawing/2014/main" id="{6A802CB3-3C60-419C-AB57-D01DE7C4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3833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7" name="连接线_147">
            <a:extLst xmlns:a="http://schemas.openxmlformats.org/drawingml/2006/main">
              <a:ext uri="{FF2B5EF4-FFF2-40B4-BE49-F238E27FC236}">
                <a16:creationId xmlns:a16="http://schemas.microsoft.com/office/drawing/2014/main" id="{7F6DEE99-D633-4656-B649-D5D7DC32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953577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8" name="流程箭头_148">
            <a:extLst xmlns:a="http://schemas.openxmlformats.org/drawingml/2006/main">
              <a:ext uri="{FF2B5EF4-FFF2-40B4-BE49-F238E27FC236}">
                <a16:creationId xmlns:a16="http://schemas.microsoft.com/office/drawing/2014/main" id="{51F8B17C-F451-4DA6-B8F0-4511861E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9545300"/>
            <a:ext cx="152400" cy="200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9" name="多情景传播与恢复响应_149">
            <a:extLst xmlns:a="http://schemas.openxmlformats.org/drawingml/2006/main">
              <a:ext uri="{FF2B5EF4-FFF2-40B4-BE49-F238E27FC236}">
                <a16:creationId xmlns:a16="http://schemas.microsoft.com/office/drawing/2014/main" id="{EBAB474D-5369-4185-88BA-36B5EDE8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9764375"/>
            <a:ext cx="6108192" cy="1114425"/>
          </a:xfrm>
          <a:prstGeom xmlns:a="http://schemas.openxmlformats.org/drawingml/2006/main" prst="roundRect">
            <a:avLst>
              <a:gd name="adj" fmla="val 8547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0" name="文字_150">
            <a:extLst xmlns:a="http://schemas.openxmlformats.org/drawingml/2006/main">
              <a:ext uri="{FF2B5EF4-FFF2-40B4-BE49-F238E27FC236}">
                <a16:creationId xmlns:a16="http://schemas.microsoft.com/office/drawing/2014/main" id="{0054EA3E-B8C2-4A73-9F8C-E78AD476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9850100"/>
            <a:ext cx="5955792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多情景传播与恢复响应</a:t>
            </a:r>
          </a:p>
        </p:txBody>
      </p:sp>
      <p:sp>
        <p:nvSpPr>
          <p:cNvPr id="151" name="文字_151">
            <a:extLst xmlns:a="http://schemas.openxmlformats.org/drawingml/2006/main">
              <a:ext uri="{FF2B5EF4-FFF2-40B4-BE49-F238E27FC236}">
                <a16:creationId xmlns:a16="http://schemas.microsoft.com/office/drawing/2014/main" id="{2A357488-CFE4-46A5-9C72-BA435561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20269200"/>
            <a:ext cx="589864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不同施工强度、工期、负荷与通道条件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传播范围、瓶颈转移与组织适应</a:t>
            </a:r>
          </a:p>
        </p:txBody>
      </p:sp>
      <p:sp>
        <p:nvSpPr>
          <p:cNvPr id="152" name="流程箭头_152">
            <a:extLst xmlns:a="http://schemas.openxmlformats.org/drawingml/2006/main">
              <a:ext uri="{FF2B5EF4-FFF2-40B4-BE49-F238E27FC236}">
                <a16:creationId xmlns:a16="http://schemas.microsoft.com/office/drawing/2014/main" id="{C814A62C-1198-4791-AA00-2A2EA565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945475"/>
            <a:ext cx="152400" cy="2381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3" name="供需失配与阈值_153">
            <a:extLst xmlns:a="http://schemas.openxmlformats.org/drawingml/2006/main">
              <a:ext uri="{FF2B5EF4-FFF2-40B4-BE49-F238E27FC236}">
                <a16:creationId xmlns:a16="http://schemas.microsoft.com/office/drawing/2014/main" id="{A6FBE07A-6EB9-484E-8AE4-C4966B79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21240750"/>
            <a:ext cx="1816608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4" name="文字_154">
            <a:extLst xmlns:a="http://schemas.openxmlformats.org/drawingml/2006/main">
              <a:ext uri="{FF2B5EF4-FFF2-40B4-BE49-F238E27FC236}">
                <a16:creationId xmlns:a16="http://schemas.microsoft.com/office/drawing/2014/main" id="{616524A1-E8EE-4ACD-A5F4-25458216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21326475"/>
            <a:ext cx="166420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供需失配与阈值</a:t>
            </a:r>
          </a:p>
        </p:txBody>
      </p:sp>
      <p:sp>
        <p:nvSpPr>
          <p:cNvPr id="155" name="文字_155">
            <a:extLst xmlns:a="http://schemas.openxmlformats.org/drawingml/2006/main">
              <a:ext uri="{FF2B5EF4-FFF2-40B4-BE49-F238E27FC236}">
                <a16:creationId xmlns:a16="http://schemas.microsoft.com/office/drawing/2014/main" id="{294A0B4A-AB8A-4FB2-95BF-B40CC0A7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83" y="21726525"/>
            <a:ext cx="1607058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持续积压条件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波动放大阈值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扰动累积效应</a:t>
            </a:r>
          </a:p>
        </p:txBody>
      </p:sp>
      <p:sp>
        <p:nvSpPr>
          <p:cNvPr id="156" name="积压消散与恢复_156">
            <a:extLst xmlns:a="http://schemas.openxmlformats.org/drawingml/2006/main">
              <a:ext uri="{FF2B5EF4-FFF2-40B4-BE49-F238E27FC236}">
                <a16:creationId xmlns:a16="http://schemas.microsoft.com/office/drawing/2014/main" id="{F1D091E9-25D0-4FFA-8495-D144DBC4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240750"/>
            <a:ext cx="1816608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7" name="文字_157">
            <a:extLst xmlns:a="http://schemas.openxmlformats.org/drawingml/2006/main">
              <a:ext uri="{FF2B5EF4-FFF2-40B4-BE49-F238E27FC236}">
                <a16:creationId xmlns:a16="http://schemas.microsoft.com/office/drawing/2014/main" id="{940F6676-18FC-43ED-BA18-8FFD8BD1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326475"/>
            <a:ext cx="166420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积压消散与恢复</a:t>
            </a:r>
          </a:p>
        </p:txBody>
      </p:sp>
      <p:sp>
        <p:nvSpPr>
          <p:cNvPr id="158" name="文字_158">
            <a:extLst xmlns:a="http://schemas.openxmlformats.org/drawingml/2006/main">
              <a:ext uri="{FF2B5EF4-FFF2-40B4-BE49-F238E27FC236}">
                <a16:creationId xmlns:a16="http://schemas.microsoft.com/office/drawing/2014/main" id="{04541F30-EAF6-4D32-B081-DDBF872A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1726525"/>
            <a:ext cx="1607058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积压消散速度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运输服务恢复时间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累计服务损失</a:t>
            </a:r>
          </a:p>
        </p:txBody>
      </p:sp>
      <p:sp>
        <p:nvSpPr>
          <p:cNvPr id="159" name="响应差异与边界_159">
            <a:extLst xmlns:a="http://schemas.openxmlformats.org/drawingml/2006/main">
              <a:ext uri="{FF2B5EF4-FFF2-40B4-BE49-F238E27FC236}">
                <a16:creationId xmlns:a16="http://schemas.microsoft.com/office/drawing/2014/main" id="{3F3B156C-0DD8-4ADF-8A16-72671BAD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192" y="21240750"/>
            <a:ext cx="1816608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0" name="文字_160">
            <a:extLst xmlns:a="http://schemas.openxmlformats.org/drawingml/2006/main">
              <a:ext uri="{FF2B5EF4-FFF2-40B4-BE49-F238E27FC236}">
                <a16:creationId xmlns:a16="http://schemas.microsoft.com/office/drawing/2014/main" id="{FCA742CA-BB01-452A-9820-3E334E54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392" y="21326475"/>
            <a:ext cx="166420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响应差异与边界</a:t>
            </a:r>
          </a:p>
        </p:txBody>
      </p:sp>
      <p:sp>
        <p:nvSpPr>
          <p:cNvPr id="161" name="文字_161">
            <a:extLst xmlns:a="http://schemas.openxmlformats.org/drawingml/2006/main">
              <a:ext uri="{FF2B5EF4-FFF2-40B4-BE49-F238E27FC236}">
                <a16:creationId xmlns:a16="http://schemas.microsoft.com/office/drawing/2014/main" id="{99758722-8C77-4D9F-9458-351DBEA9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967" y="21726525"/>
            <a:ext cx="1607058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关键影响因素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货类与通道差异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模型适用范围</a:t>
            </a:r>
          </a:p>
        </p:txBody>
      </p:sp>
      <p:sp>
        <p:nvSpPr>
          <p:cNvPr id="162" name="施工情景与能力变化_162">
            <a:extLst xmlns:a="http://schemas.openxmlformats.org/drawingml/2006/main">
              <a:ext uri="{FF2B5EF4-FFF2-40B4-BE49-F238E27FC236}">
                <a16:creationId xmlns:a16="http://schemas.microsoft.com/office/drawing/2014/main" id="{036627A0-D05E-49DE-B809-AC31E9E1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381125"/>
            <a:ext cx="2084832" cy="204787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3" name="文字_163">
            <a:extLst xmlns:a="http://schemas.openxmlformats.org/drawingml/2006/main">
              <a:ext uri="{FF2B5EF4-FFF2-40B4-BE49-F238E27FC236}">
                <a16:creationId xmlns:a16="http://schemas.microsoft.com/office/drawing/2014/main" id="{869CF932-2CBB-4E00-ADEF-AC8410DC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1466850"/>
            <a:ext cx="19324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施工情景与能力变化</a:t>
            </a:r>
          </a:p>
        </p:txBody>
      </p:sp>
      <p:sp>
        <p:nvSpPr>
          <p:cNvPr id="164" name="文字_164">
            <a:extLst xmlns:a="http://schemas.openxmlformats.org/drawingml/2006/main">
              <a:ext uri="{FF2B5EF4-FFF2-40B4-BE49-F238E27FC236}">
                <a16:creationId xmlns:a16="http://schemas.microsoft.com/office/drawing/2014/main" id="{863B714B-2D23-4815-9DB2-5B264A03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1962150"/>
            <a:ext cx="1875282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通航约束与能力折减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持续时间与恢复过程</a:t>
            </a:r>
          </a:p>
        </p:txBody>
      </p:sp>
      <p:sp>
        <p:nvSpPr>
          <p:cNvPr id="165" name="需求与到达变化_165">
            <a:extLst xmlns:a="http://schemas.openxmlformats.org/drawingml/2006/main">
              <a:ext uri="{FF2B5EF4-FFF2-40B4-BE49-F238E27FC236}">
                <a16:creationId xmlns:a16="http://schemas.microsoft.com/office/drawing/2014/main" id="{E33D0EE8-40A8-4E52-84F7-D161365D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4076700"/>
            <a:ext cx="2084832" cy="2143125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6" name="文字_166">
            <a:extLst xmlns:a="http://schemas.openxmlformats.org/drawingml/2006/main">
              <a:ext uri="{FF2B5EF4-FFF2-40B4-BE49-F238E27FC236}">
                <a16:creationId xmlns:a16="http://schemas.microsoft.com/office/drawing/2014/main" id="{3F20CF53-E233-4DC5-A917-A0D9D666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4162425"/>
            <a:ext cx="19324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需求与到达变化</a:t>
            </a:r>
          </a:p>
        </p:txBody>
      </p:sp>
      <p:sp>
        <p:nvSpPr>
          <p:cNvPr id="167" name="文字_167">
            <a:extLst xmlns:a="http://schemas.openxmlformats.org/drawingml/2006/main">
              <a:ext uri="{FF2B5EF4-FFF2-40B4-BE49-F238E27FC236}">
                <a16:creationId xmlns:a16="http://schemas.microsoft.com/office/drawing/2014/main" id="{C71C6E39-2DC3-4CBE-83E4-CAB9595C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4657725"/>
            <a:ext cx="1875282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常态需求特征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施工影响幅度与时滞</a:t>
            </a:r>
          </a:p>
        </p:txBody>
      </p:sp>
      <p:sp>
        <p:nvSpPr>
          <p:cNvPr id="168" name="运行与服务响应_168">
            <a:extLst xmlns:a="http://schemas.openxmlformats.org/drawingml/2006/main">
              <a:ext uri="{FF2B5EF4-FFF2-40B4-BE49-F238E27FC236}">
                <a16:creationId xmlns:a16="http://schemas.microsoft.com/office/drawing/2014/main" id="{601E2326-4798-4380-BF67-25CD70D7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7181850"/>
            <a:ext cx="2084832" cy="2095500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9" name="文字_169">
            <a:extLst xmlns:a="http://schemas.openxmlformats.org/drawingml/2006/main">
              <a:ext uri="{FF2B5EF4-FFF2-40B4-BE49-F238E27FC236}">
                <a16:creationId xmlns:a16="http://schemas.microsoft.com/office/drawing/2014/main" id="{FE0F7A77-F491-4F47-9F1E-401E53E9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7267575"/>
            <a:ext cx="19324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运行与服务响应</a:t>
            </a:r>
          </a:p>
        </p:txBody>
      </p:sp>
      <p:sp>
        <p:nvSpPr>
          <p:cNvPr id="170" name="文字_170">
            <a:extLst xmlns:a="http://schemas.openxmlformats.org/drawingml/2006/main">
              <a:ext uri="{FF2B5EF4-FFF2-40B4-BE49-F238E27FC236}">
                <a16:creationId xmlns:a16="http://schemas.microsoft.com/office/drawing/2014/main" id="{7D7D21B3-7A91-45EC-BF9C-E1583502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7762875"/>
            <a:ext cx="1875282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通过量、积压与等待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船期、时效与可靠性</a:t>
            </a:r>
          </a:p>
        </p:txBody>
      </p:sp>
      <p:sp>
        <p:nvSpPr>
          <p:cNvPr id="171" name="组织调整与反馈_171">
            <a:extLst xmlns:a="http://schemas.openxmlformats.org/drawingml/2006/main">
              <a:ext uri="{FF2B5EF4-FFF2-40B4-BE49-F238E27FC236}">
                <a16:creationId xmlns:a16="http://schemas.microsoft.com/office/drawing/2014/main" id="{01EC038F-661C-4249-98E1-8781F4FF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0858500"/>
            <a:ext cx="2084832" cy="2905125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2" name="文字_172">
            <a:extLst xmlns:a="http://schemas.openxmlformats.org/drawingml/2006/main">
              <a:ext uri="{FF2B5EF4-FFF2-40B4-BE49-F238E27FC236}">
                <a16:creationId xmlns:a16="http://schemas.microsoft.com/office/drawing/2014/main" id="{AD6E7467-D61C-4CBF-9F89-1DB98F7C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10944225"/>
            <a:ext cx="19324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组织调整与反馈</a:t>
            </a:r>
          </a:p>
        </p:txBody>
      </p:sp>
      <p:sp>
        <p:nvSpPr>
          <p:cNvPr id="173" name="文字_173">
            <a:extLst xmlns:a="http://schemas.openxmlformats.org/drawingml/2006/main">
              <a:ext uri="{FF2B5EF4-FFF2-40B4-BE49-F238E27FC236}">
                <a16:creationId xmlns:a16="http://schemas.microsoft.com/office/drawing/2014/main" id="{193FDB83-5550-496C-8753-0E101700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11439525"/>
            <a:ext cx="1875282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航次与发运调整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运力与到达变化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调整幅度与响应时滞</a:t>
            </a:r>
          </a:p>
        </p:txBody>
      </p:sp>
      <p:sp>
        <p:nvSpPr>
          <p:cNvPr id="174" name="传播与恢复规律_174">
            <a:extLst xmlns:a="http://schemas.openxmlformats.org/drawingml/2006/main">
              <a:ext uri="{FF2B5EF4-FFF2-40B4-BE49-F238E27FC236}">
                <a16:creationId xmlns:a16="http://schemas.microsoft.com/office/drawing/2014/main" id="{74852058-397B-4415-BFD5-56AFBC6F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5430500"/>
            <a:ext cx="2084832" cy="2143125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5" name="文字_175">
            <a:extLst xmlns:a="http://schemas.openxmlformats.org/drawingml/2006/main">
              <a:ext uri="{FF2B5EF4-FFF2-40B4-BE49-F238E27FC236}">
                <a16:creationId xmlns:a16="http://schemas.microsoft.com/office/drawing/2014/main" id="{27FE9BB9-26EB-45B9-82BF-A45C485D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15516225"/>
            <a:ext cx="19324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传播与恢复规律</a:t>
            </a:r>
          </a:p>
        </p:txBody>
      </p:sp>
      <p:sp>
        <p:nvSpPr>
          <p:cNvPr id="176" name="文字_176">
            <a:extLst xmlns:a="http://schemas.openxmlformats.org/drawingml/2006/main">
              <a:ext uri="{FF2B5EF4-FFF2-40B4-BE49-F238E27FC236}">
                <a16:creationId xmlns:a16="http://schemas.microsoft.com/office/drawing/2014/main" id="{FA82F4B2-0C4C-4636-9E0C-A08439D2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16011525"/>
            <a:ext cx="1875282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传播范围与时滞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放大阈值与恢复过程</a:t>
            </a:r>
          </a:p>
        </p:txBody>
      </p:sp>
      <p:sp>
        <p:nvSpPr>
          <p:cNvPr id="177" name="响应模型与参数_177">
            <a:extLst xmlns:a="http://schemas.openxmlformats.org/drawingml/2006/main">
              <a:ext uri="{FF2B5EF4-FFF2-40B4-BE49-F238E27FC236}">
                <a16:creationId xmlns:a16="http://schemas.microsoft.com/office/drawing/2014/main" id="{8664EE84-756A-4ED4-A912-A13E3825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8478500"/>
            <a:ext cx="2084832" cy="2143125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8" name="文字_178">
            <a:extLst xmlns:a="http://schemas.openxmlformats.org/drawingml/2006/main">
              <a:ext uri="{FF2B5EF4-FFF2-40B4-BE49-F238E27FC236}">
                <a16:creationId xmlns:a16="http://schemas.microsoft.com/office/drawing/2014/main" id="{E23B2C40-AA47-4F68-8F77-86B1E950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18564225"/>
            <a:ext cx="19324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响应模型与参数</a:t>
            </a:r>
          </a:p>
        </p:txBody>
      </p:sp>
      <p:sp>
        <p:nvSpPr>
          <p:cNvPr id="179" name="文字_179">
            <a:extLst xmlns:a="http://schemas.openxmlformats.org/drawingml/2006/main">
              <a:ext uri="{FF2B5EF4-FFF2-40B4-BE49-F238E27FC236}">
                <a16:creationId xmlns:a16="http://schemas.microsoft.com/office/drawing/2014/main" id="{9E88B321-C3D8-4512-9778-C485FF2A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19059525"/>
            <a:ext cx="1875282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航运动态响应模块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运行参数与适用范围</a:t>
            </a:r>
          </a:p>
        </p:txBody>
      </p:sp>
      <p:sp>
        <p:nvSpPr>
          <p:cNvPr id="180" name="模型检验结果_180">
            <a:extLst xmlns:a="http://schemas.openxmlformats.org/drawingml/2006/main">
              <a:ext uri="{FF2B5EF4-FFF2-40B4-BE49-F238E27FC236}">
                <a16:creationId xmlns:a16="http://schemas.microsoft.com/office/drawing/2014/main" id="{EBC74239-4C02-401F-8975-DF3F6C57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1431250"/>
            <a:ext cx="2084832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1" name="文字_181">
            <a:extLst xmlns:a="http://schemas.openxmlformats.org/drawingml/2006/main">
              <a:ext uri="{FF2B5EF4-FFF2-40B4-BE49-F238E27FC236}">
                <a16:creationId xmlns:a16="http://schemas.microsoft.com/office/drawing/2014/main" id="{5C3482F5-4911-4FAA-B800-3D1E98CD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0280" y="21516975"/>
            <a:ext cx="19324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模型检验结果</a:t>
            </a:r>
          </a:p>
        </p:txBody>
      </p:sp>
      <p:sp>
        <p:nvSpPr>
          <p:cNvPr id="182" name="文字_182">
            <a:extLst xmlns:a="http://schemas.openxmlformats.org/drawingml/2006/main">
              <a:ext uri="{FF2B5EF4-FFF2-40B4-BE49-F238E27FC236}">
                <a16:creationId xmlns:a16="http://schemas.microsoft.com/office/drawing/2014/main" id="{EB797CC5-703E-412D-94D3-DF72C974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22012275"/>
            <a:ext cx="1875282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运行指标误差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典型情景适用性</a:t>
            </a:r>
          </a:p>
        </p:txBody>
      </p:sp>
      <p:sp>
        <p:nvSpPr>
          <p:cNvPr id="183" name="流程箭头_183">
            <a:extLst xmlns:a="http://schemas.openxmlformats.org/drawingml/2006/main">
              <a:ext uri="{FF2B5EF4-FFF2-40B4-BE49-F238E27FC236}">
                <a16:creationId xmlns:a16="http://schemas.microsoft.com/office/drawing/2014/main" id="{F340AE25-893D-47F4-8CBF-B5472787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590925"/>
            <a:ext cx="152400" cy="3333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4" name="流程箭头_184">
            <a:extLst xmlns:a="http://schemas.openxmlformats.org/drawingml/2006/main">
              <a:ext uri="{FF2B5EF4-FFF2-40B4-BE49-F238E27FC236}">
                <a16:creationId xmlns:a16="http://schemas.microsoft.com/office/drawing/2014/main" id="{3D616944-637E-4FCB-B2B8-D280AAB2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419850"/>
            <a:ext cx="152400" cy="5619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5" name="流程箭头_185">
            <a:extLst xmlns:a="http://schemas.openxmlformats.org/drawingml/2006/main">
              <a:ext uri="{FF2B5EF4-FFF2-40B4-BE49-F238E27FC236}">
                <a16:creationId xmlns:a16="http://schemas.microsoft.com/office/drawing/2014/main" id="{F4CEB40F-6143-4D5B-87ED-FDEA2919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9467850"/>
            <a:ext cx="152400" cy="11811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6" name="流程箭头_186">
            <a:extLst xmlns:a="http://schemas.openxmlformats.org/drawingml/2006/main">
              <a:ext uri="{FF2B5EF4-FFF2-40B4-BE49-F238E27FC236}">
                <a16:creationId xmlns:a16="http://schemas.microsoft.com/office/drawing/2014/main" id="{DB47E910-3787-41C9-862E-9564E614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4001750"/>
            <a:ext cx="152400" cy="12096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7" name="流程箭头_187">
            <a:extLst xmlns:a="http://schemas.openxmlformats.org/drawingml/2006/main">
              <a:ext uri="{FF2B5EF4-FFF2-40B4-BE49-F238E27FC236}">
                <a16:creationId xmlns:a16="http://schemas.microsoft.com/office/drawing/2014/main" id="{265FDB47-A53E-4C5C-B0FF-57B66757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7783175"/>
            <a:ext cx="152400" cy="5048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8" name="流程箭头_188">
            <a:extLst xmlns:a="http://schemas.openxmlformats.org/drawingml/2006/main">
              <a:ext uri="{FF2B5EF4-FFF2-40B4-BE49-F238E27FC236}">
                <a16:creationId xmlns:a16="http://schemas.microsoft.com/office/drawing/2014/main" id="{B36A045F-9722-4A9B-BB4E-4C472BA8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20802600"/>
            <a:ext cx="15240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189" name="研究边界_189">
            <a:extLst xmlns:a="http://schemas.openxmlformats.org/drawingml/2006/main">
              <a:ext uri="{FF2B5EF4-FFF2-40B4-BE49-F238E27FC236}">
                <a16:creationId xmlns:a16="http://schemas.microsoft.com/office/drawing/2014/main" id="{06299180-1026-4E8A-B093-E8C16095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23717250"/>
            <a:ext cx="6473952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研究边界：航运能力、需求、拥堵、运输组织与服务响应</a:t>
            </a:r>
          </a:p>
        </p:txBody>
      </p:sp>
    </p:spTree>
    <p:extLst>
      <p:ext uri="{BB962C8B-B14F-4D97-AF65-F5344CB8AC3E}">
        <p14:creationId xmlns:p14="http://schemas.microsoft.com/office/powerpoint/2010/main" val="75047553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596378BD0A034CA010BCA7B12858A4" ma:contentTypeVersion="14" ma:contentTypeDescription="Create a new document." ma:contentTypeScope="" ma:versionID="9369bf9e028bb3ca07af097fb0267f78">
  <xsd:schema xmlns:xsd="http://www.w3.org/2001/XMLSchema" xmlns:xs="http://www.w3.org/2001/XMLSchema" xmlns:p="http://schemas.microsoft.com/office/2006/metadata/properties" xmlns:ns3="2840ae5c-a96c-4873-9eff-317269bfd306" targetNamespace="http://schemas.microsoft.com/office/2006/metadata/properties" ma:root="true" ma:fieldsID="63f35e9d30a0212470227851159404e3" ns3:_="">
    <xsd:import namespace="2840ae5c-a96c-4873-9eff-317269bfd30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LengthInSeconds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40ae5c-a96c-4873-9eff-317269bfd3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description="" ma:indexed="true" ma:internalName="MediaServiceLocatio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840ae5c-a96c-4873-9eff-317269bfd306" xsi:nil="true"/>
  </documentManagement>
</p:properties>
</file>

<file path=customXml/itemProps1.xml><?xml version="1.0" encoding="utf-8"?>
<ds:datastoreItem xmlns:ds="http://schemas.openxmlformats.org/officeDocument/2006/customXml" ds:itemID="{7650E56E-0C26-4510-AFD8-606AF34A3A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40ae5c-a96c-4873-9eff-317269bfd3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3D5EB6-ED5A-4013-BAAD-2CE11AACDC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0766A0-2E15-467E-82A8-07DF070064B1}">
  <ds:schemaRefs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2840ae5c-a96c-4873-9eff-317269bfd306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383</Words>
  <Application>Microsoft Office PowerPoint</Application>
  <PresentationFormat>自定义</PresentationFormat>
  <Paragraphs>176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微软雅黑</vt:lpstr>
      <vt:lpstr>Arial</vt:lpstr>
      <vt:lpstr>Calibri</vt:lpstr>
      <vt:lpstr>Office Theme</vt:lpstr>
      <vt:lpstr>ChatGPT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子课题3 技术路线图</dc:title>
  <dc:subject/>
  <dc:creator>xindodo</dc:creator>
  <cp:keywords/>
  <dc:description>generated using python-pptx</dc:description>
  <cp:lastModifiedBy>赵欣</cp:lastModifiedBy>
  <cp:revision>3</cp:revision>
  <dcterms:created xsi:type="dcterms:W3CDTF">2013-01-27T09:14:16Z</dcterms:created>
  <dcterms:modified xsi:type="dcterms:W3CDTF">2026-10-05T03:50:27Z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0x0101003E596378BD0A034CA010BCA7B12858A4</vt:lpwstr>
  </property>
</Properties>
</file>