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refined2_slideMaster1.xml" ContentType="application/vnd.openxmlformats-officedocument.presentationml.slideMaster+xml"/>
  <Override PartName="/ppt/slideMasters/theme/refined2_theme2.xml" ContentType="application/vnd.openxmlformats-officedocument.theme+xml"/>
  <Override PartName="/ppt/slideLayouts/refined2_slideLayout1.xml" ContentType="application/vnd.openxmlformats-officedocument.presentationml.slideLayout+xml"/>
  <Override PartName="/ppt/notesSlides/refined2_notesSlide1.xml" ContentType="application/vnd.openxmlformats-officedocument.presentationml.notesSlide+xml"/>
  <Override PartName="/ppt/customXml/itemProps1.xml" ContentType="application/vnd.openxmlformats-officedocument.customXmlProperties+xml"/>
  <Override PartName="/ppt/customXml/itemProps2.xml" ContentType="application/vnd.openxmlformats-officedocument.customXmlProperties+xml"/>
  <Override PartName="/ppt/customXml/itemProps3.xml" ContentType="application/vnd.openxmlformats-officedocument.customXmlProperties+xml"/>
  <Override PartName="/ppt/slideMasters/focused3_slideMaster1.xml" ContentType="application/vnd.openxmlformats-officedocument.presentationml.slideMaster+xml"/>
  <Override PartName="/ppt/slideMasters/theme/focused3_theme2.xml" ContentType="application/vnd.openxmlformats-officedocument.theme+xml"/>
  <Override PartName="/ppt/slideLayouts/focused3_slideLayout1.xml" ContentType="application/vnd.openxmlformats-officedocument.presentationml.slideLayout+xml"/>
  <Override PartName="/ppt/slides/slide3.xml" ContentType="application/vnd.openxmlformats-officedocument.presentationml.slide+xml"/>
  <Override PartName="/ppt/notesSlides/focused3_notesSlide1.xml" ContentType="application/vnd.openxmlformats-officedocument.presentationml.notesSlide+xml"/>
  <Override PartName="/ppt/slideMasters/compact3_slideMaster1.xml" ContentType="application/vnd.openxmlformats-officedocument.presentationml.slideMaster+xml"/>
  <Override PartName="/ppt/slideMasters/theme/compact3_theme2.xml" ContentType="application/vnd.openxmlformats-officedocument.theme+xml"/>
  <Override PartName="/ppt/slideLayouts/compact3_slideLayout1.xml" ContentType="application/vnd.openxmlformats-officedocument.presentationml.slideLayout+xml"/>
  <Override PartName="/ppt/notesSlides/compact3_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4"/>
    <p:sldMasterId id="2147483660" r:id="rId5"/>
    <p:sldMasterId r:id="rId13" id="2147483661"/>
    <p:sldMasterId r:id="rId15" id="2147483662"/>
    <p:sldMasterId r:id="rId16" id="2147483663"/>
  </p:sldMasterIdLst>
  <p:notesMasterIdLst>
    <p:notesMasterId r:id="rId8"/>
  </p:notesMasterIdLst>
  <p:sldIdLst>
    <p:sldId id="257" r:id="rId6"/>
    <p:sldId id="258" r:id="rId7"/>
    <p:sldId r:id="rId14" id="259"/>
  </p:sldIdLst>
  <p:sldSz cx="12192000" cy="25199975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>
        <ns3:guide id="1" orient="horz" pos="7937" userDrawn="1">
          <ns3:clr>
            <ns2:srgbClr val="A4A3A4"/>
          </ns3:clr>
        </ns3:guide>
        <ns3:guide id="2" pos="2880" userDrawn="1">
          <ns3:clr>
            <ns2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33" d="100"/>
          <a:sy n="33" d="100"/>
        </p:scale>
        <p:origin x="3730" y="504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notesMaster" Target="notesMasters/notesMaster1.xml" /><ns0:Relationship Id="rId3" Type="http://schemas.openxmlformats.org/officeDocument/2006/relationships/customXml" Target="customXml/item3.xml" /><ns0:Relationship Id="rId7" Type="http://schemas.openxmlformats.org/officeDocument/2006/relationships/slide" Target="slides/slide2.xml" /><ns0:Relationship Id="rId12" Type="http://schemas.openxmlformats.org/officeDocument/2006/relationships/tableStyles" Target="tableStyles.xml" /><ns0:Relationship Id="rId2" Type="http://schemas.openxmlformats.org/officeDocument/2006/relationships/customXml" Target="customXml/item2.xml" /><ns0:Relationship Id="rId1" Type="http://schemas.openxmlformats.org/officeDocument/2006/relationships/customXml" Target="customXml/item1.xml" /><ns0:Relationship Id="rId6" Type="http://schemas.openxmlformats.org/officeDocument/2006/relationships/slide" Target="slides/slide1.xml" /><ns0:Relationship Id="rId11" Type="http://schemas.openxmlformats.org/officeDocument/2006/relationships/theme" Target="theme/theme1.xml" /><ns0:Relationship Id="rId5" Type="http://schemas.openxmlformats.org/officeDocument/2006/relationships/slideMaster" Target="slideMasters/slideMaster2.xml" /><ns0:Relationship Id="rId10" Type="http://schemas.openxmlformats.org/officeDocument/2006/relationships/viewProps" Target="viewProps.xml" /><ns0:Relationship Id="rId4" Type="http://schemas.openxmlformats.org/officeDocument/2006/relationships/slideMaster" Target="slideMasters/slideMaster1.xml" /><ns0:Relationship Id="rId9" Type="http://schemas.openxmlformats.org/officeDocument/2006/relationships/presProps" Target="presProps.xml" /><ns0:Relationship Id="rId13" Type="http://schemas.openxmlformats.org/officeDocument/2006/relationships/slideMaster" Target="slideMasters/refined2_slideMaster1.xml" /><ns0:Relationship Id="rId14" Type="http://schemas.openxmlformats.org/officeDocument/2006/relationships/slide" Target="slides/slide3.xml" /><ns0:Relationship Id="rId15" Type="http://schemas.openxmlformats.org/officeDocument/2006/relationships/slideMaster" Target="slideMasters/focused3_slideMaster1.xml" /><ns0:Relationship Id="rId16" Type="http://schemas.openxmlformats.org/officeDocument/2006/relationships/slideMaster" Target="slideMasters/compact3_slideMaster1.xml" /></ns0:Relationships>
</file>

<file path=ppt/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ppt/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ppt/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ppt/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compact3_notesSlide1.xml.rels><?xml version='1.0' encoding='utf-8'?>
<ns0:Relationships xmlns:ns0="http://schemas.openxmlformats.org/package/2006/relationships"><ns0:Relationship Type="http://schemas.openxmlformats.org/officeDocument/2006/relationships/slide" Target="../slides/slide3.xml" Id="Rf30fc89b480c49a9" /><ns0:Relationship Type="http://schemas.openxmlformats.org/officeDocument/2006/relationships/notesMaster" Target="../notesMasters/notesMaster1.xml" Id="R8c49555daeab4d6c" /></ns0:Relationships>
</file>

<file path=ppt/notesSlides/_rels/focused3_notesSlide1.xml.rels><?xml version='1.0' encoding='utf-8'?>
<ns0:Relationships xmlns:ns0="http://schemas.openxmlformats.org/package/2006/relationships"><ns0:Relationship Type="http://schemas.openxmlformats.org/officeDocument/2006/relationships/slide" Target="../slides/slide3.xml" Id="Reb98606105584d3f" /><ns0:Relationship Type="http://schemas.openxmlformats.org/officeDocument/2006/relationships/notesMaster" Target="../notesMasters/notesMaster1.xml" Id="R171ce7643ad84e7c" /></ns0: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refined2_notesSlide1.xml.rels><?xml version='1.0' encoding='utf-8'?>
<ns0:Relationships xmlns:ns0="http://schemas.openxmlformats.org/package/2006/relationships"><ns0:Relationship Type="http://schemas.openxmlformats.org/officeDocument/2006/relationships/slide" Target="../slides/slide2.xml" Id="R6d4995b0de234f73" /><ns0:Relationship Type="http://schemas.openxmlformats.org/officeDocument/2006/relationships/notesMaster" Target="../notesMasters/notesMaster1.xml" Id="Re695e591523b4555" /></ns0:Relationships>
</file>

<file path=ppt/notesSlides/compact3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focused3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本项目已讨论确定的子课题三研究内容绘制。研究边界限定为航运运行、运输服务、直接航运市场与经营经济响应，以及其主体行为反馈。子课题一提供多源数据与系统特征，子课题二提供级联机理与关联路径，子课题四开展区域及产业链响应分析，子课题五负责全链条模型集成与整体验证。空间经济整体模型与综合交通超级网络提供区域需求、网络背景和仿真基础；细粒度航运响应模型仍需独立构建、校准及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refined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compact3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compact3_slideMaster1.xml" Id="R1f5c244baeee4da3" /></ns0:Relationships>
</file>

<file path=ppt/slideLayouts/_rels/focused3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focused3_slideMaster1.xml" Id="R7cccabfeb5f6487b" /></ns0:Relationships>
</file>

<file path=ppt/slideLayouts/_rels/refined2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refined2_slideMaster1.xml" Id="R1dc1b27e8ee742e2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compact3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focused3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refined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7828339"/>
            <a:ext cx="7772400" cy="5401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79986"/>
            <a:ext cx="6400800" cy="6439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193330"/>
            <a:ext cx="7772400" cy="500499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680830"/>
            <a:ext cx="7772400" cy="55124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640830"/>
            <a:ext cx="4040188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7991659"/>
            <a:ext cx="4040188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5640830"/>
            <a:ext cx="4041775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7991659"/>
            <a:ext cx="4041775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03332"/>
            <a:ext cx="3008312" cy="4269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1003345"/>
            <a:ext cx="5111750" cy="215074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73341"/>
            <a:ext cx="3008312" cy="1723748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7639982"/>
            <a:ext cx="5486400" cy="20825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251664"/>
            <a:ext cx="5486400" cy="1511998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9722482"/>
            <a:ext cx="5486400" cy="295749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009181"/>
            <a:ext cx="2057401" cy="21501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009181"/>
            <a:ext cx="6019801" cy="21501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ompact3_slideMaster1.xml.rels><?xml version='1.0' encoding='utf-8'?>
<ns0:Relationships xmlns:ns0="http://schemas.openxmlformats.org/package/2006/relationships"><ns0:Relationship Type="http://schemas.openxmlformats.org/officeDocument/2006/relationships/theme" Target="theme/compact3_theme2.xml" Id="R159538308b0b4d02" /><ns0:Relationship Type="http://schemas.openxmlformats.org/officeDocument/2006/relationships/slideLayout" Target="../slideLayouts/compact3_slideLayout1.xml" Id="Rc5cc9a83f1f74875" /></ns0:Relationships>
</file>

<file path=ppt/slideMasters/_rels/focused3_slideMaster1.xml.rels><?xml version='1.0' encoding='utf-8'?>
<ns0:Relationships xmlns:ns0="http://schemas.openxmlformats.org/package/2006/relationships"><ns0:Relationship Type="http://schemas.openxmlformats.org/officeDocument/2006/relationships/theme" Target="theme/focused3_theme2.xml" Id="R0d14851698504ba8" /><ns0:Relationship Type="http://schemas.openxmlformats.org/officeDocument/2006/relationships/slideLayout" Target="../slideLayouts/focused3_slideLayout1.xml" Id="R3001d2d603d34e06" /></ns0:Relationships>
</file>

<file path=ppt/slideMasters/_rels/refined2_slideMaster1.xml.rels><?xml version='1.0' encoding='utf-8'?>
<ns0:Relationships xmlns:ns0="http://schemas.openxmlformats.org/package/2006/relationships"><ns0:Relationship Type="http://schemas.openxmlformats.org/officeDocument/2006/relationships/theme" Target="theme/refined2_theme2.xml" Id="R0ae0a169f7334fc2" /><ns0:Relationship Type="http://schemas.openxmlformats.org/officeDocument/2006/relationships/slideLayout" Target="../slideLayouts/refined2_slideLayout1.xml" Id="Re8c272f026974c4c" /></ns0: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compact3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cc9a83f1f7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focused3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01d2d603d34e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refined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272f026974c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09167"/>
            <a:ext cx="8229600" cy="419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80007"/>
            <a:ext cx="8229600" cy="1663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23356657"/>
            <a:ext cx="2895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45720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45720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compact3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focused3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refined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refined2_slideLayout1.xml" Id="R4b306333ab424e20" /><ns0:Relationship Type="http://schemas.openxmlformats.org/officeDocument/2006/relationships/notesSlide" Target="../notesSlides/refined2_notesSlide1.xml" Id="R27b6ee35b31e444b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compact3_slideLayout1.xml" Id="Reb7baff4a0d74536" /><ns0:Relationship Type="http://schemas.openxmlformats.org/officeDocument/2006/relationships/notesSlide" Target="../notesSlides/compact3_notesSlide1.xml" Id="R4e06b3ae31884e2a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942858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9508423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0" y="9847645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7" name="TextBox 6"/>
          <p:cNvSpPr txBox="1"/>
          <p:nvPr/>
        </p:nvSpPr>
        <p:spPr>
          <a:xfrm>
            <a:off x="32918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9" name="TextBox 8"/>
          <p:cNvSpPr txBox="1"/>
          <p:nvPr/>
        </p:nvSpPr>
        <p:spPr>
          <a:xfrm>
            <a:off x="919886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1" y="12700572"/>
            <a:ext cx="274320" cy="502921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1" name="Right Arrow 10"/>
          <p:cNvSpPr/>
          <p:nvPr/>
        </p:nvSpPr>
        <p:spPr>
          <a:xfrm>
            <a:off x="8887969" y="12700572"/>
            <a:ext cx="274320" cy="502921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2" name="Rounded Rectangle 11"/>
          <p:cNvSpPr/>
          <p:nvPr/>
        </p:nvSpPr>
        <p:spPr>
          <a:xfrm>
            <a:off x="896113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5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3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5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0944924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7" name="Rounded Rectangle 16"/>
          <p:cNvSpPr/>
          <p:nvPr/>
        </p:nvSpPr>
        <p:spPr>
          <a:xfrm>
            <a:off x="896113" y="11219244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12215939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896113" y="1238967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13386371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1" name="Rounded Rectangle 20"/>
          <p:cNvSpPr/>
          <p:nvPr/>
        </p:nvSpPr>
        <p:spPr>
          <a:xfrm>
            <a:off x="896113" y="1356010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14556803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96113" y="1473054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5" name="Rounded Rectangle 24"/>
          <p:cNvSpPr/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0469436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8" name="Rounded Rectangle 27"/>
          <p:cNvSpPr/>
          <p:nvPr/>
        </p:nvSpPr>
        <p:spPr>
          <a:xfrm>
            <a:off x="4724400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0" name="Rounded Rectangle 29"/>
          <p:cNvSpPr/>
          <p:nvPr/>
        </p:nvSpPr>
        <p:spPr>
          <a:xfrm>
            <a:off x="6870192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11749596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2" name="Rounded Rectangle 31"/>
          <p:cNvSpPr/>
          <p:nvPr/>
        </p:nvSpPr>
        <p:spPr>
          <a:xfrm>
            <a:off x="2459737" y="11813603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4" name="TextBox 33"/>
          <p:cNvSpPr txBox="1"/>
          <p:nvPr/>
        </p:nvSpPr>
        <p:spPr>
          <a:xfrm>
            <a:off x="2706626" y="12401774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6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6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6" y="1348695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9" name="TextBox 38"/>
          <p:cNvSpPr txBox="1"/>
          <p:nvPr/>
        </p:nvSpPr>
        <p:spPr>
          <a:xfrm>
            <a:off x="5952747" y="12401773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7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7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7" y="13486957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12947460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4" name="Rounded Rectangle 43"/>
          <p:cNvSpPr/>
          <p:nvPr/>
        </p:nvSpPr>
        <p:spPr>
          <a:xfrm>
            <a:off x="2395728" y="14072172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5" name="Rounded Rectangle 44"/>
          <p:cNvSpPr/>
          <p:nvPr/>
        </p:nvSpPr>
        <p:spPr>
          <a:xfrm>
            <a:off x="2459737" y="141361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9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8" name="Rounded Rectangle 47"/>
          <p:cNvSpPr/>
          <p:nvPr/>
        </p:nvSpPr>
        <p:spPr>
          <a:xfrm>
            <a:off x="4165092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20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0" name="Rounded Rectangle 49"/>
          <p:cNvSpPr/>
          <p:nvPr/>
        </p:nvSpPr>
        <p:spPr>
          <a:xfrm>
            <a:off x="5751577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4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2" name="Rounded Rectangle 51"/>
          <p:cNvSpPr/>
          <p:nvPr/>
        </p:nvSpPr>
        <p:spPr>
          <a:xfrm>
            <a:off x="7338061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3" y="100305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108208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5" name="Rounded Rectangle 54"/>
          <p:cNvSpPr/>
          <p:nvPr/>
        </p:nvSpPr>
        <p:spPr>
          <a:xfrm>
            <a:off x="9784083" y="11255820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12307379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7" name="Rounded Rectangle 56"/>
          <p:cNvSpPr/>
          <p:nvPr/>
        </p:nvSpPr>
        <p:spPr>
          <a:xfrm>
            <a:off x="9784083" y="1248111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1353267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9" name="Rounded Rectangle 58"/>
          <p:cNvSpPr/>
          <p:nvPr/>
        </p:nvSpPr>
        <p:spPr>
          <a:xfrm>
            <a:off x="9784083" y="1370641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3" y="14931708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总标题_1">
            <a:extLst xmlns:a="http://schemas.openxmlformats.org/drawingml/2006/main"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研究基础侧栏_4">
            <a:extLst xmlns:a="http://schemas.openxmlformats.org/drawingml/2006/main"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 xmlns:a="http://schemas.openxmlformats.org/drawingml/2006/main"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2476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466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981200"/>
            <a:ext cx="101727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 xmlns:a="http://schemas.openxmlformats.org/drawingml/2006/main"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43375"/>
            <a:ext cx="1188720" cy="30480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229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4743450"/>
            <a:ext cx="101727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 xmlns:a="http://schemas.openxmlformats.org/drawingml/2006/main"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477125"/>
            <a:ext cx="1188720" cy="25717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7562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8077200"/>
            <a:ext cx="101727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 xmlns:a="http://schemas.openxmlformats.org/drawingml/2006/main"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1001375"/>
            <a:ext cx="1188720" cy="338137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1087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1601450"/>
            <a:ext cx="101727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859250"/>
            <a:ext cx="1188720" cy="2333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694497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7459325"/>
            <a:ext cx="101727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 xmlns:a="http://schemas.openxmlformats.org/drawingml/2006/main"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64500"/>
            <a:ext cx="1188720" cy="35242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文字_28">
            <a:extLst xmlns:a="http://schemas.openxmlformats.org/drawingml/2006/main"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2085022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 xmlns:a="http://schemas.openxmlformats.org/drawingml/2006/main"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21364575"/>
            <a:ext cx="101727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 xmlns:a="http://schemas.openxmlformats.org/drawingml/2006/main"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86201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模块标题背景_31">
            <a:extLst xmlns:a="http://schemas.openxmlformats.org/drawingml/2006/main"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模块标题_32">
            <a:extLst xmlns:a="http://schemas.openxmlformats.org/drawingml/2006/main"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 xmlns:a="http://schemas.openxmlformats.org/drawingml/2006/main"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 xmlns:a="http://schemas.openxmlformats.org/drawingml/2006/main"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 xmlns:a="http://schemas.openxmlformats.org/drawingml/2006/main"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文字_40">
            <a:extLst xmlns:a="http://schemas.openxmlformats.org/drawingml/2006/main"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 xmlns:a="http://schemas.openxmlformats.org/drawingml/2006/main"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 xmlns:a="http://schemas.openxmlformats.org/drawingml/2006/main"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流程箭头_43">
            <a:extLst xmlns:a="http://schemas.openxmlformats.org/drawingml/2006/main"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文字_44">
            <a:extLst xmlns:a="http://schemas.openxmlformats.org/drawingml/2006/main"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24200"/>
            <a:ext cx="610819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956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容器_46">
            <a:extLst xmlns:a="http://schemas.openxmlformats.org/drawingml/2006/main"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文字_48">
            <a:extLst xmlns:a="http://schemas.openxmlformats.org/drawingml/2006/main"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 xmlns:a="http://schemas.openxmlformats.org/drawingml/2006/main"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1" name="文字_51">
            <a:extLst xmlns:a="http://schemas.openxmlformats.org/drawingml/2006/main"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 xmlns:a="http://schemas.openxmlformats.org/drawingml/2006/main"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" name="文字_54">
            <a:extLst xmlns:a="http://schemas.openxmlformats.org/drawingml/2006/main"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 xmlns:a="http://schemas.openxmlformats.org/drawingml/2006/main"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文字_57">
            <a:extLst xmlns:a="http://schemas.openxmlformats.org/drawingml/2006/main"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 xmlns:a="http://schemas.openxmlformats.org/drawingml/2006/main"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文字_60">
            <a:extLst xmlns:a="http://schemas.openxmlformats.org/drawingml/2006/main"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 xmlns:a="http://schemas.openxmlformats.org/drawingml/2006/main"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文字_63">
            <a:extLst xmlns:a="http://schemas.openxmlformats.org/drawingml/2006/main"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 xmlns:a="http://schemas.openxmlformats.org/drawingml/2006/main"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文字_66">
            <a:extLst xmlns:a="http://schemas.openxmlformats.org/drawingml/2006/main"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 xmlns:a="http://schemas.openxmlformats.org/drawingml/2006/main"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1532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流程箭头_71">
            <a:extLst xmlns:a="http://schemas.openxmlformats.org/drawingml/2006/main"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1628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供需失配与运输服务联合响应_72">
            <a:extLst xmlns:a="http://schemas.openxmlformats.org/drawingml/2006/main"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7410450"/>
            <a:ext cx="6108192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3" name="文字_73">
            <a:extLst xmlns:a="http://schemas.openxmlformats.org/drawingml/2006/main"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7496175"/>
            <a:ext cx="597484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7915275"/>
            <a:ext cx="5936742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591550"/>
            <a:ext cx="6108192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4392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639300"/>
            <a:ext cx="6473952" cy="6229350"/>
          </a:xfrm>
          <a:prstGeom xmlns:a="http://schemas.openxmlformats.org/drawingml/2006/main" prst="roundRect">
            <a:avLst>
              <a:gd name="adj" fmla="val 1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97033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7059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 xmlns:a="http://schemas.openxmlformats.org/drawingml/2006/main"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191750"/>
            <a:ext cx="6108192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0277475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0582275"/>
            <a:ext cx="5936742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文字_85">
            <a:extLst xmlns:a="http://schemas.openxmlformats.org/drawingml/2006/main"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 xmlns:a="http://schemas.openxmlformats.org/drawingml/2006/main"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 xmlns:a="http://schemas.openxmlformats.org/drawingml/2006/main"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8" name="流程箭头_88">
            <a:extLst xmlns:a="http://schemas.openxmlformats.org/drawingml/2006/main"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9" name="容器_89">
            <a:extLst xmlns:a="http://schemas.openxmlformats.org/drawingml/2006/main"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0" name="容器_90">
            <a:extLst xmlns:a="http://schemas.openxmlformats.org/drawingml/2006/main"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 xmlns:a="http://schemas.openxmlformats.org/drawingml/2006/main"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4" name="文字_94">
            <a:extLst xmlns:a="http://schemas.openxmlformats.org/drawingml/2006/main"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 xmlns:a="http://schemas.openxmlformats.org/drawingml/2006/main"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 xmlns:a="http://schemas.openxmlformats.org/drawingml/2006/main"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7" name="文字_97">
            <a:extLst xmlns:a="http://schemas.openxmlformats.org/drawingml/2006/main"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 xmlns:a="http://schemas.openxmlformats.org/drawingml/2006/main"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0" name="文字_100">
            <a:extLst xmlns:a="http://schemas.openxmlformats.org/drawingml/2006/main"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 xmlns:a="http://schemas.openxmlformats.org/drawingml/2006/main"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 xmlns:a="http://schemas.openxmlformats.org/drawingml/2006/main"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3" name="文字_103">
            <a:extLst xmlns:a="http://schemas.openxmlformats.org/drawingml/2006/main"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 xmlns:a="http://schemas.openxmlformats.org/drawingml/2006/main"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 xmlns:a="http://schemas.openxmlformats.org/drawingml/2006/main"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6" name="文字_106">
            <a:extLst xmlns:a="http://schemas.openxmlformats.org/drawingml/2006/main"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 xmlns:a="http://schemas.openxmlformats.org/drawingml/2006/main"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 xmlns:a="http://schemas.openxmlformats.org/drawingml/2006/main"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9" name="文字_109">
            <a:extLst xmlns:a="http://schemas.openxmlformats.org/drawingml/2006/main"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 xmlns:a="http://schemas.openxmlformats.org/drawingml/2006/main"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725400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2" name="连接线_112">
            <a:extLst xmlns:a="http://schemas.openxmlformats.org/drawingml/2006/main"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连接线_113">
            <a:extLst xmlns:a="http://schemas.openxmlformats.org/drawingml/2006/main"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4" name="连接线_114">
            <a:extLst xmlns:a="http://schemas.openxmlformats.org/drawingml/2006/main"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4303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5" name="流程箭头_115">
            <a:extLst xmlns:a="http://schemas.openxmlformats.org/drawingml/2006/main"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4399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6" name="行为反馈更新有效运力、到达流与运输需求_116">
            <a:extLst xmlns:a="http://schemas.openxmlformats.org/drawingml/2006/main"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678025"/>
            <a:ext cx="6108192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763750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5068550"/>
            <a:ext cx="593674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 xmlns:a="http://schemas.openxmlformats.org/drawingml/2006/main"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5335250"/>
            <a:ext cx="610819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 xmlns:a="http://schemas.openxmlformats.org/drawingml/2006/main"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98282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1" name="连接线_121">
            <a:extLst xmlns:a="http://schemas.openxmlformats.org/drawingml/2006/main"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2" name="连接线_122">
            <a:extLst xmlns:a="http://schemas.openxmlformats.org/drawingml/2006/main"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3" name="流程箭头_123">
            <a:extLst xmlns:a="http://schemas.openxmlformats.org/drawingml/2006/main"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5295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9828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5" name="连接线_125">
            <a:extLst xmlns:a="http://schemas.openxmlformats.org/drawingml/2006/main"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6" name="连接线_126">
            <a:extLst xmlns:a="http://schemas.openxmlformats.org/drawingml/2006/main"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7" name="流程箭头_127">
            <a:extLst xmlns:a="http://schemas.openxmlformats.org/drawingml/2006/main"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8" name="容器_128">
            <a:extLst xmlns:a="http://schemas.openxmlformats.org/drawingml/2006/main"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0391775"/>
            <a:ext cx="257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容器_129">
            <a:extLst xmlns:a="http://schemas.openxmlformats.org/drawingml/2006/main"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877550"/>
            <a:ext cx="2667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0" name="文字_130">
            <a:extLst xmlns:a="http://schemas.openxmlformats.org/drawingml/2006/main"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763125"/>
            <a:ext cx="238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191750"/>
            <a:ext cx="238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 xmlns:a="http://schemas.openxmlformats.org/drawingml/2006/main"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33" name="研究模块_133">
            <a:extLst xmlns:a="http://schemas.openxmlformats.org/drawingml/2006/main"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6002000"/>
            <a:ext cx="6473952" cy="75438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4" name="模块标题背景_134">
            <a:extLst xmlns:a="http://schemas.openxmlformats.org/drawingml/2006/main"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60660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5" name="模块标题_135">
            <a:extLst xmlns:a="http://schemas.openxmlformats.org/drawingml/2006/main"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60686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 xmlns:a="http://schemas.openxmlformats.org/drawingml/2006/main"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554450"/>
            <a:ext cx="6108192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7" name="文字_137">
            <a:extLst xmlns:a="http://schemas.openxmlformats.org/drawingml/2006/main"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6640175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 xmlns:a="http://schemas.openxmlformats.org/drawingml/2006/main"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6983075"/>
            <a:ext cx="593674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 xmlns:a="http://schemas.openxmlformats.org/drawingml/2006/main"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383125"/>
            <a:ext cx="15240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融合运行与市场行为反馈的航运动态响应模型_140">
            <a:extLst xmlns:a="http://schemas.openxmlformats.org/drawingml/2006/main"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592675"/>
            <a:ext cx="610819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1" name="文字_141">
            <a:extLst xmlns:a="http://schemas.openxmlformats.org/drawingml/2006/main"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7678400"/>
            <a:ext cx="597484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 xmlns:a="http://schemas.openxmlformats.org/drawingml/2006/main"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049875"/>
            <a:ext cx="593674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 xmlns:a="http://schemas.openxmlformats.org/drawingml/2006/main"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745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4" name="连接线_144">
            <a:extLst xmlns:a="http://schemas.openxmlformats.org/drawingml/2006/main"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884045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5" name="流程箭头_145">
            <a:extLst xmlns:a="http://schemas.openxmlformats.org/drawingml/2006/main"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流程箭头_146">
            <a:extLst xmlns:a="http://schemas.openxmlformats.org/drawingml/2006/main"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典型事件参数校准_147">
            <a:extLst xmlns:a="http://schemas.openxmlformats.org/drawingml/2006/main"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8" name="文字_148">
            <a:extLst xmlns:a="http://schemas.openxmlformats.org/drawingml/2006/main"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 xmlns:a="http://schemas.openxmlformats.org/drawingml/2006/main"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 xmlns:a="http://schemas.openxmlformats.org/drawingml/2006/main"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40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 xmlns:a="http://schemas.openxmlformats.org/drawingml/2006/main"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5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 xmlns:a="http://schemas.openxmlformats.org/drawingml/2006/main"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71675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4" name="连接线_154">
            <a:extLst xmlns:a="http://schemas.openxmlformats.org/drawingml/2006/main"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5" name="流程箭头_155">
            <a:extLst xmlns:a="http://schemas.openxmlformats.org/drawingml/2006/main"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308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6" name="连接线_156">
            <a:extLst xmlns:a="http://schemas.openxmlformats.org/drawingml/2006/main"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7" name="连接线_157">
            <a:extLst xmlns:a="http://schemas.openxmlformats.org/drawingml/2006/main"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8" name="连接线_158">
            <a:extLst xmlns:a="http://schemas.openxmlformats.org/drawingml/2006/main"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9" name="连接线_159">
            <a:extLst xmlns:a="http://schemas.openxmlformats.org/drawingml/2006/main"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0" name="流程箭头_160">
            <a:extLst xmlns:a="http://schemas.openxmlformats.org/drawingml/2006/main"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3082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1" name="容器_161">
            <a:extLst xmlns:a="http://schemas.openxmlformats.org/drawingml/2006/main"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888075"/>
            <a:ext cx="257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2" name="容器_162">
            <a:extLst xmlns:a="http://schemas.openxmlformats.org/drawingml/2006/main"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880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 xmlns:a="http://schemas.openxmlformats.org/drawingml/2006/main"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6" name="连接线_166">
            <a:extLst xmlns:a="http://schemas.openxmlformats.org/drawingml/2006/main"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7" name="连接线_167">
            <a:extLst xmlns:a="http://schemas.openxmlformats.org/drawingml/2006/main"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65972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8" name="流程箭头_168">
            <a:extLst xmlns:a="http://schemas.openxmlformats.org/drawingml/2006/main"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66925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9" name="多情景传播与恢复推演_169">
            <a:extLst xmlns:a="http://schemas.openxmlformats.org/drawingml/2006/main"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0907375"/>
            <a:ext cx="6108192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0993100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 xmlns:a="http://schemas.openxmlformats.org/drawingml/2006/main"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1336000"/>
            <a:ext cx="593674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 xmlns:a="http://schemas.openxmlformats.org/drawingml/2006/main"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027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73" name="供需失配与放大阈值_173">
            <a:extLst xmlns:a="http://schemas.openxmlformats.org/drawingml/2006/main"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4" name="文字_174">
            <a:extLst xmlns:a="http://schemas.openxmlformats.org/drawingml/2006/main"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 xmlns:a="http://schemas.openxmlformats.org/drawingml/2006/main"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7" name="文字_177">
            <a:extLst xmlns:a="http://schemas.openxmlformats.org/drawingml/2006/main"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 xmlns:a="http://schemas.openxmlformats.org/drawingml/2006/main"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0" name="文字_180">
            <a:extLst xmlns:a="http://schemas.openxmlformats.org/drawingml/2006/main"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 xmlns:a="http://schemas.openxmlformats.org/drawingml/2006/main"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23336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3" name="文字_183">
            <a:extLst xmlns:a="http://schemas.openxmlformats.org/drawingml/2006/main"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46685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 xmlns:a="http://schemas.openxmlformats.org/drawingml/2006/main"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952625"/>
            <a:ext cx="1913382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 xmlns:a="http://schemas.openxmlformats.org/drawingml/2006/main"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143375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6" name="文字_186">
            <a:extLst xmlns:a="http://schemas.openxmlformats.org/drawingml/2006/main"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422910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 xmlns:a="http://schemas.openxmlformats.org/drawingml/2006/main"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4714875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 xmlns:a="http://schemas.openxmlformats.org/drawingml/2006/main"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0675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9" name="文字_189">
            <a:extLst xmlns:a="http://schemas.openxmlformats.org/drawingml/2006/main"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71532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 xmlns:a="http://schemas.openxmlformats.org/drawingml/2006/main"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76390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 xmlns:a="http://schemas.openxmlformats.org/drawingml/2006/main"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0858500"/>
            <a:ext cx="2084832" cy="242887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2" name="文字_192">
            <a:extLst xmlns:a="http://schemas.openxmlformats.org/drawingml/2006/main"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0944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 xmlns:a="http://schemas.openxmlformats.org/drawingml/2006/main"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1430000"/>
            <a:ext cx="1913382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 xmlns:a="http://schemas.openxmlformats.org/drawingml/2006/main"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906500"/>
            <a:ext cx="208483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5" name="文字_195">
            <a:extLst xmlns:a="http://schemas.openxmlformats.org/drawingml/2006/main"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3992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 xmlns:a="http://schemas.openxmlformats.org/drawingml/2006/main"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4478000"/>
            <a:ext cx="191338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 xmlns:a="http://schemas.openxmlformats.org/drawingml/2006/main"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8117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8" name="文字_198">
            <a:extLst xmlns:a="http://schemas.openxmlformats.org/drawingml/2006/main"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78974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 xmlns:a="http://schemas.openxmlformats.org/drawingml/2006/main"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83832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 xmlns:a="http://schemas.openxmlformats.org/drawingml/2006/main"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09550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1" name="文字_201">
            <a:extLst xmlns:a="http://schemas.openxmlformats.org/drawingml/2006/main"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210407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 xmlns:a="http://schemas.openxmlformats.org/drawingml/2006/main"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21526500"/>
            <a:ext cx="1913382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 xmlns:a="http://schemas.openxmlformats.org/drawingml/2006/main"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781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4" name="流程箭头_204">
            <a:extLst xmlns:a="http://schemas.openxmlformats.org/drawingml/2006/main"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534150"/>
            <a:ext cx="1524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5" name="流程箭头_205">
            <a:extLst xmlns:a="http://schemas.openxmlformats.org/drawingml/2006/main"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372600"/>
            <a:ext cx="152400" cy="1238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6" name="流程箭头_206">
            <a:extLst xmlns:a="http://schemas.openxmlformats.org/drawingml/2006/main"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401675"/>
            <a:ext cx="1524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7" name="流程箭头_207">
            <a:extLst xmlns:a="http://schemas.openxmlformats.org/drawingml/2006/main"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659100"/>
            <a:ext cx="152400" cy="1914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8" name="流程箭头_208">
            <a:extLst xmlns:a="http://schemas.openxmlformats.org/drawingml/2006/main"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126325"/>
            <a:ext cx="152400" cy="581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9" name="集成支撑_209">
            <a:extLst xmlns:a="http://schemas.openxmlformats.org/drawingml/2006/main"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3374350"/>
            <a:ext cx="2084832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0" name="文字_210">
            <a:extLst xmlns:a="http://schemas.openxmlformats.org/drawingml/2006/main"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460075"/>
            <a:ext cx="1933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 xmlns:a="http://schemas.openxmlformats.org/drawingml/2006/main"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3622000"/>
            <a:ext cx="6473952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 xmlns:a="http://schemas.openxmlformats.org/drawingml/2006/main"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641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总标题_1">
            <a:extLst xmlns:a="http://schemas.openxmlformats.org/drawingml/2006/main"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数据侧栏_4">
            <a:extLst xmlns:a="http://schemas.openxmlformats.org/drawingml/2006/main"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183261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183261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333625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293FD3D8-120F-479D-9C75-A5D2BF5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333625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067826E2-F371-4BEB-9BA6-60F518A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819150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819150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56D68349-4FA5-41A9-A9A7-3AE909B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552575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925CFFD8-05A3-424E-BF83-B964999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552575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 xmlns:a="http://schemas.openxmlformats.org/drawingml/2006/main"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17335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478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943100"/>
            <a:ext cx="97917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 xmlns:a="http://schemas.openxmlformats.org/drawingml/2006/main"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76625"/>
            <a:ext cx="1188720" cy="20383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35433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4038600"/>
            <a:ext cx="97917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 xmlns:a="http://schemas.openxmlformats.org/drawingml/2006/main"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24525"/>
            <a:ext cx="1188720" cy="1571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57912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6286500"/>
            <a:ext cx="97917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 xmlns:a="http://schemas.openxmlformats.org/drawingml/2006/main"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8210550"/>
            <a:ext cx="1188720" cy="18288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827722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8772525"/>
            <a:ext cx="97917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592300"/>
            <a:ext cx="1188720" cy="19431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65897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5154275"/>
            <a:ext cx="97917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 xmlns:a="http://schemas.openxmlformats.org/drawingml/2006/main"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66770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模块标题背景_28">
            <a:extLst xmlns:a="http://schemas.openxmlformats.org/drawingml/2006/main"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模块标题_29">
            <a:extLst xmlns:a="http://schemas.openxmlformats.org/drawingml/2006/main"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 xmlns:a="http://schemas.openxmlformats.org/drawingml/2006/main"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文字_31">
            <a:extLst xmlns:a="http://schemas.openxmlformats.org/drawingml/2006/main"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 xmlns:a="http://schemas.openxmlformats.org/drawingml/2006/main"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阶段、范围与强度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工期、检修与恢复</a:t>
            </a:r>
          </a:p>
        </p:txBody>
      </p:sp>
      <p:sp>
        <p:nvSpPr>
          <p:cNvPr id="33" name="通航约束变化_33">
            <a:extLst xmlns:a="http://schemas.openxmlformats.org/drawingml/2006/main"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通航时间与放行规则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设施可用与船型限制</a:t>
            </a:r>
          </a:p>
        </p:txBody>
      </p:sp>
      <p:sp>
        <p:nvSpPr>
          <p:cNvPr id="36" name="施工扰动情景_36">
            <a:extLst xmlns:a="http://schemas.openxmlformats.org/drawingml/2006/main"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 xmlns:a="http://schemas.openxmlformats.org/drawingml/2006/main"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80022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0" name="流程箭头_40">
            <a:extLst xmlns:a="http://schemas.openxmlformats.org/drawingml/2006/main"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80022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1" name="连接线_41">
            <a:extLst xmlns:a="http://schemas.openxmlformats.org/drawingml/2006/main"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24288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2" name="连接线_42">
            <a:extLst xmlns:a="http://schemas.openxmlformats.org/drawingml/2006/main"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43175"/>
            <a:ext cx="21396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连接线_43">
            <a:extLst xmlns:a="http://schemas.openxmlformats.org/drawingml/2006/main"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连接线_44">
            <a:extLst xmlns:a="http://schemas.openxmlformats.org/drawingml/2006/main"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670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765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流程箭头_46">
            <a:extLst xmlns:a="http://schemas.openxmlformats.org/drawingml/2006/main"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765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876550"/>
            <a:ext cx="2862072" cy="29527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容器_48">
            <a:extLst xmlns:a="http://schemas.openxmlformats.org/drawingml/2006/main"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876550"/>
            <a:ext cx="2862072" cy="29527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 xmlns:a="http://schemas.openxmlformats.org/drawingml/2006/main"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52750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 xmlns:a="http://schemas.openxmlformats.org/drawingml/2006/main"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26765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04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 xmlns:a="http://schemas.openxmlformats.org/drawingml/2006/main"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14750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 xmlns:a="http://schemas.openxmlformats.org/drawingml/2006/main"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76725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4340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 xmlns:a="http://schemas.openxmlformats.org/drawingml/2006/main"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57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 xmlns:a="http://schemas.openxmlformats.org/drawingml/2006/main"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149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 xmlns:a="http://schemas.openxmlformats.org/drawingml/2006/main"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292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 xmlns:a="http://schemas.openxmlformats.org/drawingml/2006/main"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33750"/>
            <a:ext cx="26765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004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 xmlns:a="http://schemas.openxmlformats.org/drawingml/2006/main"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区分需求与实际流量</a:t>
            </a:r>
          </a:p>
        </p:txBody>
      </p:sp>
      <p:sp>
        <p:nvSpPr>
          <p:cNvPr id="63" name="常态波动_63">
            <a:extLst xmlns:a="http://schemas.openxmlformats.org/drawingml/2006/main"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76725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 xmlns:a="http://schemas.openxmlformats.org/drawingml/2006/main"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57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 xmlns:a="http://schemas.openxmlformats.org/drawingml/2006/main"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48250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1149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 xmlns:a="http://schemas.openxmlformats.org/drawingml/2006/main"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0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0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连接线_71">
            <a:extLst xmlns:a="http://schemas.openxmlformats.org/drawingml/2006/main"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817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流程箭头_72">
            <a:extLst xmlns:a="http://schemas.openxmlformats.org/drawingml/2006/main"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912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3" name="供需失配与运输服务响应_73">
            <a:extLst xmlns:a="http://schemas.openxmlformats.org/drawingml/2006/main"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6191250"/>
            <a:ext cx="6108192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6257925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6600825"/>
            <a:ext cx="5898642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866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658100"/>
            <a:ext cx="6473952" cy="3800475"/>
          </a:xfrm>
          <a:prstGeom xmlns:a="http://schemas.openxmlformats.org/drawingml/2006/main" prst="roundRect">
            <a:avLst>
              <a:gd name="adj" fmla="val 25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77221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7247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 xmlns:a="http://schemas.openxmlformats.org/drawingml/2006/main"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210550"/>
            <a:ext cx="6108192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827722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8582025"/>
            <a:ext cx="589864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8677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89820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流程箭头_85">
            <a:extLst xmlns:a="http://schemas.openxmlformats.org/drawingml/2006/main"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89916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6" name="流程箭头_86">
            <a:extLst xmlns:a="http://schemas.openxmlformats.org/drawingml/2006/main"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9916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7" name="船舶组织调整_87">
            <a:extLst xmlns:a="http://schemas.openxmlformats.org/drawingml/2006/main"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9201150"/>
            <a:ext cx="286207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8" name="文字_88">
            <a:extLst xmlns:a="http://schemas.openxmlformats.org/drawingml/2006/main"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926782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 xmlns:a="http://schemas.openxmlformats.org/drawingml/2006/main"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9610725"/>
            <a:ext cx="265252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 xmlns:a="http://schemas.openxmlformats.org/drawingml/2006/main"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9201150"/>
            <a:ext cx="286207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926782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9610725"/>
            <a:ext cx="265252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 xmlns:a="http://schemas.openxmlformats.org/drawingml/2006/main"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3917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4" name="连接线_94">
            <a:extLst xmlns:a="http://schemas.openxmlformats.org/drawingml/2006/main"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3917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5" name="连接线_95">
            <a:extLst xmlns:a="http://schemas.openxmlformats.org/drawingml/2006/main"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4679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6" name="流程箭头_96">
            <a:extLst xmlns:a="http://schemas.openxmlformats.org/drawingml/2006/main"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04775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7" name="组织调整对运行的反馈_97">
            <a:extLst xmlns:a="http://schemas.openxmlformats.org/drawingml/2006/main"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668000"/>
            <a:ext cx="6108192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073467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 xmlns:a="http://schemas.openxmlformats.org/drawingml/2006/main"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1039475"/>
            <a:ext cx="589864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 xmlns:a="http://schemas.openxmlformats.org/drawingml/2006/main"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100137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1" name="连接线_101">
            <a:extLst xmlns:a="http://schemas.openxmlformats.org/drawingml/2006/main"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52850"/>
            <a:ext cx="19050" cy="724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2" name="连接线_102">
            <a:extLst xmlns:a="http://schemas.openxmlformats.org/drawingml/2006/main"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5285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3" name="流程箭头_103">
            <a:extLst xmlns:a="http://schemas.openxmlformats.org/drawingml/2006/main"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4" name="连接线_104">
            <a:extLst xmlns:a="http://schemas.openxmlformats.org/drawingml/2006/main"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0013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5" name="连接线_105">
            <a:extLst xmlns:a="http://schemas.openxmlformats.org/drawingml/2006/main"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52850"/>
            <a:ext cx="19050" cy="724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6" name="连接线_106">
            <a:extLst xmlns:a="http://schemas.openxmlformats.org/drawingml/2006/main"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7" name="流程箭头_107">
            <a:extLst xmlns:a="http://schemas.openxmlformats.org/drawingml/2006/main"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617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8" name="容器_108">
            <a:extLst xmlns:a="http://schemas.openxmlformats.org/drawingml/2006/main"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85825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9" name="容器_109">
            <a:extLst xmlns:a="http://schemas.openxmlformats.org/drawingml/2006/main"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85825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85825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 xmlns:a="http://schemas.openxmlformats.org/drawingml/2006/main"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85825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 xmlns:a="http://schemas.openxmlformats.org/drawingml/2006/main"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4776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研究模块_113">
            <a:extLst xmlns:a="http://schemas.openxmlformats.org/drawingml/2006/main"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1630025"/>
            <a:ext cx="6473952" cy="699135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4" name="模块标题背景_114">
            <a:extLst xmlns:a="http://schemas.openxmlformats.org/drawingml/2006/main"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169403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5" name="模块标题_115">
            <a:extLst xmlns:a="http://schemas.openxmlformats.org/drawingml/2006/main"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16967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 xmlns:a="http://schemas.openxmlformats.org/drawingml/2006/main"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2182475"/>
            <a:ext cx="6108192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2249150"/>
            <a:ext cx="59557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2573000"/>
            <a:ext cx="58986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 xmlns:a="http://schemas.openxmlformats.org/drawingml/2006/main"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13497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0" name="航运动态响应模型_120">
            <a:extLst xmlns:a="http://schemas.openxmlformats.org/drawingml/2006/main"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315950"/>
            <a:ext cx="6108192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1" name="文字_121">
            <a:extLst xmlns:a="http://schemas.openxmlformats.org/drawingml/2006/main"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3382625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 xmlns:a="http://schemas.openxmlformats.org/drawingml/2006/main"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3725525"/>
            <a:ext cx="589864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 xmlns:a="http://schemas.openxmlformats.org/drawingml/2006/main"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2494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3637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5" name="流程箭头_125">
            <a:extLst xmlns:a="http://schemas.openxmlformats.org/drawingml/2006/main"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3732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6" name="流程箭头_126">
            <a:extLst xmlns:a="http://schemas.openxmlformats.org/drawingml/2006/main"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732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7" name="典型事件校准_127">
            <a:extLst xmlns:a="http://schemas.openxmlformats.org/drawingml/2006/main"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592300"/>
            <a:ext cx="2862072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8" name="文字_128">
            <a:extLst xmlns:a="http://schemas.openxmlformats.org/drawingml/2006/main"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65897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 xmlns:a="http://schemas.openxmlformats.org/drawingml/2006/main"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5001875"/>
            <a:ext cx="265252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 xmlns:a="http://schemas.openxmlformats.org/drawingml/2006/main"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4592300"/>
            <a:ext cx="2862072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1465897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 xmlns:a="http://schemas.openxmlformats.org/drawingml/2006/main"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15001875"/>
            <a:ext cx="265252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 xmlns:a="http://schemas.openxmlformats.org/drawingml/2006/main"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516380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4" name="连接线_134">
            <a:extLst xmlns:a="http://schemas.openxmlformats.org/drawingml/2006/main"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782675"/>
            <a:ext cx="19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5" name="连接线_135">
            <a:extLst xmlns:a="http://schemas.openxmlformats.org/drawingml/2006/main"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78267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6" name="流程箭头_136">
            <a:extLst xmlns:a="http://schemas.openxmlformats.org/drawingml/2006/main"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7160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7" name="连接线_137">
            <a:extLst xmlns:a="http://schemas.openxmlformats.org/drawingml/2006/main"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1638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8" name="连接线_138">
            <a:extLst xmlns:a="http://schemas.openxmlformats.org/drawingml/2006/main"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3782675"/>
            <a:ext cx="19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9" name="连接线_139">
            <a:extLst xmlns:a="http://schemas.openxmlformats.org/drawingml/2006/main"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826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流程箭头_140">
            <a:extLst xmlns:a="http://schemas.openxmlformats.org/drawingml/2006/main"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71600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1" name="容器_141">
            <a:extLst xmlns:a="http://schemas.openxmlformats.org/drawingml/2006/main"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2113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2" name="容器_142">
            <a:extLst xmlns:a="http://schemas.openxmlformats.org/drawingml/2006/main"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2113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3" name="文字_143">
            <a:extLst xmlns:a="http://schemas.openxmlformats.org/drawingml/2006/main"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2113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 xmlns:a="http://schemas.openxmlformats.org/drawingml/2006/main"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113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 xmlns:a="http://schemas.openxmlformats.org/drawingml/2006/main"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801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连接线_146">
            <a:extLst xmlns:a="http://schemas.openxmlformats.org/drawingml/2006/main"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01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连接线_147">
            <a:extLst xmlns:a="http://schemas.openxmlformats.org/drawingml/2006/main"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8781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8" name="流程箭头_148">
            <a:extLst xmlns:a="http://schemas.openxmlformats.org/drawingml/2006/main"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9" name="多情景传播与恢复响应_149">
            <a:extLst xmlns:a="http://schemas.openxmlformats.org/drawingml/2006/main"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068675"/>
            <a:ext cx="6108192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0" name="文字_150">
            <a:extLst xmlns:a="http://schemas.openxmlformats.org/drawingml/2006/main"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6135350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</a:p>
        </p:txBody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6478250"/>
            <a:ext cx="589864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</a:p>
        </p:txBody>
      </p:sp>
      <p:sp>
        <p:nvSpPr>
          <p:cNvPr id="152" name="流程箭头_152">
            <a:extLst xmlns:a="http://schemas.openxmlformats.org/drawingml/2006/main"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0783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3" name="供需失配与阈值_153">
            <a:extLst xmlns:a="http://schemas.openxmlformats.org/drawingml/2006/main"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4" name="文字_154">
            <a:extLst xmlns:a="http://schemas.openxmlformats.org/drawingml/2006/main"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 xmlns:a="http://schemas.openxmlformats.org/drawingml/2006/main"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 xmlns:a="http://schemas.openxmlformats.org/drawingml/2006/main"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7" name="文字_157">
            <a:extLst xmlns:a="http://schemas.openxmlformats.org/drawingml/2006/main"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 xmlns:a="http://schemas.openxmlformats.org/drawingml/2006/main"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 xmlns:a="http://schemas.openxmlformats.org/drawingml/2006/main"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0" name="文字_160">
            <a:extLst xmlns:a="http://schemas.openxmlformats.org/drawingml/2006/main"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 xmlns:a="http://schemas.openxmlformats.org/drawingml/2006/main"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162" name="施工情景与能力变化_162">
            <a:extLst xmlns:a="http://schemas.openxmlformats.org/drawingml/2006/main">
              <a:ext uri="{FF2B5EF4-FFF2-40B4-BE49-F238E27FC236}">
                <a16:creationId xmlns:a16="http://schemas.microsoft.com/office/drawing/2014/main" id="{756EAC77-2EB2-4910-8A25-C4FB3478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CCFE4ECB-4A11-4766-9935-50D4EFB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4780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施工情景与能力变化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1E75C6D3-9872-4816-84A9-C55BAC78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905000"/>
            <a:ext cx="187528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持续时间与恢复过程</a:t>
            </a:r>
          </a:p>
        </p:txBody>
      </p:sp>
      <p:sp>
        <p:nvSpPr>
          <p:cNvPr id="165" name="需求与到达变化_165">
            <a:extLst xmlns:a="http://schemas.openxmlformats.org/drawingml/2006/main">
              <a:ext uri="{FF2B5EF4-FFF2-40B4-BE49-F238E27FC236}">
                <a16:creationId xmlns:a16="http://schemas.microsoft.com/office/drawing/2014/main" id="{C9D50BE8-669F-4709-8562-181B777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400425"/>
            <a:ext cx="2084832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6" name="文字_166">
            <a:extLst xmlns:a="http://schemas.openxmlformats.org/drawingml/2006/main">
              <a:ext uri="{FF2B5EF4-FFF2-40B4-BE49-F238E27FC236}">
                <a16:creationId xmlns:a16="http://schemas.microsoft.com/office/drawing/2014/main" id="{8F8DECB8-00E8-4AC4-9CCC-E0D16EC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46710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167" name="文字_167">
            <a:extLst xmlns:a="http://schemas.openxmlformats.org/drawingml/2006/main">
              <a:ext uri="{FF2B5EF4-FFF2-40B4-BE49-F238E27FC236}">
                <a16:creationId xmlns:a16="http://schemas.microsoft.com/office/drawing/2014/main" id="{F291ADB7-3899-4D1C-BFD4-46AE2D9C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3924300"/>
            <a:ext cx="187528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常态需求特征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施工影响幅度与时滞</a:t>
            </a:r>
          </a:p>
        </p:txBody>
      </p:sp>
      <p:sp>
        <p:nvSpPr>
          <p:cNvPr id="168" name="运行与服务响应_168">
            <a:extLst xmlns:a="http://schemas.openxmlformats.org/drawingml/2006/main">
              <a:ext uri="{FF2B5EF4-FFF2-40B4-BE49-F238E27FC236}">
                <a16:creationId xmlns:a16="http://schemas.microsoft.com/office/drawing/2014/main" id="{7200EBED-AAC6-41A7-8AD4-FDD32BB3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943600"/>
            <a:ext cx="2084832" cy="1400175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9" name="文字_169">
            <a:extLst xmlns:a="http://schemas.openxmlformats.org/drawingml/2006/main">
              <a:ext uri="{FF2B5EF4-FFF2-40B4-BE49-F238E27FC236}">
                <a16:creationId xmlns:a16="http://schemas.microsoft.com/office/drawing/2014/main" id="{973C921F-47AE-4F6C-ADB2-E470290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60102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</a:t>
            </a:r>
          </a:p>
        </p:txBody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9E8DE2B9-DC35-41A0-82C9-0E76FD63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6467475"/>
            <a:ext cx="1875282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通过量、积压与等待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船期、时效与可靠性</a:t>
            </a:r>
          </a:p>
        </p:txBody>
      </p:sp>
      <p:sp>
        <p:nvSpPr>
          <p:cNvPr id="171" name="组织调整与反馈_171">
            <a:extLst xmlns:a="http://schemas.openxmlformats.org/drawingml/2006/main">
              <a:ext uri="{FF2B5EF4-FFF2-40B4-BE49-F238E27FC236}">
                <a16:creationId xmlns:a16="http://schemas.microsoft.com/office/drawing/2014/main" id="{7D8187CF-F3EF-41FD-A60B-71221F7A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201150"/>
            <a:ext cx="2084832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2" name="文字_172">
            <a:extLst xmlns:a="http://schemas.openxmlformats.org/drawingml/2006/main">
              <a:ext uri="{FF2B5EF4-FFF2-40B4-BE49-F238E27FC236}">
                <a16:creationId xmlns:a16="http://schemas.microsoft.com/office/drawing/2014/main" id="{84A66FA4-49A5-4870-8CCF-422D5ABD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92678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组织调整与反馈</a:t>
            </a:r>
          </a:p>
        </p:txBody>
      </p:sp>
      <p:sp>
        <p:nvSpPr>
          <p:cNvPr id="173" name="文字_173">
            <a:extLst xmlns:a="http://schemas.openxmlformats.org/drawingml/2006/main">
              <a:ext uri="{FF2B5EF4-FFF2-40B4-BE49-F238E27FC236}">
                <a16:creationId xmlns:a16="http://schemas.microsoft.com/office/drawing/2014/main" id="{C9A20D98-9F83-451B-89C0-582E392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9725025"/>
            <a:ext cx="1875282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运力与到达变化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调整幅度与响应时滞</a:t>
            </a:r>
          </a:p>
        </p:txBody>
      </p:sp>
      <p:sp>
        <p:nvSpPr>
          <p:cNvPr id="174" name="传播与恢复规律_174">
            <a:extLst xmlns:a="http://schemas.openxmlformats.org/drawingml/2006/main">
              <a:ext uri="{FF2B5EF4-FFF2-40B4-BE49-F238E27FC236}">
                <a16:creationId xmlns:a16="http://schemas.microsoft.com/office/drawing/2014/main" id="{F0C3239A-C942-4B34-B8F0-8F91BF2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2182475"/>
            <a:ext cx="2084832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7B6C0766-C9E5-4164-843B-1C00131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224915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176" name="文字_176">
            <a:extLst xmlns:a="http://schemas.openxmlformats.org/drawingml/2006/main">
              <a:ext uri="{FF2B5EF4-FFF2-40B4-BE49-F238E27FC236}">
                <a16:creationId xmlns:a16="http://schemas.microsoft.com/office/drawing/2014/main" id="{F1A7A855-BDD3-4C00-83F7-83E744BD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2706350"/>
            <a:ext cx="1875282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放大阈值与恢复过程</a:t>
            </a:r>
          </a:p>
        </p:txBody>
      </p:sp>
      <p:sp>
        <p:nvSpPr>
          <p:cNvPr id="177" name="响应模型与参数_177">
            <a:extLst xmlns:a="http://schemas.openxmlformats.org/drawingml/2006/main">
              <a:ext uri="{FF2B5EF4-FFF2-40B4-BE49-F238E27FC236}">
                <a16:creationId xmlns:a16="http://schemas.microsoft.com/office/drawing/2014/main" id="{9AE268B2-8B98-41DE-8672-7949879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592300"/>
            <a:ext cx="2084832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D5E4F0C0-B551-4288-895C-9DB0071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6589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响应模型与参数</a:t>
            </a:r>
          </a:p>
        </p:txBody>
      </p:sp>
      <p:sp>
        <p:nvSpPr>
          <p:cNvPr id="179" name="文字_179">
            <a:extLst xmlns:a="http://schemas.openxmlformats.org/drawingml/2006/main">
              <a:ext uri="{FF2B5EF4-FFF2-40B4-BE49-F238E27FC236}">
                <a16:creationId xmlns:a16="http://schemas.microsoft.com/office/drawing/2014/main" id="{9D8DE27D-217C-4E83-A8E2-E5B7AD9D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5116175"/>
            <a:ext cx="1875282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运行参数与适用范围</a:t>
            </a:r>
          </a:p>
        </p:txBody>
      </p:sp>
      <p:sp>
        <p:nvSpPr>
          <p:cNvPr id="180" name="模型检验结果_180">
            <a:extLst xmlns:a="http://schemas.openxmlformats.org/drawingml/2006/main">
              <a:ext uri="{FF2B5EF4-FFF2-40B4-BE49-F238E27FC236}">
                <a16:creationId xmlns:a16="http://schemas.microsoft.com/office/drawing/2014/main" id="{EDCAA6AC-B931-40F9-B9B3-FF43E1E9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287875"/>
            <a:ext cx="2084832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2AE858A2-997C-4B10-945D-F0107E39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735455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模型检验结果</a:t>
            </a:r>
          </a:p>
        </p:txBody>
      </p:sp>
      <p:sp>
        <p:nvSpPr>
          <p:cNvPr id="182" name="文字_182">
            <a:extLst xmlns:a="http://schemas.openxmlformats.org/drawingml/2006/main">
              <a:ext uri="{FF2B5EF4-FFF2-40B4-BE49-F238E27FC236}">
                <a16:creationId xmlns:a16="http://schemas.microsoft.com/office/drawing/2014/main" id="{045EC5D0-97EF-494A-8CA0-A3B5337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7811750"/>
            <a:ext cx="187528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运行指标误差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典型情景适用性</a:t>
            </a:r>
          </a:p>
        </p:txBody>
      </p:sp>
      <p:sp>
        <p:nvSpPr>
          <p:cNvPr id="183" name="流程箭头_183">
            <a:extLst xmlns:a="http://schemas.openxmlformats.org/drawingml/2006/main">
              <a:ext uri="{FF2B5EF4-FFF2-40B4-BE49-F238E27FC236}">
                <a16:creationId xmlns:a16="http://schemas.microsoft.com/office/drawing/2014/main" id="{B95E7074-42A6-4125-97C7-0173304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809875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4" name="流程箭头_184">
            <a:extLst xmlns:a="http://schemas.openxmlformats.org/drawingml/2006/main">
              <a:ext uri="{FF2B5EF4-FFF2-40B4-BE49-F238E27FC236}">
                <a16:creationId xmlns:a16="http://schemas.microsoft.com/office/drawing/2014/main" id="{D1ECA523-F42C-413A-A7DD-F22B8DA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810125"/>
            <a:ext cx="152400" cy="962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5" name="流程箭头_185">
            <a:extLst xmlns:a="http://schemas.openxmlformats.org/drawingml/2006/main">
              <a:ext uri="{FF2B5EF4-FFF2-40B4-BE49-F238E27FC236}">
                <a16:creationId xmlns:a16="http://schemas.microsoft.com/office/drawing/2014/main" id="{6667DD3D-772E-4E12-B221-7A61555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7515225"/>
            <a:ext cx="152400" cy="1524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6" name="流程箭头_186">
            <a:extLst xmlns:a="http://schemas.openxmlformats.org/drawingml/2006/main">
              <a:ext uri="{FF2B5EF4-FFF2-40B4-BE49-F238E27FC236}">
                <a16:creationId xmlns:a16="http://schemas.microsoft.com/office/drawing/2014/main" id="{4E74005E-1ED5-4642-AC0B-877A6404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0972800"/>
            <a:ext cx="152400" cy="1038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7" name="流程箭头_187">
            <a:extLst xmlns:a="http://schemas.openxmlformats.org/drawingml/2006/main">
              <a:ext uri="{FF2B5EF4-FFF2-40B4-BE49-F238E27FC236}">
                <a16:creationId xmlns:a16="http://schemas.microsoft.com/office/drawing/2014/main" id="{6F18EE81-3E15-4CED-BBEE-5514103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687425"/>
            <a:ext cx="152400" cy="733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8" name="流程箭头_188">
            <a:extLst xmlns:a="http://schemas.openxmlformats.org/drawingml/2006/main">
              <a:ext uri="{FF2B5EF4-FFF2-40B4-BE49-F238E27FC236}">
                <a16:creationId xmlns:a16="http://schemas.microsoft.com/office/drawing/2014/main" id="{6CD28E67-BFF8-42BE-993C-464C6410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6116300"/>
            <a:ext cx="152400" cy="1000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9" name="研究边界_189">
            <a:extLst xmlns:a="http://schemas.openxmlformats.org/drawingml/2006/main">
              <a:ext uri="{FF2B5EF4-FFF2-40B4-BE49-F238E27FC236}">
                <a16:creationId xmlns:a16="http://schemas.microsoft.com/office/drawing/2014/main" id="{390BED08-51E3-4119-9ED2-ABC9AF1F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8764250"/>
            <a:ext cx="647395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研究边界：航运能力、需求、拥堵、运输组织与服务响应</a:t>
            </a:r>
          </a:p>
        </p:txBody>
      </p:sp>
    </p:spTree>
    <p:extLst>
      <p:ext uri="{BB962C8B-B14F-4D97-AF65-F5344CB8AC3E}">
        <p14:creationId xmlns:p14="http://schemas.microsoft.com/office/powerpoint/2010/main" val="9528031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383</Words>
  <Application>Microsoft Office PowerPoint</Application>
  <PresentationFormat>自定义</PresentationFormat>
  <Paragraphs>176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Office Theme</vt:lpstr>
      <vt:lpstr>ChatGPT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赵欣</cp:lastModifiedBy>
  <cp:revision>3</cp:revision>
  <dcterms:created xsi:type="dcterms:W3CDTF">2013-01-27T09:14:16Z</dcterms:created>
  <dcterms:modified xsi:type="dcterms:W3CDTF">2026-10-05T03:50:27Z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