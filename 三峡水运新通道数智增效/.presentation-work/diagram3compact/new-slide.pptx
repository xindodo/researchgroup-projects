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db884b38a409e" /><Relationship Type="http://schemas.openxmlformats.org/officeDocument/2006/relationships/extended-properties" Target="/docProps/app.xml" Id="R0597ad09663047a0" /><Relationship Type="http://schemas.openxmlformats.org/officeDocument/2006/relationships/officeDocument" Target="/ppt/presentation.xml" Id="Rc2c46f451268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d30269d2c4b5a"/>
  </p:sldMasterIdLst>
  <p:notesMasterIdLst>
    <p:notesMasterId xmlns:r="http://schemas.openxmlformats.org/officeDocument/2006/relationships" r:id="Rbd96678cba304ace"/>
  </p:notesMasterIdLst>
  <p:sldIdLst>
    <p:sldId xmlns:r="http://schemas.openxmlformats.org/officeDocument/2006/relationships" id="256" r:id="R77610241a43f4de6"/>
  </p:sldIdLst>
  <p:sldSz cx="12192000" cy="2519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daf74b20e49ba" /><Relationship Type="http://schemas.openxmlformats.org/officeDocument/2006/relationships/slideMaster" Target="/ppt/slideMasters/slideMaster1.xml" Id="R736d30269d2c4b5a" /><Relationship Type="http://schemas.openxmlformats.org/officeDocument/2006/relationships/notesMaster" Target="/ppt/notesMasters/notesMaster1.xml" Id="Rbd96678cba304ace" /><Relationship Type="http://schemas.openxmlformats.org/officeDocument/2006/relationships/presProps" Target="/ppt/presProps.xml" Id="R7e574f26ad104ec1" /><Relationship Type="http://schemas.openxmlformats.org/officeDocument/2006/relationships/tableStyles" Target="/ppt/tableStyles.xml" Id="R526c4273560848ae" /><Relationship Type="http://schemas.openxmlformats.org/officeDocument/2006/relationships/slide" Target="/ppt/slides/slide1.xml" Id="R77610241a43f4d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035e1a944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fc89b480c49a9" /><Relationship Type="http://schemas.openxmlformats.org/officeDocument/2006/relationships/notesMaster" Target="/ppt/notesMasters/notesMaster1.xml" Id="R8c49555daeab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c244baeee4d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9538308b0b4d02" /><Relationship Type="http://schemas.openxmlformats.org/officeDocument/2006/relationships/slideLayout" Target="/ppt/slideLayouts/slideLayout1.xml" Id="Rc5cc9a83f1f7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cc9a83f1f7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baff4a0d74536" /><Relationship Type="http://schemas.openxmlformats.org/officeDocument/2006/relationships/notesSlide" Target="/ppt/notesSlides/notesSlide1.xml" Id="R4e06b3ae31884e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总标题_1">
            <a:extLst xmlns:a="http://schemas.openxmlformats.org/drawingml/2006/main"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数据侧栏_4">
            <a:extLst xmlns:a="http://schemas.openxmlformats.org/drawingml/2006/main"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183261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183261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333625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293FD3D8-120F-479D-9C75-A5D2BF5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333625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067826E2-F371-4BEB-9BA6-60F518A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819150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819150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56D68349-4FA5-41A9-A9A7-3AE909B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552575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925CFFD8-05A3-424E-BF83-B964999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5525750"/>
            <a:ext cx="45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 xmlns:a="http://schemas.openxmlformats.org/drawingml/2006/main"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17335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478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943100"/>
            <a:ext cx="97917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 xmlns:a="http://schemas.openxmlformats.org/drawingml/2006/main"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76625"/>
            <a:ext cx="1188720" cy="20383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35433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4038600"/>
            <a:ext cx="97917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 xmlns:a="http://schemas.openxmlformats.org/drawingml/2006/main"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24525"/>
            <a:ext cx="1188720" cy="1571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579120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6286500"/>
            <a:ext cx="97917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 xmlns:a="http://schemas.openxmlformats.org/drawingml/2006/main"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210550"/>
            <a:ext cx="1188720" cy="18288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827722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8772525"/>
            <a:ext cx="97917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592300"/>
            <a:ext cx="1188720" cy="19431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6589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5154275"/>
            <a:ext cx="97917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 xmlns:a="http://schemas.openxmlformats.org/drawingml/2006/main"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66770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模块标题背景_28">
            <a:extLst xmlns:a="http://schemas.openxmlformats.org/drawingml/2006/main"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模块标题_29">
            <a:extLst xmlns:a="http://schemas.openxmlformats.org/drawingml/2006/main"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 xmlns:a="http://schemas.openxmlformats.org/drawingml/2006/main"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文字_31">
            <a:extLst xmlns:a="http://schemas.openxmlformats.org/drawingml/2006/main"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阶段、范围与强度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工期、检修与恢复</a:t>
            </a:r>
          </a:p>
        </p:txBody>
      </p:sp>
      <p:sp>
        <p:nvSpPr>
          <p:cNvPr id="33" name="通航约束变化_33">
            <a:extLst xmlns:a="http://schemas.openxmlformats.org/drawingml/2006/main"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通航时间与放行规则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设施可用与船型限制</a:t>
            </a:r>
          </a:p>
        </p:txBody>
      </p:sp>
      <p:sp>
        <p:nvSpPr>
          <p:cNvPr id="36" name="施工扰动情景_36">
            <a:extLst xmlns:a="http://schemas.openxmlformats.org/drawingml/2006/main"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44780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847850"/>
            <a:ext cx="1607058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 xmlns:a="http://schemas.openxmlformats.org/drawingml/2006/main"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0" name="流程箭头_40">
            <a:extLst xmlns:a="http://schemas.openxmlformats.org/drawingml/2006/main"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80022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1" name="连接线_41">
            <a:extLst xmlns:a="http://schemas.openxmlformats.org/drawingml/2006/main"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24288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2" name="连接线_42">
            <a:extLst xmlns:a="http://schemas.openxmlformats.org/drawingml/2006/main"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43175"/>
            <a:ext cx="21396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连接线_43">
            <a:extLst xmlns:a="http://schemas.openxmlformats.org/drawingml/2006/main"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527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连接线_44">
            <a:extLst xmlns:a="http://schemas.openxmlformats.org/drawingml/2006/main"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670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流程箭头_46">
            <a:extLst xmlns:a="http://schemas.openxmlformats.org/drawingml/2006/main"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容器_48">
            <a:extLst xmlns:a="http://schemas.openxmlformats.org/drawingml/2006/main"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876550"/>
            <a:ext cx="2862072" cy="29527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 xmlns:a="http://schemas.openxmlformats.org/drawingml/2006/main"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52750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 xmlns:a="http://schemas.openxmlformats.org/drawingml/2006/main"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 xmlns:a="http://schemas.openxmlformats.org/drawingml/2006/main"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 xmlns:a="http://schemas.openxmlformats.org/drawingml/2006/main"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 xmlns:a="http://schemas.openxmlformats.org/drawingml/2006/main"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 xmlns:a="http://schemas.openxmlformats.org/drawingml/2006/main"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 xmlns:a="http://schemas.openxmlformats.org/drawingml/2006/main"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2676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004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 xmlns:a="http://schemas.openxmlformats.org/drawingml/2006/main"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466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区分需求与实际流量</a:t>
            </a:r>
          </a:p>
        </p:txBody>
      </p:sp>
      <p:sp>
        <p:nvSpPr>
          <p:cNvPr id="63" name="常态波动_63">
            <a:extLst xmlns:a="http://schemas.openxmlformats.org/drawingml/2006/main"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76725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34340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 xmlns:a="http://schemas.openxmlformats.org/drawingml/2006/main"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57725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 xmlns:a="http://schemas.openxmlformats.org/drawingml/2006/main"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48250"/>
            <a:ext cx="2676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1149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 xmlns:a="http://schemas.openxmlformats.org/drawingml/2006/main"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2466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055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连接线_71">
            <a:extLst xmlns:a="http://schemas.openxmlformats.org/drawingml/2006/main"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81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912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3" name="供需失配与运输服务响应_73">
            <a:extLst xmlns:a="http://schemas.openxmlformats.org/drawingml/2006/main"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191250"/>
            <a:ext cx="6108192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62579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6600825"/>
            <a:ext cx="5898642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866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658100"/>
            <a:ext cx="6473952" cy="3800475"/>
          </a:xfrm>
          <a:prstGeom xmlns:a="http://schemas.openxmlformats.org/drawingml/2006/main" prst="roundRect">
            <a:avLst>
              <a:gd name="adj" fmla="val 25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77221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77247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 xmlns:a="http://schemas.openxmlformats.org/drawingml/2006/main"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21055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827722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858202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88677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89820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流程箭头_85">
            <a:extLst xmlns:a="http://schemas.openxmlformats.org/drawingml/2006/main"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6" name="流程箭头_86">
            <a:extLst xmlns:a="http://schemas.openxmlformats.org/drawingml/2006/main"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9916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7" name="船舶组织调整_87">
            <a:extLst xmlns:a="http://schemas.openxmlformats.org/drawingml/2006/main"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文字_88">
            <a:extLst xmlns:a="http://schemas.openxmlformats.org/drawingml/2006/main"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 xmlns:a="http://schemas.openxmlformats.org/drawingml/2006/main"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 xmlns:a="http://schemas.openxmlformats.org/drawingml/2006/main"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9201150"/>
            <a:ext cx="286207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926782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9610725"/>
            <a:ext cx="265252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 xmlns:a="http://schemas.openxmlformats.org/drawingml/2006/main"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4" name="连接线_94">
            <a:extLst xmlns:a="http://schemas.openxmlformats.org/drawingml/2006/main"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3917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5" name="连接线_95">
            <a:extLst xmlns:a="http://schemas.openxmlformats.org/drawingml/2006/main"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4679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6" name="流程箭头_96">
            <a:extLst xmlns:a="http://schemas.openxmlformats.org/drawingml/2006/main"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4775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7" name="组织调整对运行的反馈_97">
            <a:extLst xmlns:a="http://schemas.openxmlformats.org/drawingml/2006/main"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668000"/>
            <a:ext cx="6108192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073467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 xmlns:a="http://schemas.openxmlformats.org/drawingml/2006/main"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039475"/>
            <a:ext cx="5898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 xmlns:a="http://schemas.openxmlformats.org/drawingml/2006/main"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100137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1" name="连接线_101">
            <a:extLst xmlns:a="http://schemas.openxmlformats.org/drawingml/2006/main"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2" name="连接线_102">
            <a:extLst xmlns:a="http://schemas.openxmlformats.org/drawingml/2006/main"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528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3" name="流程箭头_103">
            <a:extLst xmlns:a="http://schemas.openxmlformats.org/drawingml/2006/main"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8617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4" name="连接线_104">
            <a:extLst xmlns:a="http://schemas.openxmlformats.org/drawingml/2006/main"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0013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5" name="连接线_105">
            <a:extLst xmlns:a="http://schemas.openxmlformats.org/drawingml/2006/main"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52850"/>
            <a:ext cx="19050" cy="724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6" name="连接线_106">
            <a:extLst xmlns:a="http://schemas.openxmlformats.org/drawingml/2006/main"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7" name="流程箭头_107">
            <a:extLst xmlns:a="http://schemas.openxmlformats.org/drawingml/2006/main"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861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8" name="容器_108">
            <a:extLst xmlns:a="http://schemas.openxmlformats.org/drawingml/2006/main"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容器_109">
            <a:extLst xmlns:a="http://schemas.openxmlformats.org/drawingml/2006/main"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85825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 xmlns:a="http://schemas.openxmlformats.org/drawingml/2006/main"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85825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 xmlns:a="http://schemas.openxmlformats.org/drawingml/2006/main"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4776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研究模块_113">
            <a:extLst xmlns:a="http://schemas.openxmlformats.org/drawingml/2006/main"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1630025"/>
            <a:ext cx="6473952" cy="699135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4" name="模块标题背景_114">
            <a:extLst xmlns:a="http://schemas.openxmlformats.org/drawingml/2006/main"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169403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5" name="模块标题_115">
            <a:extLst xmlns:a="http://schemas.openxmlformats.org/drawingml/2006/main"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16967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 xmlns:a="http://schemas.openxmlformats.org/drawingml/2006/main"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182475"/>
            <a:ext cx="6108192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2249150"/>
            <a:ext cx="59557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2573000"/>
            <a:ext cx="58986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 xmlns:a="http://schemas.openxmlformats.org/drawingml/2006/main"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1349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0" name="航运动态响应模型_120">
            <a:extLst xmlns:a="http://schemas.openxmlformats.org/drawingml/2006/main"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315950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1" name="文字_121">
            <a:extLst xmlns:a="http://schemas.openxmlformats.org/drawingml/2006/main"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3382625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 xmlns:a="http://schemas.openxmlformats.org/drawingml/2006/main"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25525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 xmlns:a="http://schemas.openxmlformats.org/drawingml/2006/main"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2494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3637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5" name="流程箭头_125">
            <a:extLst xmlns:a="http://schemas.openxmlformats.org/drawingml/2006/main"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6" name="流程箭头_126">
            <a:extLst xmlns:a="http://schemas.openxmlformats.org/drawingml/2006/main"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732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7" name="典型事件校准_127">
            <a:extLst xmlns:a="http://schemas.openxmlformats.org/drawingml/2006/main"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8" name="文字_128">
            <a:extLst xmlns:a="http://schemas.openxmlformats.org/drawingml/2006/main"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 xmlns:a="http://schemas.openxmlformats.org/drawingml/2006/main"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 xmlns:a="http://schemas.openxmlformats.org/drawingml/2006/main"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4592300"/>
            <a:ext cx="2862072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4658975"/>
            <a:ext cx="27096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 xmlns:a="http://schemas.openxmlformats.org/drawingml/2006/main"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5001875"/>
            <a:ext cx="265252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 xmlns:a="http://schemas.openxmlformats.org/drawingml/2006/main"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516380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4" name="连接线_134">
            <a:extLst xmlns:a="http://schemas.openxmlformats.org/drawingml/2006/main"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5" name="连接线_135">
            <a:extLst xmlns:a="http://schemas.openxmlformats.org/drawingml/2006/main"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78267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6" name="流程箭头_136">
            <a:extLst xmlns:a="http://schemas.openxmlformats.org/drawingml/2006/main"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7160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7" name="连接线_137">
            <a:extLst xmlns:a="http://schemas.openxmlformats.org/drawingml/2006/main"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1638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8" name="连接线_138">
            <a:extLst xmlns:a="http://schemas.openxmlformats.org/drawingml/2006/main"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3782675"/>
            <a:ext cx="19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9" name="连接线_139">
            <a:extLst xmlns:a="http://schemas.openxmlformats.org/drawingml/2006/main"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8267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流程箭头_140">
            <a:extLst xmlns:a="http://schemas.openxmlformats.org/drawingml/2006/main"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1" name="容器_141">
            <a:extLst xmlns:a="http://schemas.openxmlformats.org/drawingml/2006/main"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容器_142">
            <a:extLst xmlns:a="http://schemas.openxmlformats.org/drawingml/2006/main"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2113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文字_143">
            <a:extLst xmlns:a="http://schemas.openxmlformats.org/drawingml/2006/main"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 xmlns:a="http://schemas.openxmlformats.org/drawingml/2006/main"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2113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 xmlns:a="http://schemas.openxmlformats.org/drawingml/2006/main"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连接线_146">
            <a:extLst xmlns:a="http://schemas.openxmlformats.org/drawingml/2006/main"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0197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连接线_147">
            <a:extLst xmlns:a="http://schemas.openxmlformats.org/drawingml/2006/main"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58781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8" name="流程箭头_148">
            <a:extLst xmlns:a="http://schemas.openxmlformats.org/drawingml/2006/main"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9" name="多情景传播与恢复响应_149">
            <a:extLst xmlns:a="http://schemas.openxmlformats.org/drawingml/2006/main"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068675"/>
            <a:ext cx="6108192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0" name="文字_150">
            <a:extLst xmlns:a="http://schemas.openxmlformats.org/drawingml/2006/main"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6135350"/>
            <a:ext cx="595579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</a:p>
        </p:txBody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478250"/>
            <a:ext cx="589864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</a:p>
        </p:txBody>
      </p:sp>
      <p:sp>
        <p:nvSpPr>
          <p:cNvPr id="152" name="流程箭头_152">
            <a:extLst xmlns:a="http://schemas.openxmlformats.org/drawingml/2006/main"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07832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3" name="供需失配与阈值_153">
            <a:extLst xmlns:a="http://schemas.openxmlformats.org/drawingml/2006/main"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4" name="文字_154">
            <a:extLst xmlns:a="http://schemas.openxmlformats.org/drawingml/2006/main"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 xmlns:a="http://schemas.openxmlformats.org/drawingml/2006/main"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 xmlns:a="http://schemas.openxmlformats.org/drawingml/2006/main"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7" name="文字_157">
            <a:extLst xmlns:a="http://schemas.openxmlformats.org/drawingml/2006/main"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 xmlns:a="http://schemas.openxmlformats.org/drawingml/2006/main"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 xmlns:a="http://schemas.openxmlformats.org/drawingml/2006/main"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7287875"/>
            <a:ext cx="1816608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0" name="文字_160">
            <a:extLst xmlns:a="http://schemas.openxmlformats.org/drawingml/2006/main"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7354550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 xmlns:a="http://schemas.openxmlformats.org/drawingml/2006/main"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7716500"/>
            <a:ext cx="16070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 xmlns:a="http://schemas.openxmlformats.org/drawingml/2006/main">
              <a:ext uri="{FF2B5EF4-FFF2-40B4-BE49-F238E27FC236}">
                <a16:creationId xmlns:a16="http://schemas.microsoft.com/office/drawing/2014/main" id="{756EAC77-2EB2-4910-8A25-C4FB347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CCFE4ECB-4A11-4766-9935-50D4EFB7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4780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施工情景与能力变化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1E75C6D3-9872-4816-84A9-C55BAC7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05000"/>
            <a:ext cx="187528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持续时间与恢复过程</a:t>
            </a:r>
          </a:p>
        </p:txBody>
      </p:sp>
      <p:sp>
        <p:nvSpPr>
          <p:cNvPr id="165" name="需求与到达变化_165">
            <a:extLst xmlns:a="http://schemas.openxmlformats.org/drawingml/2006/main">
              <a:ext uri="{FF2B5EF4-FFF2-40B4-BE49-F238E27FC236}">
                <a16:creationId xmlns:a16="http://schemas.microsoft.com/office/drawing/2014/main" id="{C9D50BE8-669F-4709-8562-181B777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400425"/>
            <a:ext cx="2084832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6" name="文字_166">
            <a:extLst xmlns:a="http://schemas.openxmlformats.org/drawingml/2006/main">
              <a:ext uri="{FF2B5EF4-FFF2-40B4-BE49-F238E27FC236}">
                <a16:creationId xmlns:a16="http://schemas.microsoft.com/office/drawing/2014/main" id="{8F8DECB8-00E8-4AC4-9CCC-E0D16EC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346710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167" name="文字_167">
            <a:extLst xmlns:a="http://schemas.openxmlformats.org/drawingml/2006/main">
              <a:ext uri="{FF2B5EF4-FFF2-40B4-BE49-F238E27FC236}">
                <a16:creationId xmlns:a16="http://schemas.microsoft.com/office/drawing/2014/main" id="{F291ADB7-3899-4D1C-BFD4-46AE2D9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3924300"/>
            <a:ext cx="1875282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常态需求特征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施工影响幅度与时滞</a:t>
            </a:r>
          </a:p>
        </p:txBody>
      </p:sp>
      <p:sp>
        <p:nvSpPr>
          <p:cNvPr id="168" name="运行与服务响应_168">
            <a:extLst xmlns:a="http://schemas.openxmlformats.org/drawingml/2006/main">
              <a:ext uri="{FF2B5EF4-FFF2-40B4-BE49-F238E27FC236}">
                <a16:creationId xmlns:a16="http://schemas.microsoft.com/office/drawing/2014/main" id="{7200EBED-AAC6-41A7-8AD4-FDD32BB3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943600"/>
            <a:ext cx="2084832" cy="1400175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9" name="文字_169">
            <a:extLst xmlns:a="http://schemas.openxmlformats.org/drawingml/2006/main">
              <a:ext uri="{FF2B5EF4-FFF2-40B4-BE49-F238E27FC236}">
                <a16:creationId xmlns:a16="http://schemas.microsoft.com/office/drawing/2014/main" id="{973C921F-47AE-4F6C-ADB2-E4702904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60102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</a:t>
            </a:r>
          </a:p>
        </p:txBody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9E8DE2B9-DC35-41A0-82C9-0E76FD6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6467475"/>
            <a:ext cx="1875282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通过量、积压与等待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船期、时效与可靠性</a:t>
            </a:r>
          </a:p>
        </p:txBody>
      </p:sp>
      <p:sp>
        <p:nvSpPr>
          <p:cNvPr id="171" name="组织调整与反馈_171">
            <a:extLst xmlns:a="http://schemas.openxmlformats.org/drawingml/2006/main">
              <a:ext uri="{FF2B5EF4-FFF2-40B4-BE49-F238E27FC236}">
                <a16:creationId xmlns:a16="http://schemas.microsoft.com/office/drawing/2014/main" id="{7D8187CF-F3EF-41FD-A60B-71221F7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9201150"/>
            <a:ext cx="2084832" cy="16002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2" name="文字_172">
            <a:extLst xmlns:a="http://schemas.openxmlformats.org/drawingml/2006/main">
              <a:ext uri="{FF2B5EF4-FFF2-40B4-BE49-F238E27FC236}">
                <a16:creationId xmlns:a16="http://schemas.microsoft.com/office/drawing/2014/main" id="{84A66FA4-49A5-4870-8CCF-422D5ABD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92678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组织调整与反馈</a:t>
            </a:r>
          </a:p>
        </p:txBody>
      </p:sp>
      <p:sp>
        <p:nvSpPr>
          <p:cNvPr id="173" name="文字_173">
            <a:extLst xmlns:a="http://schemas.openxmlformats.org/drawingml/2006/main">
              <a:ext uri="{FF2B5EF4-FFF2-40B4-BE49-F238E27FC236}">
                <a16:creationId xmlns:a16="http://schemas.microsoft.com/office/drawing/2014/main" id="{C9A20D98-9F83-451B-89C0-582E392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9725025"/>
            <a:ext cx="187528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调整幅度与响应时滞</a:t>
            </a:r>
          </a:p>
        </p:txBody>
      </p:sp>
      <p:sp>
        <p:nvSpPr>
          <p:cNvPr id="174" name="传播与恢复规律_174">
            <a:extLst xmlns:a="http://schemas.openxmlformats.org/drawingml/2006/main">
              <a:ext uri="{FF2B5EF4-FFF2-40B4-BE49-F238E27FC236}">
                <a16:creationId xmlns:a16="http://schemas.microsoft.com/office/drawing/2014/main" id="{F0C3239A-C942-4B34-B8F0-8F91BF2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2182475"/>
            <a:ext cx="2084832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7B6C0766-C9E5-4164-843B-1C00131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22491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176" name="文字_176">
            <a:extLst xmlns:a="http://schemas.openxmlformats.org/drawingml/2006/main">
              <a:ext uri="{FF2B5EF4-FFF2-40B4-BE49-F238E27FC236}">
                <a16:creationId xmlns:a16="http://schemas.microsoft.com/office/drawing/2014/main" id="{F1A7A855-BDD3-4C00-83F7-83E744BD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2706350"/>
            <a:ext cx="1875282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放大阈值与恢复过程</a:t>
            </a:r>
          </a:p>
        </p:txBody>
      </p:sp>
      <p:sp>
        <p:nvSpPr>
          <p:cNvPr id="177" name="响应模型与参数_177">
            <a:extLst xmlns:a="http://schemas.openxmlformats.org/drawingml/2006/main">
              <a:ext uri="{FF2B5EF4-FFF2-40B4-BE49-F238E27FC236}">
                <a16:creationId xmlns:a16="http://schemas.microsoft.com/office/drawing/2014/main" id="{9AE268B2-8B98-41DE-8672-7949879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4592300"/>
            <a:ext cx="2084832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D5E4F0C0-B551-4288-895C-9DB0071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6589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响应模型与参数</a:t>
            </a:r>
          </a:p>
        </p:txBody>
      </p:sp>
      <p:sp>
        <p:nvSpPr>
          <p:cNvPr id="179" name="文字_179">
            <a:extLst xmlns:a="http://schemas.openxmlformats.org/drawingml/2006/main">
              <a:ext uri="{FF2B5EF4-FFF2-40B4-BE49-F238E27FC236}">
                <a16:creationId xmlns:a16="http://schemas.microsoft.com/office/drawing/2014/main" id="{9D8DE27D-217C-4E83-A8E2-E5B7AD9D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5116175"/>
            <a:ext cx="187528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运行参数与适用范围</a:t>
            </a:r>
          </a:p>
        </p:txBody>
      </p:sp>
      <p:sp>
        <p:nvSpPr>
          <p:cNvPr id="180" name="模型检验结果_180">
            <a:extLst xmlns:a="http://schemas.openxmlformats.org/drawingml/2006/main">
              <a:ext uri="{FF2B5EF4-FFF2-40B4-BE49-F238E27FC236}">
                <a16:creationId xmlns:a16="http://schemas.microsoft.com/office/drawing/2014/main" id="{EDCAA6AC-B931-40F9-B9B3-FF43E1E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287875"/>
            <a:ext cx="2084832" cy="1247775"/>
          </a:xfrm>
          <a:prstGeom xmlns:a="http://schemas.openxmlformats.org/drawingml/2006/main" prst="roundRect">
            <a:avLst>
              <a:gd name="adj" fmla="val 763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2AE858A2-997C-4B10-945D-F0107E39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73545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模型检验结果</a:t>
            </a:r>
          </a:p>
        </p:txBody>
      </p:sp>
      <p:sp>
        <p:nvSpPr>
          <p:cNvPr id="182" name="文字_182">
            <a:extLst xmlns:a="http://schemas.openxmlformats.org/drawingml/2006/main">
              <a:ext uri="{FF2B5EF4-FFF2-40B4-BE49-F238E27FC236}">
                <a16:creationId xmlns:a16="http://schemas.microsoft.com/office/drawing/2014/main" id="{045EC5D0-97EF-494A-8CA0-A3B5337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7811750"/>
            <a:ext cx="187528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运行指标误差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典型情景适用性</a:t>
            </a:r>
          </a:p>
        </p:txBody>
      </p:sp>
      <p:sp>
        <p:nvSpPr>
          <p:cNvPr id="183" name="流程箭头_183">
            <a:extLst xmlns:a="http://schemas.openxmlformats.org/drawingml/2006/main">
              <a:ext uri="{FF2B5EF4-FFF2-40B4-BE49-F238E27FC236}">
                <a16:creationId xmlns:a16="http://schemas.microsoft.com/office/drawing/2014/main" id="{B95E7074-42A6-4125-97C7-0173304E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809875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4" name="流程箭头_184">
            <a:extLst xmlns:a="http://schemas.openxmlformats.org/drawingml/2006/main">
              <a:ext uri="{FF2B5EF4-FFF2-40B4-BE49-F238E27FC236}">
                <a16:creationId xmlns:a16="http://schemas.microsoft.com/office/drawing/2014/main" id="{D1ECA523-F42C-413A-A7DD-F22B8DA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810125"/>
            <a:ext cx="152400" cy="962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5" name="流程箭头_185">
            <a:extLst xmlns:a="http://schemas.openxmlformats.org/drawingml/2006/main">
              <a:ext uri="{FF2B5EF4-FFF2-40B4-BE49-F238E27FC236}">
                <a16:creationId xmlns:a16="http://schemas.microsoft.com/office/drawing/2014/main" id="{6667DD3D-772E-4E12-B221-7A61555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7515225"/>
            <a:ext cx="152400" cy="1524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6" name="流程箭头_186">
            <a:extLst xmlns:a="http://schemas.openxmlformats.org/drawingml/2006/main">
              <a:ext uri="{FF2B5EF4-FFF2-40B4-BE49-F238E27FC236}">
                <a16:creationId xmlns:a16="http://schemas.microsoft.com/office/drawing/2014/main" id="{4E74005E-1ED5-4642-AC0B-877A640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0972800"/>
            <a:ext cx="152400" cy="1038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7" name="流程箭头_187">
            <a:extLst xmlns:a="http://schemas.openxmlformats.org/drawingml/2006/main">
              <a:ext uri="{FF2B5EF4-FFF2-40B4-BE49-F238E27FC236}">
                <a16:creationId xmlns:a16="http://schemas.microsoft.com/office/drawing/2014/main" id="{6F18EE81-3E15-4CED-BBEE-5514103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687425"/>
            <a:ext cx="152400" cy="733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8" name="流程箭头_188">
            <a:extLst xmlns:a="http://schemas.openxmlformats.org/drawingml/2006/main">
              <a:ext uri="{FF2B5EF4-FFF2-40B4-BE49-F238E27FC236}">
                <a16:creationId xmlns:a16="http://schemas.microsoft.com/office/drawing/2014/main" id="{6CD28E67-BFF8-42BE-993C-464C641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116300"/>
            <a:ext cx="152400" cy="1000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9" name="研究边界_189">
            <a:extLst xmlns:a="http://schemas.openxmlformats.org/drawingml/2006/main">
              <a:ext uri="{FF2B5EF4-FFF2-40B4-BE49-F238E27FC236}">
                <a16:creationId xmlns:a16="http://schemas.microsoft.com/office/drawing/2014/main" id="{390BED08-51E3-4119-9ED2-ABC9AF1F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8764250"/>
            <a:ext cx="647395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研究边界：航运能力、需求、拥堵、运输组织与服务响应</a:t>
            </a:r>
          </a:p>
        </p:txBody>
      </p:sp>
    </p:spTree>
    <p:extLst>
      <p:ext uri="{BB962C8B-B14F-4D97-AF65-F5344CB8AC3E}">
        <p14:creationId xmlns:p14="http://schemas.microsoft.com/office/powerpoint/2010/main" val="952803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2026-10-05T04:37:27.7100000Z</dcterms:created>
  <dcterms:modified xsi:type="dcterms:W3CDTF">2026-10-05T04:37:27.7100000Z</dcterms:modified>
</coreProperties>
</file>