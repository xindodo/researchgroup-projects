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  <p:sldMasterId id="2147483662" r:id="rId6"/>
    <p:sldMasterId id="2147483664" r:id="rId7"/>
    <p:sldMasterId id="2147483666" r:id="rId8"/>
  </p:sldMasterIdLst>
  <p:notesMasterIdLst>
    <p:notesMasterId r:id="rId12"/>
  </p:notesMasterIdLst>
  <p:sldIdLst>
    <p:sldId id="257" r:id="rId9"/>
    <p:sldId id="258" r:id="rId10"/>
    <p:sldId id="259" r:id="rId11"/>
  </p:sldIdLst>
  <p:sldSz cx="12192000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2098" y="-427"/>
      </p:cViewPr>
      <p:guideLst>
        <p:guide orient="horz" pos="793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子课题三技术路线细化方案。依据此前确定的三项主要研究内容及两页路线对比完善，保留施工扰动、运行与货类数据、市场行为、网络传播、模型方法、校准检验及成果接口内容。第一部分增加施工参数—通航约束—多情景库，以及能力与需求并行分支、常态波动识别和供需失配服务响应。第二部分区分通航限制引起的直接适应和市场信息驱动调整，两条反馈路线分别更新能力供给及到达需求，不预设成本增加必然引起运价上涨。第三部分将机制识别、响应模型构建、事件校准、独立检验和多情景传播恢复推演联动，校准及检验结果返回模型修正。完整级联模型、产业响应和项目平台任务按子课题分工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三页为研究范围收缩后的技术路线，第一、二页原图保留。根据用户要求，删去可见研究方法、算法名称和工作基础及子课题协同内容，缩短全图文字。子课题三仅研究施工扰动下能力、需求、排队拥堵、运输组织、时效可靠性、传播与恢复。第二部分改为运输组织调整与运行反馈，使用记录或预设情景刻画航次、待闸、船型、通道、发运时点与到达节奏变化，分析其运行影响，不承担独立运价预测、成本收益评估、复杂主体行为选择建模或多式联运优化。建议的任务衔接为：子课题一统筹公共市场与运行数据；子课题二分析成本、运价和市场行为在施工—航运—产业全链条中的传导机理；子课题四结合场景开展港航经营及产业、区域经济影响分析；子课题五依据前述研究集成必要的市场—产业反馈并开展整体验证。该分工是本次收缩范围的建议，需要课题组落实，不表述为其他子课题已接受的任务。第三页不把运价、收益或价格驱动行为作为子课题三的独立研究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1" y="7828339"/>
            <a:ext cx="7772400" cy="54016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4279986"/>
            <a:ext cx="6400800" cy="643999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193330"/>
            <a:ext cx="7772400" cy="500499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680830"/>
            <a:ext cx="7772400" cy="551249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41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22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83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603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245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452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65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2" y="5880007"/>
            <a:ext cx="4038601" cy="166308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5880007"/>
            <a:ext cx="4038601" cy="166308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5640830"/>
            <a:ext cx="4040188" cy="23508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1" b="1"/>
            </a:lvl3pPr>
            <a:lvl4pPr marL="1371622" indent="0">
              <a:buNone/>
              <a:defRPr sz="1600" b="1"/>
            </a:lvl4pPr>
            <a:lvl5pPr marL="1828830" indent="0">
              <a:buNone/>
              <a:defRPr sz="1600" b="1"/>
            </a:lvl5pPr>
            <a:lvl6pPr marL="2286037" indent="0">
              <a:buNone/>
              <a:defRPr sz="1600" b="1"/>
            </a:lvl6pPr>
            <a:lvl7pPr marL="2743245" indent="0">
              <a:buNone/>
              <a:defRPr sz="1600" b="1"/>
            </a:lvl7pPr>
            <a:lvl8pPr marL="3200452" indent="0">
              <a:buNone/>
              <a:defRPr sz="1600" b="1"/>
            </a:lvl8pPr>
            <a:lvl9pPr marL="365765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7991659"/>
            <a:ext cx="4040188" cy="1451915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1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5640830"/>
            <a:ext cx="4041775" cy="23508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1" b="1"/>
            </a:lvl3pPr>
            <a:lvl4pPr marL="1371622" indent="0">
              <a:buNone/>
              <a:defRPr sz="1600" b="1"/>
            </a:lvl4pPr>
            <a:lvl5pPr marL="1828830" indent="0">
              <a:buNone/>
              <a:defRPr sz="1600" b="1"/>
            </a:lvl5pPr>
            <a:lvl6pPr marL="2286037" indent="0">
              <a:buNone/>
              <a:defRPr sz="1600" b="1"/>
            </a:lvl6pPr>
            <a:lvl7pPr marL="2743245" indent="0">
              <a:buNone/>
              <a:defRPr sz="1600" b="1"/>
            </a:lvl7pPr>
            <a:lvl8pPr marL="3200452" indent="0">
              <a:buNone/>
              <a:defRPr sz="1600" b="1"/>
            </a:lvl8pPr>
            <a:lvl9pPr marL="365765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7991659"/>
            <a:ext cx="4041775" cy="1451915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1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003332"/>
            <a:ext cx="3008312" cy="42699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2" y="1003345"/>
            <a:ext cx="5111750" cy="2150748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73341"/>
            <a:ext cx="3008312" cy="17237485"/>
          </a:xfrm>
        </p:spPr>
        <p:txBody>
          <a:bodyPr/>
          <a:lstStyle>
            <a:lvl1pPr marL="0" indent="0">
              <a:buNone/>
              <a:defRPr sz="1401"/>
            </a:lvl1pPr>
            <a:lvl2pPr marL="457207" indent="0">
              <a:buNone/>
              <a:defRPr sz="1200"/>
            </a:lvl2pPr>
            <a:lvl3pPr marL="914415" indent="0">
              <a:buNone/>
              <a:defRPr sz="1001"/>
            </a:lvl3pPr>
            <a:lvl4pPr marL="1371622" indent="0">
              <a:buNone/>
              <a:defRPr sz="900"/>
            </a:lvl4pPr>
            <a:lvl5pPr marL="1828830" indent="0">
              <a:buNone/>
              <a:defRPr sz="900"/>
            </a:lvl5pPr>
            <a:lvl6pPr marL="2286037" indent="0">
              <a:buNone/>
              <a:defRPr sz="900"/>
            </a:lvl6pPr>
            <a:lvl7pPr marL="2743245" indent="0">
              <a:buNone/>
              <a:defRPr sz="900"/>
            </a:lvl7pPr>
            <a:lvl8pPr marL="3200452" indent="0">
              <a:buNone/>
              <a:defRPr sz="900"/>
            </a:lvl8pPr>
            <a:lvl9pPr marL="365765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17639982"/>
            <a:ext cx="5486400" cy="20825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2251664"/>
            <a:ext cx="5486400" cy="15119985"/>
          </a:xfrm>
        </p:spPr>
        <p:txBody>
          <a:bodyPr/>
          <a:lstStyle>
            <a:lvl1pPr marL="0" indent="0">
              <a:buNone/>
              <a:defRPr sz="3200"/>
            </a:lvl1pPr>
            <a:lvl2pPr marL="457207" indent="0">
              <a:buNone/>
              <a:defRPr sz="2800"/>
            </a:lvl2pPr>
            <a:lvl3pPr marL="914415" indent="0">
              <a:buNone/>
              <a:defRPr sz="2400"/>
            </a:lvl3pPr>
            <a:lvl4pPr marL="1371622" indent="0">
              <a:buNone/>
              <a:defRPr sz="2000"/>
            </a:lvl4pPr>
            <a:lvl5pPr marL="1828830" indent="0">
              <a:buNone/>
              <a:defRPr sz="2000"/>
            </a:lvl5pPr>
            <a:lvl6pPr marL="2286037" indent="0">
              <a:buNone/>
              <a:defRPr sz="2000"/>
            </a:lvl6pPr>
            <a:lvl7pPr marL="2743245" indent="0">
              <a:buNone/>
              <a:defRPr sz="2000"/>
            </a:lvl7pPr>
            <a:lvl8pPr marL="3200452" indent="0">
              <a:buNone/>
              <a:defRPr sz="2000"/>
            </a:lvl8pPr>
            <a:lvl9pPr marL="365765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19722482"/>
            <a:ext cx="5486400" cy="2957495"/>
          </a:xfrm>
        </p:spPr>
        <p:txBody>
          <a:bodyPr/>
          <a:lstStyle>
            <a:lvl1pPr marL="0" indent="0">
              <a:buNone/>
              <a:defRPr sz="1401"/>
            </a:lvl1pPr>
            <a:lvl2pPr marL="457207" indent="0">
              <a:buNone/>
              <a:defRPr sz="1200"/>
            </a:lvl2pPr>
            <a:lvl3pPr marL="914415" indent="0">
              <a:buNone/>
              <a:defRPr sz="1001"/>
            </a:lvl3pPr>
            <a:lvl4pPr marL="1371622" indent="0">
              <a:buNone/>
              <a:defRPr sz="900"/>
            </a:lvl4pPr>
            <a:lvl5pPr marL="1828830" indent="0">
              <a:buNone/>
              <a:defRPr sz="900"/>
            </a:lvl5pPr>
            <a:lvl6pPr marL="2286037" indent="0">
              <a:buNone/>
              <a:defRPr sz="900"/>
            </a:lvl6pPr>
            <a:lvl7pPr marL="2743245" indent="0">
              <a:buNone/>
              <a:defRPr sz="900"/>
            </a:lvl7pPr>
            <a:lvl8pPr marL="3200452" indent="0">
              <a:buNone/>
              <a:defRPr sz="900"/>
            </a:lvl8pPr>
            <a:lvl9pPr marL="365765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1009181"/>
            <a:ext cx="2057401" cy="215016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3" y="1009181"/>
            <a:ext cx="6019801" cy="215016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009167"/>
            <a:ext cx="8229600" cy="4199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80007"/>
            <a:ext cx="8229600" cy="16630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23356657"/>
            <a:ext cx="21336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23356657"/>
            <a:ext cx="28956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23356657"/>
            <a:ext cx="21336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5" indent="-342905" algn="l" defTabSz="457207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62" indent="-285755" algn="l" defTabSz="457207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9" indent="-228604" algn="l" defTabSz="457207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7" indent="-228604" algn="l" defTabSz="457207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34" indent="-228604" algn="l" defTabSz="457207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41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9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56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64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0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7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5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2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59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4" indent="-228604" algn="l">
        <a:lnSpc>
          <a:spcPct val="90000"/>
        </a:lnSpc>
        <a:spcBef>
          <a:spcPts val="1001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12" indent="-22860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19" indent="-22860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27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4pPr>
      <a:lvl5pPr marL="2057434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5pPr>
      <a:lvl6pPr marL="2514641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6pPr>
      <a:lvl7pPr marL="2971849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7pPr>
      <a:lvl8pPr marL="3429056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8pPr>
      <a:lvl9pPr marL="3886264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1pPr>
      <a:lvl2pPr marL="457207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2pPr>
      <a:lvl3pPr marL="914415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3pPr>
      <a:lvl4pPr marL="1371622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4pPr>
      <a:lvl5pPr marL="1828830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5pPr>
      <a:lvl6pPr marL="2286037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6pPr>
      <a:lvl7pPr marL="2743245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7pPr>
      <a:lvl8pPr marL="3200452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8pPr>
      <a:lvl9pPr marL="3657659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9428580"/>
            <a:ext cx="58521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41087" y="9508423"/>
            <a:ext cx="65836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枢纽施工扰动下航运系统运输能力与需求波动响应研究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30" y="9847645"/>
            <a:ext cx="11057839" cy="12801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6" name="Rounded Rectangle 5"/>
          <p:cNvSpPr/>
          <p:nvPr/>
        </p:nvSpPr>
        <p:spPr>
          <a:xfrm>
            <a:off x="329185" y="9957372"/>
            <a:ext cx="457200" cy="5760720"/>
          </a:xfrm>
          <a:prstGeom prst="roundRect">
            <a:avLst>
              <a:gd name="adj" fmla="val 16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7" name="TextBox 6"/>
          <p:cNvSpPr txBox="1"/>
          <p:nvPr/>
        </p:nvSpPr>
        <p:spPr>
          <a:xfrm>
            <a:off x="329185" y="11602971"/>
            <a:ext cx="457200" cy="24695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98865" y="9957372"/>
            <a:ext cx="457200" cy="576072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9" name="TextBox 8"/>
          <p:cNvSpPr txBox="1"/>
          <p:nvPr/>
        </p:nvSpPr>
        <p:spPr>
          <a:xfrm>
            <a:off x="9198865" y="11602971"/>
            <a:ext cx="457200" cy="24695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策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03121" y="12700572"/>
            <a:ext cx="274320" cy="502921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1" name="Right Arrow 10"/>
          <p:cNvSpPr/>
          <p:nvPr/>
        </p:nvSpPr>
        <p:spPr>
          <a:xfrm>
            <a:off x="8887969" y="12700572"/>
            <a:ext cx="274320" cy="502921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2" name="Rounded Rectangle 11"/>
          <p:cNvSpPr/>
          <p:nvPr/>
        </p:nvSpPr>
        <p:spPr>
          <a:xfrm>
            <a:off x="896113" y="10067100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17905" y="10067100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工期安排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3" y="10506012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检修安排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17905" y="10506012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通航政策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417319" y="10944924"/>
            <a:ext cx="146304" cy="182880"/>
          </a:xfrm>
          <a:prstGeom prst="down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7" name="Rounded Rectangle 16"/>
          <p:cNvSpPr/>
          <p:nvPr/>
        </p:nvSpPr>
        <p:spPr>
          <a:xfrm>
            <a:off x="896113" y="11219244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枢纽施工·检修场景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施工方案 · 工期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检修安排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426463" y="12215939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9" name="Rounded Rectangle 18"/>
          <p:cNvSpPr/>
          <p:nvPr/>
        </p:nvSpPr>
        <p:spPr>
          <a:xfrm>
            <a:off x="896113" y="12389676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过坝货运量与货种结构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货种构成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运输需求规模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426463" y="13386371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1" name="Rounded Rectangle 20"/>
          <p:cNvSpPr/>
          <p:nvPr/>
        </p:nvSpPr>
        <p:spPr>
          <a:xfrm>
            <a:off x="896113" y="13560108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船舶到达流数据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到达流分布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船舶行为特征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426463" y="14556803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3" name="Rounded Rectangle 22"/>
          <p:cNvSpPr/>
          <p:nvPr/>
        </p:nvSpPr>
        <p:spPr>
          <a:xfrm>
            <a:off x="896113" y="14730540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通航信息与政策变量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通航政策 · 施工信息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通航条件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95728" y="9957372"/>
            <a:ext cx="6473952" cy="16824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5" name="Rounded Rectangle 24"/>
          <p:cNvSpPr/>
          <p:nvPr/>
        </p:nvSpPr>
        <p:spPr>
          <a:xfrm>
            <a:off x="2459737" y="10021379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一、枢纽施工扰动的通航约束解析与能力折减表征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78608" y="10469436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通航约束条件刻画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航道通过限制 · 船闸停航窗口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通航时间变化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431792" y="10899203"/>
            <a:ext cx="256032" cy="18288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8" name="Rounded Rectangle 27"/>
          <p:cNvSpPr/>
          <p:nvPr/>
        </p:nvSpPr>
        <p:spPr>
          <a:xfrm>
            <a:off x="4724400" y="10469437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扰动强度—能力折减映射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建立扰动强度与通航能力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折减之间的量化映射关系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577584" y="10899203"/>
            <a:ext cx="256032" cy="18288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0" name="Rounded Rectangle 29"/>
          <p:cNvSpPr/>
          <p:nvPr/>
        </p:nvSpPr>
        <p:spPr>
          <a:xfrm>
            <a:off x="6870192" y="10469437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多情景扰动库构建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覆盖不同施工方案、工期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与检修安排的多情景组合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95728" y="11749596"/>
            <a:ext cx="6473952" cy="22128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2" name="Rounded Rectangle 31"/>
          <p:cNvSpPr/>
          <p:nvPr/>
        </p:nvSpPr>
        <p:spPr>
          <a:xfrm>
            <a:off x="2459737" y="11813603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21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二、施工扰动下航运系统运输能力动态建模   ｜   三、航运需求波动特征提取与响应预测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78609" y="12261660"/>
            <a:ext cx="2862073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4" name="TextBox 33"/>
          <p:cNvSpPr txBox="1"/>
          <p:nvPr/>
        </p:nvSpPr>
        <p:spPr>
          <a:xfrm>
            <a:off x="2706626" y="12401774"/>
            <a:ext cx="2606039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1854A"/>
                </a:solidFill>
                <a:latin typeface="微软雅黑"/>
                <a:ea typeface="微软雅黑"/>
                <a:cs typeface="微软雅黑"/>
              </a:rPr>
              <a:t>施工扰动下运输能力动态建模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06626" y="12682284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三层级能力输入:航道 · 船闸 · 船舶运力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06626" y="13084620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运输能力动态表征模型:时间特性与空间瓶颈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06626" y="13486956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能力折减表征:折减幅度与持续时间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24729" y="12261660"/>
            <a:ext cx="2862073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9" name="TextBox 38"/>
          <p:cNvSpPr txBox="1"/>
          <p:nvPr/>
        </p:nvSpPr>
        <p:spPr>
          <a:xfrm>
            <a:off x="5952747" y="12401773"/>
            <a:ext cx="2606039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1854A"/>
                </a:solidFill>
                <a:latin typeface="微软雅黑"/>
                <a:ea typeface="微软雅黑"/>
                <a:cs typeface="微软雅黑"/>
              </a:rPr>
              <a:t>航运需求波动特征提取与响应预测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52747" y="12682284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需求数据基础:货运量 · 货种结构 · 到达流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52747" y="13084620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波动特征提取:周期性 · 季节性 · 突发性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52747" y="13486957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响应预测:响应时滞与弹性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504688" y="12947460"/>
            <a:ext cx="256032" cy="201168"/>
          </a:xfrm>
          <a:prstGeom prst="rightArrow">
            <a:avLst/>
          </a:prstGeom>
          <a:solidFill>
            <a:srgbClr val="21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44" name="Rounded Rectangle 43"/>
          <p:cNvSpPr/>
          <p:nvPr/>
        </p:nvSpPr>
        <p:spPr>
          <a:xfrm>
            <a:off x="2395728" y="14072172"/>
            <a:ext cx="647395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45" name="Rounded Rectangle 44"/>
          <p:cNvSpPr/>
          <p:nvPr/>
        </p:nvSpPr>
        <p:spPr>
          <a:xfrm>
            <a:off x="2459737" y="14136179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四、运输能力与需求波动的耦合响应机理   ｜   五、扰动情景下的仿真推演与调控策略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78609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响应行为识别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待闸排队 · 绕行转运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船型调整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945635" y="15004860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48" name="Rounded Rectangle 47"/>
          <p:cNvSpPr/>
          <p:nvPr/>
        </p:nvSpPr>
        <p:spPr>
          <a:xfrm>
            <a:off x="4165092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耦合响应模型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能力供给与需求波动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耦合响应建模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5532120" y="15004860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0" name="Rounded Rectangle 49"/>
          <p:cNvSpPr/>
          <p:nvPr/>
        </p:nvSpPr>
        <p:spPr>
          <a:xfrm>
            <a:off x="5751577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失配演化路径与临界阈值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识别劣化阈值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与调节规律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7118604" y="15004860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2" name="Rounded Rectangle 51"/>
          <p:cNvSpPr/>
          <p:nvPr/>
        </p:nvSpPr>
        <p:spPr>
          <a:xfrm>
            <a:off x="7338061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仿真推演与调控优化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FCF3D8"/>
                </a:solidFill>
                <a:latin typeface="微软雅黑"/>
                <a:ea typeface="微软雅黑"/>
                <a:cs typeface="微软雅黑"/>
              </a:rPr>
              <a:t>交通流仿真 · 方案评估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FCF3D8"/>
                </a:solidFill>
                <a:latin typeface="微软雅黑"/>
                <a:ea typeface="微软雅黑"/>
                <a:cs typeface="微软雅黑"/>
              </a:rPr>
              <a:t>调控优化策略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84083" y="10030524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多情景扰动库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覆盖不同施工方案、工期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与检修安排的扰动情景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10753344" y="11082082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5" name="Rounded Rectangle 54"/>
          <p:cNvSpPr/>
          <p:nvPr/>
        </p:nvSpPr>
        <p:spPr>
          <a:xfrm>
            <a:off x="9784083" y="11255820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运输能力动态表征模型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能力折减幅度与持续时间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能力动态演化表征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10753344" y="12307379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7" name="Rounded Rectangle 56"/>
          <p:cNvSpPr/>
          <p:nvPr/>
        </p:nvSpPr>
        <p:spPr>
          <a:xfrm>
            <a:off x="9784083" y="12481116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能力—需求耦合响应规律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耦合响应机制 · 失配路径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临界阈值与调节规律</a:t>
            </a:r>
          </a:p>
        </p:txBody>
      </p:sp>
      <p:sp>
        <p:nvSpPr>
          <p:cNvPr id="58" name="Down Arrow 57"/>
          <p:cNvSpPr/>
          <p:nvPr/>
        </p:nvSpPr>
        <p:spPr>
          <a:xfrm>
            <a:off x="10753344" y="13532675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9" name="Rounded Rectangle 58"/>
          <p:cNvSpPr/>
          <p:nvPr/>
        </p:nvSpPr>
        <p:spPr>
          <a:xfrm>
            <a:off x="9784083" y="13706412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调控优化策略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待闸组织 · 运力调配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通航调控优化策略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784083" y="14931708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为三峡枢纽施工期</a:t>
            </a:r>
          </a:p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航运保障提供决策支撑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总标题_1">
            <a:extLst>
              <a:ext uri="{FF2B5EF4-FFF2-40B4-BE49-F238E27FC236}">
                <a16:creationId xmlns:a16="http://schemas.microsoft.com/office/drawing/2014/main" id="{469575C4-E52A-4449-88DC-3885358C0939}"/>
              </a:ext>
            </a:extLst>
          </p:cNvPr>
          <p:cNvSpPr>
            <a:spLocks noGrp="1"/>
          </p:cNvSpPr>
          <p:nvPr/>
        </p:nvSpPr>
        <p:spPr>
          <a:xfrm>
            <a:off x="566928" y="209550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2" name="子课题名称_2">
            <a:extLst>
              <a:ext uri="{FF2B5EF4-FFF2-40B4-BE49-F238E27FC236}">
                <a16:creationId xmlns:a16="http://schemas.microsoft.com/office/drawing/2014/main" id="{8BE9C43F-FA8A-4734-9408-9EA54E42D293}"/>
              </a:ext>
            </a:extLst>
          </p:cNvPr>
          <p:cNvSpPr>
            <a:spLocks noGrp="1"/>
          </p:cNvSpPr>
          <p:nvPr/>
        </p:nvSpPr>
        <p:spPr>
          <a:xfrm>
            <a:off x="5810250" y="266700"/>
            <a:ext cx="5810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枢纽施工扰动下航运系统波动响应研究</a:t>
            </a:r>
          </a:p>
        </p:txBody>
      </p:sp>
      <p:sp>
        <p:nvSpPr>
          <p:cNvPr id="3" name="容器_3">
            <a:extLst>
              <a:ext uri="{FF2B5EF4-FFF2-40B4-BE49-F238E27FC236}">
                <a16:creationId xmlns:a16="http://schemas.microsoft.com/office/drawing/2014/main" id="{2669F7C3-2B8B-4F3D-A4B2-542D9AECB25F}"/>
              </a:ext>
            </a:extLst>
          </p:cNvPr>
          <p:cNvSpPr>
            <a:spLocks noGrp="1"/>
          </p:cNvSpPr>
          <p:nvPr/>
        </p:nvSpPr>
        <p:spPr>
          <a:xfrm>
            <a:off x="566928" y="685800"/>
            <a:ext cx="11057858" cy="14288"/>
          </a:xfrm>
          <a:prstGeom prst="rect">
            <a:avLst/>
          </a:prstGeom>
          <a:solidFill>
            <a:srgbClr val="BDD7EE"/>
          </a:solidFill>
          <a:ln w="0">
            <a:noFill/>
          </a:ln>
        </p:spPr>
      </p:sp>
      <p:sp>
        <p:nvSpPr>
          <p:cNvPr id="4" name="研究基础侧栏_4">
            <a:extLst>
              <a:ext uri="{FF2B5EF4-FFF2-40B4-BE49-F238E27FC236}">
                <a16:creationId xmlns:a16="http://schemas.microsoft.com/office/drawing/2014/main" id="{B5CE552A-E25A-41D6-BDB9-35C7CE352C8C}"/>
              </a:ext>
            </a:extLst>
          </p:cNvPr>
          <p:cNvSpPr>
            <a:spLocks noGrp="1"/>
          </p:cNvSpPr>
          <p:nvPr/>
        </p:nvSpPr>
        <p:spPr>
          <a:xfrm>
            <a:off x="329184" y="790575"/>
            <a:ext cx="457200" cy="23583900"/>
          </a:xfrm>
          <a:prstGeom prst="roundRect">
            <a:avLst>
              <a:gd name="adj" fmla="val 20833"/>
            </a:avLst>
          </a:prstGeom>
          <a:solidFill>
            <a:srgbClr val="C55A1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" name="成果侧栏_5">
            <a:extLst>
              <a:ext uri="{FF2B5EF4-FFF2-40B4-BE49-F238E27FC236}">
                <a16:creationId xmlns:a16="http://schemas.microsoft.com/office/drawing/2014/main" id="{05BC309E-1F6B-470D-AD3D-D52208DFF7C6}"/>
              </a:ext>
            </a:extLst>
          </p:cNvPr>
          <p:cNvSpPr>
            <a:spLocks noGrp="1"/>
          </p:cNvSpPr>
          <p:nvPr/>
        </p:nvSpPr>
        <p:spPr>
          <a:xfrm>
            <a:off x="9198864" y="790575"/>
            <a:ext cx="457200" cy="23583900"/>
          </a:xfrm>
          <a:prstGeom prst="roundRect">
            <a:avLst>
              <a:gd name="adj" fmla="val 20833"/>
            </a:avLst>
          </a:prstGeom>
          <a:solidFill>
            <a:srgbClr val="1F4E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" name="文字_6">
            <a:extLst>
              <a:ext uri="{FF2B5EF4-FFF2-40B4-BE49-F238E27FC236}">
                <a16:creationId xmlns:a16="http://schemas.microsoft.com/office/drawing/2014/main" id="{5747B509-9B85-4C25-81F6-718D1B09B6B0}"/>
              </a:ext>
            </a:extLst>
          </p:cNvPr>
          <p:cNvSpPr>
            <a:spLocks noGrp="1"/>
          </p:cNvSpPr>
          <p:nvPr/>
        </p:nvSpPr>
        <p:spPr>
          <a:xfrm>
            <a:off x="329184" y="2571750"/>
            <a:ext cx="4572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7" name="文字_7">
            <a:extLst>
              <a:ext uri="{FF2B5EF4-FFF2-40B4-BE49-F238E27FC236}">
                <a16:creationId xmlns:a16="http://schemas.microsoft.com/office/drawing/2014/main" id="{D0369BED-16E1-4A1B-B4CE-D633A6FA7F50}"/>
              </a:ext>
            </a:extLst>
          </p:cNvPr>
          <p:cNvSpPr>
            <a:spLocks noGrp="1"/>
          </p:cNvSpPr>
          <p:nvPr/>
        </p:nvSpPr>
        <p:spPr>
          <a:xfrm>
            <a:off x="9198864" y="2571750"/>
            <a:ext cx="4572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8" name="文字_8">
            <a:extLst>
              <a:ext uri="{FF2B5EF4-FFF2-40B4-BE49-F238E27FC236}">
                <a16:creationId xmlns:a16="http://schemas.microsoft.com/office/drawing/2014/main" id="{96731E95-B9DA-4A2E-9A3E-1F07CCA1BA36}"/>
              </a:ext>
            </a:extLst>
          </p:cNvPr>
          <p:cNvSpPr>
            <a:spLocks noGrp="1"/>
          </p:cNvSpPr>
          <p:nvPr/>
        </p:nvSpPr>
        <p:spPr>
          <a:xfrm>
            <a:off x="329184" y="10953750"/>
            <a:ext cx="4572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9" name="文字_9">
            <a:extLst>
              <a:ext uri="{FF2B5EF4-FFF2-40B4-BE49-F238E27FC236}">
                <a16:creationId xmlns:a16="http://schemas.microsoft.com/office/drawing/2014/main" id="{3E856275-EC3B-48A9-AFB6-949F09BD9B90}"/>
              </a:ext>
            </a:extLst>
          </p:cNvPr>
          <p:cNvSpPr>
            <a:spLocks noGrp="1"/>
          </p:cNvSpPr>
          <p:nvPr/>
        </p:nvSpPr>
        <p:spPr>
          <a:xfrm>
            <a:off x="9198864" y="10953750"/>
            <a:ext cx="4572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0" name="文字_10">
            <a:extLst>
              <a:ext uri="{FF2B5EF4-FFF2-40B4-BE49-F238E27FC236}">
                <a16:creationId xmlns:a16="http://schemas.microsoft.com/office/drawing/2014/main" id="{6F5EB25C-8E5E-4D99-BAC6-AA22C451227A}"/>
              </a:ext>
            </a:extLst>
          </p:cNvPr>
          <p:cNvSpPr>
            <a:spLocks noGrp="1"/>
          </p:cNvSpPr>
          <p:nvPr/>
        </p:nvSpPr>
        <p:spPr>
          <a:xfrm>
            <a:off x="329184" y="19812000"/>
            <a:ext cx="4572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1" name="文字_11">
            <a:extLst>
              <a:ext uri="{FF2B5EF4-FFF2-40B4-BE49-F238E27FC236}">
                <a16:creationId xmlns:a16="http://schemas.microsoft.com/office/drawing/2014/main" id="{6068B074-9208-496C-A3A1-CD445CB686F0}"/>
              </a:ext>
            </a:extLst>
          </p:cNvPr>
          <p:cNvSpPr>
            <a:spLocks noGrp="1"/>
          </p:cNvSpPr>
          <p:nvPr/>
        </p:nvSpPr>
        <p:spPr>
          <a:xfrm>
            <a:off x="9198864" y="19812000"/>
            <a:ext cx="4572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2" name="施工场景 与通航约束_12">
            <a:extLst>
              <a:ext uri="{FF2B5EF4-FFF2-40B4-BE49-F238E27FC236}">
                <a16:creationId xmlns:a16="http://schemas.microsoft.com/office/drawing/2014/main" id="{4E36F1A9-B795-4737-BEF5-11029E900AF0}"/>
              </a:ext>
            </a:extLst>
          </p:cNvPr>
          <p:cNvSpPr>
            <a:spLocks noGrp="1"/>
          </p:cNvSpPr>
          <p:nvPr/>
        </p:nvSpPr>
        <p:spPr>
          <a:xfrm>
            <a:off x="896112" y="1381125"/>
            <a:ext cx="1188720" cy="247650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" name="文字_13">
            <a:extLst>
              <a:ext uri="{FF2B5EF4-FFF2-40B4-BE49-F238E27FC236}">
                <a16:creationId xmlns:a16="http://schemas.microsoft.com/office/drawing/2014/main" id="{08B72FB9-C693-4737-AA40-6FE3757D30F7}"/>
              </a:ext>
            </a:extLst>
          </p:cNvPr>
          <p:cNvSpPr>
            <a:spLocks noGrp="1"/>
          </p:cNvSpPr>
          <p:nvPr/>
        </p:nvSpPr>
        <p:spPr>
          <a:xfrm>
            <a:off x="962787" y="1466850"/>
            <a:ext cx="105537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施工场景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与通航约束</a:t>
            </a:r>
          </a:p>
        </p:txBody>
      </p:sp>
      <p:sp>
        <p:nvSpPr>
          <p:cNvPr id="14" name="文字_14">
            <a:extLst>
              <a:ext uri="{FF2B5EF4-FFF2-40B4-BE49-F238E27FC236}">
                <a16:creationId xmlns:a16="http://schemas.microsoft.com/office/drawing/2014/main" id="{0DE7F0EF-960B-4CF9-AD00-A98C63BC765D}"/>
              </a:ext>
            </a:extLst>
          </p:cNvPr>
          <p:cNvSpPr>
            <a:spLocks noGrp="1"/>
          </p:cNvSpPr>
          <p:nvPr/>
        </p:nvSpPr>
        <p:spPr>
          <a:xfrm>
            <a:off x="981837" y="1981200"/>
            <a:ext cx="101727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施工方案与工期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施工阶段与作业范围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检修安排与政策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停限航时间窗口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航道与船闸条件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组织规则及船型限制</a:t>
            </a:r>
          </a:p>
        </p:txBody>
      </p:sp>
      <p:sp>
        <p:nvSpPr>
          <p:cNvPr id="15" name="运行与货类 多源数据_15">
            <a:extLst>
              <a:ext uri="{FF2B5EF4-FFF2-40B4-BE49-F238E27FC236}">
                <a16:creationId xmlns:a16="http://schemas.microsoft.com/office/drawing/2014/main" id="{83F4922B-F523-493D-B070-44F91CC710BC}"/>
              </a:ext>
            </a:extLst>
          </p:cNvPr>
          <p:cNvSpPr>
            <a:spLocks noGrp="1"/>
          </p:cNvSpPr>
          <p:nvPr/>
        </p:nvSpPr>
        <p:spPr>
          <a:xfrm>
            <a:off x="896112" y="4143375"/>
            <a:ext cx="1188720" cy="304800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6" name="文字_16">
            <a:extLst>
              <a:ext uri="{FF2B5EF4-FFF2-40B4-BE49-F238E27FC236}">
                <a16:creationId xmlns:a16="http://schemas.microsoft.com/office/drawing/2014/main" id="{3C4C587A-DFD9-4632-BDFE-53E8D05FB1F1}"/>
              </a:ext>
            </a:extLst>
          </p:cNvPr>
          <p:cNvSpPr>
            <a:spLocks noGrp="1"/>
          </p:cNvSpPr>
          <p:nvPr/>
        </p:nvSpPr>
        <p:spPr>
          <a:xfrm>
            <a:off x="962787" y="4229100"/>
            <a:ext cx="105537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运行与货类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多源数据</a:t>
            </a:r>
          </a:p>
        </p:txBody>
      </p:sp>
      <p:sp>
        <p:nvSpPr>
          <p:cNvPr id="17" name="文字_17">
            <a:extLst>
              <a:ext uri="{FF2B5EF4-FFF2-40B4-BE49-F238E27FC236}">
                <a16:creationId xmlns:a16="http://schemas.microsoft.com/office/drawing/2014/main" id="{87C2EFFD-0C3F-48F5-B395-D06957929B0F}"/>
              </a:ext>
            </a:extLst>
          </p:cNvPr>
          <p:cNvSpPr>
            <a:spLocks noGrp="1"/>
          </p:cNvSpPr>
          <p:nvPr/>
        </p:nvSpPr>
        <p:spPr>
          <a:xfrm>
            <a:off x="981837" y="4743450"/>
            <a:ext cx="1017270" cy="2362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AIS轨迹与到达流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实际通过量与过坝货量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港口作业与船期记录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重点货类和货种结构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起讫点与运输批量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发运节奏与交付期限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替代运输条件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货类运输时空特征</a:t>
            </a:r>
          </a:p>
        </p:txBody>
      </p:sp>
      <p:sp>
        <p:nvSpPr>
          <p:cNvPr id="18" name="常态对照 与外生条件_18">
            <a:extLst>
              <a:ext uri="{FF2B5EF4-FFF2-40B4-BE49-F238E27FC236}">
                <a16:creationId xmlns:a16="http://schemas.microsoft.com/office/drawing/2014/main" id="{C1EBE671-D30A-465F-844D-04FE14FF3A30}"/>
              </a:ext>
            </a:extLst>
          </p:cNvPr>
          <p:cNvSpPr>
            <a:spLocks noGrp="1"/>
          </p:cNvSpPr>
          <p:nvPr/>
        </p:nvSpPr>
        <p:spPr>
          <a:xfrm>
            <a:off x="896112" y="7477125"/>
            <a:ext cx="1188720" cy="257175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" name="文字_19">
            <a:extLst>
              <a:ext uri="{FF2B5EF4-FFF2-40B4-BE49-F238E27FC236}">
                <a16:creationId xmlns:a16="http://schemas.microsoft.com/office/drawing/2014/main" id="{5DE67D84-99F8-4D40-AF22-7CD1E4A398E0}"/>
              </a:ext>
            </a:extLst>
          </p:cNvPr>
          <p:cNvSpPr>
            <a:spLocks noGrp="1"/>
          </p:cNvSpPr>
          <p:nvPr/>
        </p:nvSpPr>
        <p:spPr>
          <a:xfrm>
            <a:off x="962787" y="7562850"/>
            <a:ext cx="105537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常态对照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与外生条件</a:t>
            </a:r>
          </a:p>
        </p:txBody>
      </p:sp>
      <p:sp>
        <p:nvSpPr>
          <p:cNvPr id="20" name="文字_20">
            <a:extLst>
              <a:ext uri="{FF2B5EF4-FFF2-40B4-BE49-F238E27FC236}">
                <a16:creationId xmlns:a16="http://schemas.microsoft.com/office/drawing/2014/main" id="{87219467-FBE8-4C04-8CF7-9427A7E143E3}"/>
              </a:ext>
            </a:extLst>
          </p:cNvPr>
          <p:cNvSpPr>
            <a:spLocks noGrp="1"/>
          </p:cNvSpPr>
          <p:nvPr/>
        </p:nvSpPr>
        <p:spPr>
          <a:xfrm>
            <a:off x="981837" y="8077200"/>
            <a:ext cx="1017270" cy="1885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无施工运行基准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水文与天气条件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周期与季节性需求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节假日及其他管制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燃料价格与合同条件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初始负荷与积压状态</a:t>
            </a:r>
          </a:p>
        </p:txBody>
      </p:sp>
      <p:sp>
        <p:nvSpPr>
          <p:cNvPr id="21" name="市场与主体 行为数据_21">
            <a:extLst>
              <a:ext uri="{FF2B5EF4-FFF2-40B4-BE49-F238E27FC236}">
                <a16:creationId xmlns:a16="http://schemas.microsoft.com/office/drawing/2014/main" id="{3467973F-529F-4560-87AD-EB12B7D6D3EE}"/>
              </a:ext>
            </a:extLst>
          </p:cNvPr>
          <p:cNvSpPr>
            <a:spLocks noGrp="1"/>
          </p:cNvSpPr>
          <p:nvPr/>
        </p:nvSpPr>
        <p:spPr>
          <a:xfrm>
            <a:off x="896112" y="11001375"/>
            <a:ext cx="1188720" cy="3381375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2" name="文字_22">
            <a:extLst>
              <a:ext uri="{FF2B5EF4-FFF2-40B4-BE49-F238E27FC236}">
                <a16:creationId xmlns:a16="http://schemas.microsoft.com/office/drawing/2014/main" id="{5F13E4F9-528B-4293-93F1-37D9A2F69B74}"/>
              </a:ext>
            </a:extLst>
          </p:cNvPr>
          <p:cNvSpPr>
            <a:spLocks noGrp="1"/>
          </p:cNvSpPr>
          <p:nvPr/>
        </p:nvSpPr>
        <p:spPr>
          <a:xfrm>
            <a:off x="962787" y="11087100"/>
            <a:ext cx="105537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市场与主体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行为数据</a:t>
            </a:r>
          </a:p>
        </p:txBody>
      </p:sp>
      <p:sp>
        <p:nvSpPr>
          <p:cNvPr id="23" name="文字_23">
            <a:extLst>
              <a:ext uri="{FF2B5EF4-FFF2-40B4-BE49-F238E27FC236}">
                <a16:creationId xmlns:a16="http://schemas.microsoft.com/office/drawing/2014/main" id="{747C2F00-F20E-4216-BA60-3399FCE76D17}"/>
              </a:ext>
            </a:extLst>
          </p:cNvPr>
          <p:cNvSpPr>
            <a:spLocks noGrp="1"/>
          </p:cNvSpPr>
          <p:nvPr/>
        </p:nvSpPr>
        <p:spPr>
          <a:xfrm>
            <a:off x="981837" y="11601450"/>
            <a:ext cx="1017270" cy="2695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分货类航线船型运价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等待航行与转运成本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港航经营收益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船舶周转与承运意愿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运力配置与航次安排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待闸绕行和船型调整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发运时间与通道选择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行为调查及组织记录</a:t>
            </a:r>
          </a:p>
        </p:txBody>
      </p:sp>
      <p:sp>
        <p:nvSpPr>
          <p:cNvPr id="24" name="典型事件 与检验数据_24">
            <a:extLst>
              <a:ext uri="{FF2B5EF4-FFF2-40B4-BE49-F238E27FC236}">
                <a16:creationId xmlns:a16="http://schemas.microsoft.com/office/drawing/2014/main" id="{0832D24A-EE8C-48E6-B516-F0CD9B6AB30A}"/>
              </a:ext>
            </a:extLst>
          </p:cNvPr>
          <p:cNvSpPr>
            <a:spLocks noGrp="1"/>
          </p:cNvSpPr>
          <p:nvPr/>
        </p:nvSpPr>
        <p:spPr>
          <a:xfrm>
            <a:off x="896112" y="16859250"/>
            <a:ext cx="1188720" cy="2333625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5" name="文字_25">
            <a:extLst>
              <a:ext uri="{FF2B5EF4-FFF2-40B4-BE49-F238E27FC236}">
                <a16:creationId xmlns:a16="http://schemas.microsoft.com/office/drawing/2014/main" id="{2CEFC1A6-2294-4DF7-867C-3B840E8920C0}"/>
              </a:ext>
            </a:extLst>
          </p:cNvPr>
          <p:cNvSpPr>
            <a:spLocks noGrp="1"/>
          </p:cNvSpPr>
          <p:nvPr/>
        </p:nvSpPr>
        <p:spPr>
          <a:xfrm>
            <a:off x="962787" y="16944975"/>
            <a:ext cx="105537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典型事件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与检验数据</a:t>
            </a:r>
          </a:p>
        </p:txBody>
      </p:sp>
      <p:sp>
        <p:nvSpPr>
          <p:cNvPr id="26" name="文字_26">
            <a:extLst>
              <a:ext uri="{FF2B5EF4-FFF2-40B4-BE49-F238E27FC236}">
                <a16:creationId xmlns:a16="http://schemas.microsoft.com/office/drawing/2014/main" id="{2472BE07-8753-4989-99DB-8718794F168C}"/>
              </a:ext>
            </a:extLst>
          </p:cNvPr>
          <p:cNvSpPr>
            <a:spLocks noGrp="1"/>
          </p:cNvSpPr>
          <p:nvPr/>
        </p:nvSpPr>
        <p:spPr>
          <a:xfrm>
            <a:off x="981837" y="17459325"/>
            <a:ext cx="1017270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历史施工与检修事件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事件前中后运行记录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到达服务与排队数据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船期运价成本变化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校准与独立检验事件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缺失异常及口径核对</a:t>
            </a:r>
          </a:p>
        </p:txBody>
      </p:sp>
      <p:sp>
        <p:nvSpPr>
          <p:cNvPr id="27" name="工作基础 与子课题协同_27">
            <a:extLst>
              <a:ext uri="{FF2B5EF4-FFF2-40B4-BE49-F238E27FC236}">
                <a16:creationId xmlns:a16="http://schemas.microsoft.com/office/drawing/2014/main" id="{5A92CA7D-86B6-4B9C-834D-39762AA3B19D}"/>
              </a:ext>
            </a:extLst>
          </p:cNvPr>
          <p:cNvSpPr>
            <a:spLocks noGrp="1"/>
          </p:cNvSpPr>
          <p:nvPr/>
        </p:nvSpPr>
        <p:spPr>
          <a:xfrm>
            <a:off x="896112" y="20764500"/>
            <a:ext cx="1188720" cy="352425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8" name="文字_28">
            <a:extLst>
              <a:ext uri="{FF2B5EF4-FFF2-40B4-BE49-F238E27FC236}">
                <a16:creationId xmlns:a16="http://schemas.microsoft.com/office/drawing/2014/main" id="{A0057754-3709-4D73-8AE0-2EE829B1A69C}"/>
              </a:ext>
            </a:extLst>
          </p:cNvPr>
          <p:cNvSpPr>
            <a:spLocks noGrp="1"/>
          </p:cNvSpPr>
          <p:nvPr/>
        </p:nvSpPr>
        <p:spPr>
          <a:xfrm>
            <a:off x="962787" y="20850225"/>
            <a:ext cx="105537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工作基础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与子课题协同</a:t>
            </a:r>
          </a:p>
        </p:txBody>
      </p:sp>
      <p:sp>
        <p:nvSpPr>
          <p:cNvPr id="29" name="文字_29">
            <a:extLst>
              <a:ext uri="{FF2B5EF4-FFF2-40B4-BE49-F238E27FC236}">
                <a16:creationId xmlns:a16="http://schemas.microsoft.com/office/drawing/2014/main" id="{28892D10-8FF9-4EF9-AEB2-B0B250F517C8}"/>
              </a:ext>
            </a:extLst>
          </p:cNvPr>
          <p:cNvSpPr>
            <a:spLocks noGrp="1"/>
          </p:cNvSpPr>
          <p:nvPr/>
        </p:nvSpPr>
        <p:spPr>
          <a:xfrm>
            <a:off x="981837" y="21364575"/>
            <a:ext cx="1017270" cy="2838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空间经济整体模型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区域需求与网络背景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综合交通超级网络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多通道联系及仿真基础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子课题一数据与特征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子课题二路径及假设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子课题四需求情景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子课题五尺度与接口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补充精细航运模块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核查时间分辨率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与水运校准能力</a:t>
            </a:r>
          </a:p>
        </p:txBody>
      </p:sp>
      <p:sp>
        <p:nvSpPr>
          <p:cNvPr id="30" name="研究模块_30">
            <a:extLst>
              <a:ext uri="{FF2B5EF4-FFF2-40B4-BE49-F238E27FC236}">
                <a16:creationId xmlns:a16="http://schemas.microsoft.com/office/drawing/2014/main" id="{B33F4774-9CBC-45A9-952F-DAA70758E7CD}"/>
              </a:ext>
            </a:extLst>
          </p:cNvPr>
          <p:cNvSpPr>
            <a:spLocks noGrp="1"/>
          </p:cNvSpPr>
          <p:nvPr/>
        </p:nvSpPr>
        <p:spPr>
          <a:xfrm>
            <a:off x="2395728" y="790575"/>
            <a:ext cx="6473952" cy="8620125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1" name="模块标题背景_31">
            <a:extLst>
              <a:ext uri="{FF2B5EF4-FFF2-40B4-BE49-F238E27FC236}">
                <a16:creationId xmlns:a16="http://schemas.microsoft.com/office/drawing/2014/main" id="{D5B70634-CA68-4F28-980F-6549031F3F87}"/>
              </a:ext>
            </a:extLst>
          </p:cNvPr>
          <p:cNvSpPr>
            <a:spLocks noGrp="1"/>
          </p:cNvSpPr>
          <p:nvPr/>
        </p:nvSpPr>
        <p:spPr>
          <a:xfrm>
            <a:off x="2459736" y="854583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2E75B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2" name="模块标题_32">
            <a:extLst>
              <a:ext uri="{FF2B5EF4-FFF2-40B4-BE49-F238E27FC236}">
                <a16:creationId xmlns:a16="http://schemas.microsoft.com/office/drawing/2014/main" id="{D8CDD22A-5C07-47D5-AF62-7A5643BBB67A}"/>
              </a:ext>
            </a:extLst>
          </p:cNvPr>
          <p:cNvSpPr>
            <a:spLocks noGrp="1"/>
          </p:cNvSpPr>
          <p:nvPr/>
        </p:nvSpPr>
        <p:spPr>
          <a:xfrm>
            <a:off x="2638425" y="857250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施工扰动表征与航运运行波动响应</a:t>
            </a:r>
          </a:p>
        </p:txBody>
      </p:sp>
      <p:sp>
        <p:nvSpPr>
          <p:cNvPr id="33" name="施工扰动参数化_33">
            <a:extLst>
              <a:ext uri="{FF2B5EF4-FFF2-40B4-BE49-F238E27FC236}">
                <a16:creationId xmlns:a16="http://schemas.microsoft.com/office/drawing/2014/main" id="{3E3C6284-60A1-43A2-A4B2-B6D865EEB35A}"/>
              </a:ext>
            </a:extLst>
          </p:cNvPr>
          <p:cNvSpPr>
            <a:spLocks noGrp="1"/>
          </p:cNvSpPr>
          <p:nvPr/>
        </p:nvSpPr>
        <p:spPr>
          <a:xfrm>
            <a:off x="2578608" y="1381125"/>
            <a:ext cx="1816608" cy="1647825"/>
          </a:xfrm>
          <a:prstGeom prst="roundRect">
            <a:avLst>
              <a:gd name="adj" fmla="val 5780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4" name="文字_34">
            <a:extLst>
              <a:ext uri="{FF2B5EF4-FFF2-40B4-BE49-F238E27FC236}">
                <a16:creationId xmlns:a16="http://schemas.microsoft.com/office/drawing/2014/main" id="{86C273D3-033C-4F10-B12C-9C685D49E7CF}"/>
              </a:ext>
            </a:extLst>
          </p:cNvPr>
          <p:cNvSpPr>
            <a:spLocks noGrp="1"/>
          </p:cNvSpPr>
          <p:nvPr/>
        </p:nvSpPr>
        <p:spPr>
          <a:xfrm>
            <a:off x="2645283" y="1466850"/>
            <a:ext cx="168325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施工扰动参数化</a:t>
            </a:r>
          </a:p>
        </p:txBody>
      </p:sp>
      <p:sp>
        <p:nvSpPr>
          <p:cNvPr id="35" name="文字_35">
            <a:extLst>
              <a:ext uri="{FF2B5EF4-FFF2-40B4-BE49-F238E27FC236}">
                <a16:creationId xmlns:a16="http://schemas.microsoft.com/office/drawing/2014/main" id="{4C3BB5C1-0F93-43E8-B944-7EDDBF9A3714}"/>
              </a:ext>
            </a:extLst>
          </p:cNvPr>
          <p:cNvSpPr>
            <a:spLocks noGrp="1"/>
          </p:cNvSpPr>
          <p:nvPr/>
        </p:nvSpPr>
        <p:spPr>
          <a:xfrm>
            <a:off x="2664333" y="1885950"/>
            <a:ext cx="1645158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阶段、范围、强度与持续时间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施工方案、工期与检修组合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阶段切换及工期不确定性</a:t>
            </a:r>
          </a:p>
        </p:txBody>
      </p:sp>
      <p:sp>
        <p:nvSpPr>
          <p:cNvPr id="36" name="通航约束解析_36">
            <a:extLst>
              <a:ext uri="{FF2B5EF4-FFF2-40B4-BE49-F238E27FC236}">
                <a16:creationId xmlns:a16="http://schemas.microsoft.com/office/drawing/2014/main" id="{1D35F323-F47A-473D-8509-091C572B310B}"/>
              </a:ext>
            </a:extLst>
          </p:cNvPr>
          <p:cNvSpPr>
            <a:spLocks noGrp="1"/>
          </p:cNvSpPr>
          <p:nvPr/>
        </p:nvSpPr>
        <p:spPr>
          <a:xfrm>
            <a:off x="4724400" y="1381125"/>
            <a:ext cx="1816608" cy="1647825"/>
          </a:xfrm>
          <a:prstGeom prst="roundRect">
            <a:avLst>
              <a:gd name="adj" fmla="val 5780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7" name="文字_37">
            <a:extLst>
              <a:ext uri="{FF2B5EF4-FFF2-40B4-BE49-F238E27FC236}">
                <a16:creationId xmlns:a16="http://schemas.microsoft.com/office/drawing/2014/main" id="{4447F361-1597-4679-B8A6-60F7663077C5}"/>
              </a:ext>
            </a:extLst>
          </p:cNvPr>
          <p:cNvSpPr>
            <a:spLocks noGrp="1"/>
          </p:cNvSpPr>
          <p:nvPr/>
        </p:nvSpPr>
        <p:spPr>
          <a:xfrm>
            <a:off x="4791075" y="1466850"/>
            <a:ext cx="168325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通航约束解析</a:t>
            </a:r>
          </a:p>
        </p:txBody>
      </p:sp>
      <p:sp>
        <p:nvSpPr>
          <p:cNvPr id="38" name="文字_38">
            <a:extLst>
              <a:ext uri="{FF2B5EF4-FFF2-40B4-BE49-F238E27FC236}">
                <a16:creationId xmlns:a16="http://schemas.microsoft.com/office/drawing/2014/main" id="{C1110C7D-F48C-41D0-A554-4869F7052718}"/>
              </a:ext>
            </a:extLst>
          </p:cNvPr>
          <p:cNvSpPr>
            <a:spLocks noGrp="1"/>
          </p:cNvSpPr>
          <p:nvPr/>
        </p:nvSpPr>
        <p:spPr>
          <a:xfrm>
            <a:off x="4810125" y="1885950"/>
            <a:ext cx="1645158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航道通过限制与船闸停航窗口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可用时段、服务速率与船型限制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放行节奏、优先规则与作业衔接</a:t>
            </a:r>
          </a:p>
        </p:txBody>
      </p:sp>
      <p:sp>
        <p:nvSpPr>
          <p:cNvPr id="39" name="多情景扰动库_39">
            <a:extLst>
              <a:ext uri="{FF2B5EF4-FFF2-40B4-BE49-F238E27FC236}">
                <a16:creationId xmlns:a16="http://schemas.microsoft.com/office/drawing/2014/main" id="{C677D267-B22B-4C67-BB8E-E3E6D8782110}"/>
              </a:ext>
            </a:extLst>
          </p:cNvPr>
          <p:cNvSpPr>
            <a:spLocks noGrp="1"/>
          </p:cNvSpPr>
          <p:nvPr/>
        </p:nvSpPr>
        <p:spPr>
          <a:xfrm>
            <a:off x="6870192" y="1381125"/>
            <a:ext cx="1816608" cy="1647825"/>
          </a:xfrm>
          <a:prstGeom prst="roundRect">
            <a:avLst>
              <a:gd name="adj" fmla="val 5780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40" name="文字_40">
            <a:extLst>
              <a:ext uri="{FF2B5EF4-FFF2-40B4-BE49-F238E27FC236}">
                <a16:creationId xmlns:a16="http://schemas.microsoft.com/office/drawing/2014/main" id="{38964C1C-29F8-4A7B-869A-BA5518C43949}"/>
              </a:ext>
            </a:extLst>
          </p:cNvPr>
          <p:cNvSpPr>
            <a:spLocks noGrp="1"/>
          </p:cNvSpPr>
          <p:nvPr/>
        </p:nvSpPr>
        <p:spPr>
          <a:xfrm>
            <a:off x="6936867" y="1466850"/>
            <a:ext cx="168325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多情景扰动库</a:t>
            </a:r>
          </a:p>
        </p:txBody>
      </p:sp>
      <p:sp>
        <p:nvSpPr>
          <p:cNvPr id="41" name="文字_41">
            <a:extLst>
              <a:ext uri="{FF2B5EF4-FFF2-40B4-BE49-F238E27FC236}">
                <a16:creationId xmlns:a16="http://schemas.microsoft.com/office/drawing/2014/main" id="{7F22109F-23D8-460A-BBBF-1638096E9DA7}"/>
              </a:ext>
            </a:extLst>
          </p:cNvPr>
          <p:cNvSpPr>
            <a:spLocks noGrp="1"/>
          </p:cNvSpPr>
          <p:nvPr/>
        </p:nvSpPr>
        <p:spPr>
          <a:xfrm>
            <a:off x="6955917" y="1885950"/>
            <a:ext cx="1645158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无施工基准与典型施工阶段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不同强度、工期及恢复安排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施工与水文、需求高峰叠加</a:t>
            </a:r>
          </a:p>
        </p:txBody>
      </p:sp>
      <p:sp>
        <p:nvSpPr>
          <p:cNvPr id="42" name="流程箭头_42">
            <a:extLst>
              <a:ext uri="{FF2B5EF4-FFF2-40B4-BE49-F238E27FC236}">
                <a16:creationId xmlns:a16="http://schemas.microsoft.com/office/drawing/2014/main" id="{8C7F34C2-E16D-4F30-B2B2-2E083ECB2EC3}"/>
              </a:ext>
            </a:extLst>
          </p:cNvPr>
          <p:cNvSpPr>
            <a:spLocks noGrp="1"/>
          </p:cNvSpPr>
          <p:nvPr/>
        </p:nvSpPr>
        <p:spPr>
          <a:xfrm>
            <a:off x="4431792" y="1971675"/>
            <a:ext cx="256032" cy="190500"/>
          </a:xfrm>
          <a:prstGeom prst="right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3" name="流程箭头_43">
            <a:extLst>
              <a:ext uri="{FF2B5EF4-FFF2-40B4-BE49-F238E27FC236}">
                <a16:creationId xmlns:a16="http://schemas.microsoft.com/office/drawing/2014/main" id="{320C8123-2075-438A-A7C3-ECC9F80414AA}"/>
              </a:ext>
            </a:extLst>
          </p:cNvPr>
          <p:cNvSpPr>
            <a:spLocks noGrp="1"/>
          </p:cNvSpPr>
          <p:nvPr/>
        </p:nvSpPr>
        <p:spPr>
          <a:xfrm>
            <a:off x="6577584" y="1971675"/>
            <a:ext cx="256032" cy="190500"/>
          </a:xfrm>
          <a:prstGeom prst="right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4" name="文字_44">
            <a:extLst>
              <a:ext uri="{FF2B5EF4-FFF2-40B4-BE49-F238E27FC236}">
                <a16:creationId xmlns:a16="http://schemas.microsoft.com/office/drawing/2014/main" id="{3FE592AF-F24E-4423-B712-17B0FB91CB70}"/>
              </a:ext>
            </a:extLst>
          </p:cNvPr>
          <p:cNvSpPr>
            <a:spLocks noGrp="1"/>
          </p:cNvSpPr>
          <p:nvPr/>
        </p:nvSpPr>
        <p:spPr>
          <a:xfrm>
            <a:off x="2578608" y="3124200"/>
            <a:ext cx="6108192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方法：施工事件窗口匹配与参数化表达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统一情景编号、时间尺度、设施与通道口径</a:t>
            </a:r>
          </a:p>
        </p:txBody>
      </p:sp>
      <p:sp>
        <p:nvSpPr>
          <p:cNvPr id="45" name="流程箭头_45">
            <a:extLst>
              <a:ext uri="{FF2B5EF4-FFF2-40B4-BE49-F238E27FC236}">
                <a16:creationId xmlns:a16="http://schemas.microsoft.com/office/drawing/2014/main" id="{B444DABB-3C5B-4C12-A3D6-11E721596BAB}"/>
              </a:ext>
            </a:extLst>
          </p:cNvPr>
          <p:cNvSpPr>
            <a:spLocks noGrp="1"/>
          </p:cNvSpPr>
          <p:nvPr/>
        </p:nvSpPr>
        <p:spPr>
          <a:xfrm>
            <a:off x="5562600" y="3495675"/>
            <a:ext cx="152400" cy="17145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6" name="容器_46">
            <a:extLst>
              <a:ext uri="{FF2B5EF4-FFF2-40B4-BE49-F238E27FC236}">
                <a16:creationId xmlns:a16="http://schemas.microsoft.com/office/drawing/2014/main" id="{BA0DC5E0-BE00-400C-BA33-24E4EA009CC3}"/>
              </a:ext>
            </a:extLst>
          </p:cNvPr>
          <p:cNvSpPr>
            <a:spLocks noGrp="1"/>
          </p:cNvSpPr>
          <p:nvPr/>
        </p:nvSpPr>
        <p:spPr>
          <a:xfrm>
            <a:off x="2578608" y="3752850"/>
            <a:ext cx="2862072" cy="3162300"/>
          </a:xfrm>
          <a:prstGeom prst="roundRect">
            <a:avLst>
              <a:gd name="adj" fmla="val 2995"/>
            </a:avLst>
          </a:prstGeom>
          <a:solidFill>
            <a:srgbClr val="F6FAFE"/>
          </a:solidFill>
          <a:ln w="16193">
            <a:solidFill>
              <a:srgbClr val="2E75B6"/>
            </a:solidFill>
          </a:ln>
        </p:spPr>
      </p:sp>
      <p:sp>
        <p:nvSpPr>
          <p:cNvPr id="47" name="容器_47">
            <a:extLst>
              <a:ext uri="{FF2B5EF4-FFF2-40B4-BE49-F238E27FC236}">
                <a16:creationId xmlns:a16="http://schemas.microsoft.com/office/drawing/2014/main" id="{C0FDF277-B78E-4412-B767-0AE0CEADD0A1}"/>
              </a:ext>
            </a:extLst>
          </p:cNvPr>
          <p:cNvSpPr>
            <a:spLocks noGrp="1"/>
          </p:cNvSpPr>
          <p:nvPr/>
        </p:nvSpPr>
        <p:spPr>
          <a:xfrm>
            <a:off x="5824728" y="3752850"/>
            <a:ext cx="2862072" cy="3162300"/>
          </a:xfrm>
          <a:prstGeom prst="roundRect">
            <a:avLst>
              <a:gd name="adj" fmla="val 2995"/>
            </a:avLst>
          </a:prstGeom>
          <a:solidFill>
            <a:srgbClr val="F6FAFE"/>
          </a:solidFill>
          <a:ln w="16193">
            <a:solidFill>
              <a:srgbClr val="2E75B6"/>
            </a:solidFill>
          </a:ln>
        </p:spPr>
      </p:sp>
      <p:sp>
        <p:nvSpPr>
          <p:cNvPr id="48" name="文字_48">
            <a:extLst>
              <a:ext uri="{FF2B5EF4-FFF2-40B4-BE49-F238E27FC236}">
                <a16:creationId xmlns:a16="http://schemas.microsoft.com/office/drawing/2014/main" id="{350A27CF-C9E5-4C0B-B06A-C52CA68A107D}"/>
              </a:ext>
            </a:extLst>
          </p:cNvPr>
          <p:cNvSpPr>
            <a:spLocks noGrp="1"/>
          </p:cNvSpPr>
          <p:nvPr/>
        </p:nvSpPr>
        <p:spPr>
          <a:xfrm>
            <a:off x="2667000" y="383857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能力供给动态建模</a:t>
            </a:r>
          </a:p>
        </p:txBody>
      </p:sp>
      <p:sp>
        <p:nvSpPr>
          <p:cNvPr id="49" name="文字_49">
            <a:extLst>
              <a:ext uri="{FF2B5EF4-FFF2-40B4-BE49-F238E27FC236}">
                <a16:creationId xmlns:a16="http://schemas.microsoft.com/office/drawing/2014/main" id="{E3054232-CD14-4824-8E98-697ABF5FB8AC}"/>
              </a:ext>
            </a:extLst>
          </p:cNvPr>
          <p:cNvSpPr>
            <a:spLocks noGrp="1"/>
          </p:cNvSpPr>
          <p:nvPr/>
        </p:nvSpPr>
        <p:spPr>
          <a:xfrm>
            <a:off x="5915025" y="383857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需求与到达过程建模</a:t>
            </a:r>
          </a:p>
        </p:txBody>
      </p:sp>
      <p:sp>
        <p:nvSpPr>
          <p:cNvPr id="50" name="航道、船闸、船舶运力三层级输入_50">
            <a:extLst>
              <a:ext uri="{FF2B5EF4-FFF2-40B4-BE49-F238E27FC236}">
                <a16:creationId xmlns:a16="http://schemas.microsoft.com/office/drawing/2014/main" id="{504FB769-D237-4A68-A656-E4DF078B545A}"/>
              </a:ext>
            </a:extLst>
          </p:cNvPr>
          <p:cNvSpPr>
            <a:spLocks noGrp="1"/>
          </p:cNvSpPr>
          <p:nvPr/>
        </p:nvSpPr>
        <p:spPr>
          <a:xfrm>
            <a:off x="2667000" y="422910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1" name="文字_51">
            <a:extLst>
              <a:ext uri="{FF2B5EF4-FFF2-40B4-BE49-F238E27FC236}">
                <a16:creationId xmlns:a16="http://schemas.microsoft.com/office/drawing/2014/main" id="{DC671F1D-C686-4872-A9D5-6B240031A49A}"/>
              </a:ext>
            </a:extLst>
          </p:cNvPr>
          <p:cNvSpPr>
            <a:spLocks noGrp="1"/>
          </p:cNvSpPr>
          <p:nvPr/>
        </p:nvSpPr>
        <p:spPr>
          <a:xfrm>
            <a:off x="2733675" y="431482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航道、船闸、船舶运力三层级输入</a:t>
            </a:r>
          </a:p>
        </p:txBody>
      </p:sp>
      <p:sp>
        <p:nvSpPr>
          <p:cNvPr id="52" name="文字_52">
            <a:extLst>
              <a:ext uri="{FF2B5EF4-FFF2-40B4-BE49-F238E27FC236}">
                <a16:creationId xmlns:a16="http://schemas.microsoft.com/office/drawing/2014/main" id="{DD4B9140-253A-4F8B-9603-4D208D99A66D}"/>
              </a:ext>
            </a:extLst>
          </p:cNvPr>
          <p:cNvSpPr>
            <a:spLocks noGrp="1"/>
          </p:cNvSpPr>
          <p:nvPr/>
        </p:nvSpPr>
        <p:spPr>
          <a:xfrm>
            <a:off x="2752725" y="462915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通行条件与设施可用性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服务过程及船型组合</a:t>
            </a:r>
          </a:p>
        </p:txBody>
      </p:sp>
      <p:sp>
        <p:nvSpPr>
          <p:cNvPr id="53" name="有效能力与扰动折减映射_53">
            <a:extLst>
              <a:ext uri="{FF2B5EF4-FFF2-40B4-BE49-F238E27FC236}">
                <a16:creationId xmlns:a16="http://schemas.microsoft.com/office/drawing/2014/main" id="{F9A470AD-8CB2-4A53-B994-BEE692C13B31}"/>
              </a:ext>
            </a:extLst>
          </p:cNvPr>
          <p:cNvSpPr>
            <a:spLocks noGrp="1"/>
          </p:cNvSpPr>
          <p:nvPr/>
        </p:nvSpPr>
        <p:spPr>
          <a:xfrm>
            <a:off x="2667000" y="5095875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4" name="文字_54">
            <a:extLst>
              <a:ext uri="{FF2B5EF4-FFF2-40B4-BE49-F238E27FC236}">
                <a16:creationId xmlns:a16="http://schemas.microsoft.com/office/drawing/2014/main" id="{AE6DF5C8-D1E3-4147-846B-547BA1115FC1}"/>
              </a:ext>
            </a:extLst>
          </p:cNvPr>
          <p:cNvSpPr>
            <a:spLocks noGrp="1"/>
          </p:cNvSpPr>
          <p:nvPr/>
        </p:nvSpPr>
        <p:spPr>
          <a:xfrm>
            <a:off x="2733675" y="5181600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有效能力与扰动折减映射</a:t>
            </a:r>
          </a:p>
        </p:txBody>
      </p:sp>
      <p:sp>
        <p:nvSpPr>
          <p:cNvPr id="55" name="文字_55">
            <a:extLst>
              <a:ext uri="{FF2B5EF4-FFF2-40B4-BE49-F238E27FC236}">
                <a16:creationId xmlns:a16="http://schemas.microsoft.com/office/drawing/2014/main" id="{29EA268F-EAF8-4D0B-8158-87AA2FDA563D}"/>
              </a:ext>
            </a:extLst>
          </p:cNvPr>
          <p:cNvSpPr>
            <a:spLocks noGrp="1"/>
          </p:cNvSpPr>
          <p:nvPr/>
        </p:nvSpPr>
        <p:spPr>
          <a:xfrm>
            <a:off x="2752725" y="5495925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服务速率、可用时间及组织规则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扰动强度对应能力折减与恢复</a:t>
            </a:r>
          </a:p>
        </p:txBody>
      </p:sp>
      <p:sp>
        <p:nvSpPr>
          <p:cNvPr id="56" name="能力变化时空特征_56">
            <a:extLst>
              <a:ext uri="{FF2B5EF4-FFF2-40B4-BE49-F238E27FC236}">
                <a16:creationId xmlns:a16="http://schemas.microsoft.com/office/drawing/2014/main" id="{6D0A3DCC-1E1E-4F83-B746-11D6A1823D92}"/>
              </a:ext>
            </a:extLst>
          </p:cNvPr>
          <p:cNvSpPr>
            <a:spLocks noGrp="1"/>
          </p:cNvSpPr>
          <p:nvPr/>
        </p:nvSpPr>
        <p:spPr>
          <a:xfrm>
            <a:off x="2667000" y="596265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7" name="文字_57">
            <a:extLst>
              <a:ext uri="{FF2B5EF4-FFF2-40B4-BE49-F238E27FC236}">
                <a16:creationId xmlns:a16="http://schemas.microsoft.com/office/drawing/2014/main" id="{184594BB-A721-472C-B97F-986F607AE483}"/>
              </a:ext>
            </a:extLst>
          </p:cNvPr>
          <p:cNvSpPr>
            <a:spLocks noGrp="1"/>
          </p:cNvSpPr>
          <p:nvPr/>
        </p:nvSpPr>
        <p:spPr>
          <a:xfrm>
            <a:off x="2733675" y="604837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能力变化时空特征</a:t>
            </a:r>
          </a:p>
        </p:txBody>
      </p:sp>
      <p:sp>
        <p:nvSpPr>
          <p:cNvPr id="58" name="文字_58">
            <a:extLst>
              <a:ext uri="{FF2B5EF4-FFF2-40B4-BE49-F238E27FC236}">
                <a16:creationId xmlns:a16="http://schemas.microsoft.com/office/drawing/2014/main" id="{E9B028D6-6EAE-424C-BF43-14377475717C}"/>
              </a:ext>
            </a:extLst>
          </p:cNvPr>
          <p:cNvSpPr>
            <a:spLocks noGrp="1"/>
          </p:cNvSpPr>
          <p:nvPr/>
        </p:nvSpPr>
        <p:spPr>
          <a:xfrm>
            <a:off x="2752725" y="636270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折减幅度、持续时间与恢复过程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能力时间特性及空间瓶颈</a:t>
            </a:r>
          </a:p>
        </p:txBody>
      </p:sp>
      <p:sp>
        <p:nvSpPr>
          <p:cNvPr id="59" name="运输需求与船舶到达过程_59">
            <a:extLst>
              <a:ext uri="{FF2B5EF4-FFF2-40B4-BE49-F238E27FC236}">
                <a16:creationId xmlns:a16="http://schemas.microsoft.com/office/drawing/2014/main" id="{85FFC66E-C525-4149-8DFC-AD78E6731CED}"/>
              </a:ext>
            </a:extLst>
          </p:cNvPr>
          <p:cNvSpPr>
            <a:spLocks noGrp="1"/>
          </p:cNvSpPr>
          <p:nvPr/>
        </p:nvSpPr>
        <p:spPr>
          <a:xfrm>
            <a:off x="5915025" y="422910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0" name="文字_60">
            <a:extLst>
              <a:ext uri="{FF2B5EF4-FFF2-40B4-BE49-F238E27FC236}">
                <a16:creationId xmlns:a16="http://schemas.microsoft.com/office/drawing/2014/main" id="{1CA593D6-E5DB-4BC1-A0E3-50171D17B8C3}"/>
              </a:ext>
            </a:extLst>
          </p:cNvPr>
          <p:cNvSpPr>
            <a:spLocks noGrp="1"/>
          </p:cNvSpPr>
          <p:nvPr/>
        </p:nvSpPr>
        <p:spPr>
          <a:xfrm>
            <a:off x="5981700" y="431482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运输需求与船舶到达过程</a:t>
            </a:r>
          </a:p>
        </p:txBody>
      </p:sp>
      <p:sp>
        <p:nvSpPr>
          <p:cNvPr id="61" name="文字_61">
            <a:extLst>
              <a:ext uri="{FF2B5EF4-FFF2-40B4-BE49-F238E27FC236}">
                <a16:creationId xmlns:a16="http://schemas.microsoft.com/office/drawing/2014/main" id="{AB741544-2B64-49F9-8329-98C7110C147A}"/>
              </a:ext>
            </a:extLst>
          </p:cNvPr>
          <p:cNvSpPr>
            <a:spLocks noGrp="1"/>
          </p:cNvSpPr>
          <p:nvPr/>
        </p:nvSpPr>
        <p:spPr>
          <a:xfrm>
            <a:off x="6000750" y="462915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货类、起讫点及船型时空分布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区分潜在需求与实际实现流量</a:t>
            </a:r>
          </a:p>
        </p:txBody>
      </p:sp>
      <p:sp>
        <p:nvSpPr>
          <p:cNvPr id="62" name="常态需求波动分解_62">
            <a:extLst>
              <a:ext uri="{FF2B5EF4-FFF2-40B4-BE49-F238E27FC236}">
                <a16:creationId xmlns:a16="http://schemas.microsoft.com/office/drawing/2014/main" id="{5EE06CD0-EAC3-4FE3-AD78-82FF93724239}"/>
              </a:ext>
            </a:extLst>
          </p:cNvPr>
          <p:cNvSpPr>
            <a:spLocks noGrp="1"/>
          </p:cNvSpPr>
          <p:nvPr/>
        </p:nvSpPr>
        <p:spPr>
          <a:xfrm>
            <a:off x="5915025" y="5095875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3" name="文字_63">
            <a:extLst>
              <a:ext uri="{FF2B5EF4-FFF2-40B4-BE49-F238E27FC236}">
                <a16:creationId xmlns:a16="http://schemas.microsoft.com/office/drawing/2014/main" id="{2D9635A3-5C88-4EF4-BAC7-4C1435F84F7E}"/>
              </a:ext>
            </a:extLst>
          </p:cNvPr>
          <p:cNvSpPr>
            <a:spLocks noGrp="1"/>
          </p:cNvSpPr>
          <p:nvPr/>
        </p:nvSpPr>
        <p:spPr>
          <a:xfrm>
            <a:off x="5981700" y="5181600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常态需求波动分解</a:t>
            </a:r>
          </a:p>
        </p:txBody>
      </p:sp>
      <p:sp>
        <p:nvSpPr>
          <p:cNvPr id="64" name="文字_64">
            <a:extLst>
              <a:ext uri="{FF2B5EF4-FFF2-40B4-BE49-F238E27FC236}">
                <a16:creationId xmlns:a16="http://schemas.microsoft.com/office/drawing/2014/main" id="{53F12352-4697-4311-9762-E9178B1687C0}"/>
              </a:ext>
            </a:extLst>
          </p:cNvPr>
          <p:cNvSpPr>
            <a:spLocks noGrp="1"/>
          </p:cNvSpPr>
          <p:nvPr/>
        </p:nvSpPr>
        <p:spPr>
          <a:xfrm>
            <a:off x="6000750" y="5495925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周期性、季节性及突发性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控制水文、天气及非施工因素</a:t>
            </a:r>
          </a:p>
        </p:txBody>
      </p:sp>
      <p:sp>
        <p:nvSpPr>
          <p:cNvPr id="65" name="施工增量响应识别_65">
            <a:extLst>
              <a:ext uri="{FF2B5EF4-FFF2-40B4-BE49-F238E27FC236}">
                <a16:creationId xmlns:a16="http://schemas.microsoft.com/office/drawing/2014/main" id="{953DC81E-6B53-47B1-9358-7019E95F6D77}"/>
              </a:ext>
            </a:extLst>
          </p:cNvPr>
          <p:cNvSpPr>
            <a:spLocks noGrp="1"/>
          </p:cNvSpPr>
          <p:nvPr/>
        </p:nvSpPr>
        <p:spPr>
          <a:xfrm>
            <a:off x="5915025" y="596265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6" name="文字_66">
            <a:extLst>
              <a:ext uri="{FF2B5EF4-FFF2-40B4-BE49-F238E27FC236}">
                <a16:creationId xmlns:a16="http://schemas.microsoft.com/office/drawing/2014/main" id="{B8967DB6-372C-4975-81BA-FE395A8CCBB6}"/>
              </a:ext>
            </a:extLst>
          </p:cNvPr>
          <p:cNvSpPr>
            <a:spLocks noGrp="1"/>
          </p:cNvSpPr>
          <p:nvPr/>
        </p:nvSpPr>
        <p:spPr>
          <a:xfrm>
            <a:off x="5981700" y="604837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施工增量响应识别</a:t>
            </a:r>
          </a:p>
        </p:txBody>
      </p:sp>
      <p:sp>
        <p:nvSpPr>
          <p:cNvPr id="67" name="文字_67">
            <a:extLst>
              <a:ext uri="{FF2B5EF4-FFF2-40B4-BE49-F238E27FC236}">
                <a16:creationId xmlns:a16="http://schemas.microsoft.com/office/drawing/2014/main" id="{12266CC6-BEDE-4679-A3D4-32CF36D5172A}"/>
              </a:ext>
            </a:extLst>
          </p:cNvPr>
          <p:cNvSpPr>
            <a:spLocks noGrp="1"/>
          </p:cNvSpPr>
          <p:nvPr/>
        </p:nvSpPr>
        <p:spPr>
          <a:xfrm>
            <a:off x="6000750" y="636270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基准与扰动情景对照及事件分析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响应幅度、时滞与需求弹性</a:t>
            </a:r>
          </a:p>
        </p:txBody>
      </p:sp>
      <p:sp>
        <p:nvSpPr>
          <p:cNvPr id="68" name="连接线_68">
            <a:extLst>
              <a:ext uri="{FF2B5EF4-FFF2-40B4-BE49-F238E27FC236}">
                <a16:creationId xmlns:a16="http://schemas.microsoft.com/office/drawing/2014/main" id="{7B51A4E8-36FC-49E4-8391-D872A2E2B9CB}"/>
              </a:ext>
            </a:extLst>
          </p:cNvPr>
          <p:cNvSpPr>
            <a:spLocks noGrp="1"/>
          </p:cNvSpPr>
          <p:nvPr/>
        </p:nvSpPr>
        <p:spPr>
          <a:xfrm>
            <a:off x="4010025" y="7000875"/>
            <a:ext cx="19050" cy="1524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69" name="连接线_69">
            <a:extLst>
              <a:ext uri="{FF2B5EF4-FFF2-40B4-BE49-F238E27FC236}">
                <a16:creationId xmlns:a16="http://schemas.microsoft.com/office/drawing/2014/main" id="{7A44031B-2C3D-4F13-AF20-3A402F547778}"/>
              </a:ext>
            </a:extLst>
          </p:cNvPr>
          <p:cNvSpPr>
            <a:spLocks noGrp="1"/>
          </p:cNvSpPr>
          <p:nvPr/>
        </p:nvSpPr>
        <p:spPr>
          <a:xfrm>
            <a:off x="7258050" y="7000875"/>
            <a:ext cx="19050" cy="1524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0" name="连接线_70">
            <a:extLst>
              <a:ext uri="{FF2B5EF4-FFF2-40B4-BE49-F238E27FC236}">
                <a16:creationId xmlns:a16="http://schemas.microsoft.com/office/drawing/2014/main" id="{BF70E774-F314-4DB2-BFD6-EB38F5C5CEDA}"/>
              </a:ext>
            </a:extLst>
          </p:cNvPr>
          <p:cNvSpPr>
            <a:spLocks noGrp="1"/>
          </p:cNvSpPr>
          <p:nvPr/>
        </p:nvSpPr>
        <p:spPr>
          <a:xfrm>
            <a:off x="4010025" y="7153275"/>
            <a:ext cx="3248025" cy="1905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1" name="流程箭头_71">
            <a:extLst>
              <a:ext uri="{FF2B5EF4-FFF2-40B4-BE49-F238E27FC236}">
                <a16:creationId xmlns:a16="http://schemas.microsoft.com/office/drawing/2014/main" id="{3587D432-B330-4312-B41B-B3E75F65673F}"/>
              </a:ext>
            </a:extLst>
          </p:cNvPr>
          <p:cNvSpPr>
            <a:spLocks noGrp="1"/>
          </p:cNvSpPr>
          <p:nvPr/>
        </p:nvSpPr>
        <p:spPr>
          <a:xfrm>
            <a:off x="5562600" y="7162800"/>
            <a:ext cx="152400" cy="200025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2" name="供需失配与运输服务联合响应_72">
            <a:extLst>
              <a:ext uri="{FF2B5EF4-FFF2-40B4-BE49-F238E27FC236}">
                <a16:creationId xmlns:a16="http://schemas.microsoft.com/office/drawing/2014/main" id="{95D7AC9F-3F3F-415A-B55A-38C5E0B68F37}"/>
              </a:ext>
            </a:extLst>
          </p:cNvPr>
          <p:cNvSpPr>
            <a:spLocks noGrp="1"/>
          </p:cNvSpPr>
          <p:nvPr/>
        </p:nvSpPr>
        <p:spPr>
          <a:xfrm>
            <a:off x="2578608" y="7410450"/>
            <a:ext cx="6108192" cy="1114425"/>
          </a:xfrm>
          <a:prstGeom prst="roundRect">
            <a:avLst>
              <a:gd name="adj" fmla="val 8547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3" name="文字_73">
            <a:extLst>
              <a:ext uri="{FF2B5EF4-FFF2-40B4-BE49-F238E27FC236}">
                <a16:creationId xmlns:a16="http://schemas.microsoft.com/office/drawing/2014/main" id="{1AEEAC14-DAA0-42C1-95E8-83152F807596}"/>
              </a:ext>
            </a:extLst>
          </p:cNvPr>
          <p:cNvSpPr>
            <a:spLocks noGrp="1"/>
          </p:cNvSpPr>
          <p:nvPr/>
        </p:nvSpPr>
        <p:spPr>
          <a:xfrm>
            <a:off x="2645283" y="7496175"/>
            <a:ext cx="597484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供需失配与运输服务联合响应</a:t>
            </a:r>
          </a:p>
        </p:txBody>
      </p:sp>
      <p:sp>
        <p:nvSpPr>
          <p:cNvPr id="74" name="文字_74">
            <a:extLst>
              <a:ext uri="{FF2B5EF4-FFF2-40B4-BE49-F238E27FC236}">
                <a16:creationId xmlns:a16="http://schemas.microsoft.com/office/drawing/2014/main" id="{DEFC8391-F6F1-46F5-ABBF-CBC9989223FF}"/>
              </a:ext>
            </a:extLst>
          </p:cNvPr>
          <p:cNvSpPr>
            <a:spLocks noGrp="1"/>
          </p:cNvSpPr>
          <p:nvPr/>
        </p:nvSpPr>
        <p:spPr>
          <a:xfrm>
            <a:off x="2664333" y="7915275"/>
            <a:ext cx="5936742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到达与有效服务失衡引起排队增长、货物积压与实际通过量变化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刻画待闸时间分布、船期偏移、港航作业衔接及运输组织调整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识别时效损失、交付可靠性变化与重点货类差异</a:t>
            </a:r>
          </a:p>
        </p:txBody>
      </p:sp>
      <p:sp>
        <p:nvSpPr>
          <p:cNvPr id="75" name="文字_75">
            <a:extLst>
              <a:ext uri="{FF2B5EF4-FFF2-40B4-BE49-F238E27FC236}">
                <a16:creationId xmlns:a16="http://schemas.microsoft.com/office/drawing/2014/main" id="{6555E074-F74D-4DFD-B1A3-01A053C2A838}"/>
              </a:ext>
            </a:extLst>
          </p:cNvPr>
          <p:cNvSpPr>
            <a:spLocks noGrp="1"/>
          </p:cNvSpPr>
          <p:nvPr/>
        </p:nvSpPr>
        <p:spPr>
          <a:xfrm>
            <a:off x="2578608" y="8591550"/>
            <a:ext cx="6108192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方法：动态排队、基准情景对照与分货类航线船型分析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输出：有效能力、到达流、通过量、积压量、时效与可靠性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明确施工影响与常态波动的区分及识别条件</a:t>
            </a:r>
          </a:p>
        </p:txBody>
      </p:sp>
      <p:sp>
        <p:nvSpPr>
          <p:cNvPr id="76" name="流程箭头_76">
            <a:extLst>
              <a:ext uri="{FF2B5EF4-FFF2-40B4-BE49-F238E27FC236}">
                <a16:creationId xmlns:a16="http://schemas.microsoft.com/office/drawing/2014/main" id="{66456CA9-DCAA-4741-BA1F-DA1F9653406A}"/>
              </a:ext>
            </a:extLst>
          </p:cNvPr>
          <p:cNvSpPr>
            <a:spLocks noGrp="1"/>
          </p:cNvSpPr>
          <p:nvPr/>
        </p:nvSpPr>
        <p:spPr>
          <a:xfrm>
            <a:off x="5562600" y="9439275"/>
            <a:ext cx="152400" cy="17145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7" name="研究模块_77">
            <a:extLst>
              <a:ext uri="{FF2B5EF4-FFF2-40B4-BE49-F238E27FC236}">
                <a16:creationId xmlns:a16="http://schemas.microsoft.com/office/drawing/2014/main" id="{88CA9AC5-7DD1-4A7D-BDB4-ADF79DBCF09C}"/>
              </a:ext>
            </a:extLst>
          </p:cNvPr>
          <p:cNvSpPr>
            <a:spLocks noGrp="1"/>
          </p:cNvSpPr>
          <p:nvPr/>
        </p:nvSpPr>
        <p:spPr>
          <a:xfrm>
            <a:off x="2395728" y="9639300"/>
            <a:ext cx="6473952" cy="6229350"/>
          </a:xfrm>
          <a:prstGeom prst="roundRect">
            <a:avLst>
              <a:gd name="adj" fmla="val 1529"/>
            </a:avLst>
          </a:prstGeom>
          <a:solidFill>
            <a:srgbClr val="FFFFFF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8" name="模块标题背景_78">
            <a:extLst>
              <a:ext uri="{FF2B5EF4-FFF2-40B4-BE49-F238E27FC236}">
                <a16:creationId xmlns:a16="http://schemas.microsoft.com/office/drawing/2014/main" id="{D90B1F2A-AA54-46E6-9A42-FFB9C75A203D}"/>
              </a:ext>
            </a:extLst>
          </p:cNvPr>
          <p:cNvSpPr>
            <a:spLocks noGrp="1"/>
          </p:cNvSpPr>
          <p:nvPr/>
        </p:nvSpPr>
        <p:spPr>
          <a:xfrm>
            <a:off x="2459736" y="9703308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2186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9" name="模块标题_79">
            <a:extLst>
              <a:ext uri="{FF2B5EF4-FFF2-40B4-BE49-F238E27FC236}">
                <a16:creationId xmlns:a16="http://schemas.microsoft.com/office/drawing/2014/main" id="{F67EDDBE-F46C-44D8-9D5F-8633BD043641}"/>
              </a:ext>
            </a:extLst>
          </p:cNvPr>
          <p:cNvSpPr>
            <a:spLocks noGrp="1"/>
          </p:cNvSpPr>
          <p:nvPr/>
        </p:nvSpPr>
        <p:spPr>
          <a:xfrm>
            <a:off x="2638425" y="9705975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航运市场与经营经济响应及主体行为反馈</a:t>
            </a:r>
          </a:p>
        </p:txBody>
      </p:sp>
      <p:sp>
        <p:nvSpPr>
          <p:cNvPr id="80" name="共同驱动：运行状态变化与通航限制_80">
            <a:extLst>
              <a:ext uri="{FF2B5EF4-FFF2-40B4-BE49-F238E27FC236}">
                <a16:creationId xmlns:a16="http://schemas.microsoft.com/office/drawing/2014/main" id="{4C38D973-EC37-47EE-AA16-D30D13CE604D}"/>
              </a:ext>
            </a:extLst>
          </p:cNvPr>
          <p:cNvSpPr>
            <a:spLocks noGrp="1"/>
          </p:cNvSpPr>
          <p:nvPr/>
        </p:nvSpPr>
        <p:spPr>
          <a:xfrm>
            <a:off x="2578608" y="10191750"/>
            <a:ext cx="6108192" cy="571500"/>
          </a:xfrm>
          <a:prstGeom prst="roundRect">
            <a:avLst>
              <a:gd name="adj" fmla="val 16667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1" name="文字_81">
            <a:extLst>
              <a:ext uri="{FF2B5EF4-FFF2-40B4-BE49-F238E27FC236}">
                <a16:creationId xmlns:a16="http://schemas.microsoft.com/office/drawing/2014/main" id="{CB8264C2-B9DC-4701-AED3-3D6D75B3EF46}"/>
              </a:ext>
            </a:extLst>
          </p:cNvPr>
          <p:cNvSpPr>
            <a:spLocks noGrp="1"/>
          </p:cNvSpPr>
          <p:nvPr/>
        </p:nvSpPr>
        <p:spPr>
          <a:xfrm>
            <a:off x="2645283" y="10277475"/>
            <a:ext cx="5974842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共同驱动：运行状态变化与通航限制</a:t>
            </a:r>
          </a:p>
        </p:txBody>
      </p:sp>
      <p:sp>
        <p:nvSpPr>
          <p:cNvPr id="82" name="文字_82">
            <a:extLst>
              <a:ext uri="{FF2B5EF4-FFF2-40B4-BE49-F238E27FC236}">
                <a16:creationId xmlns:a16="http://schemas.microsoft.com/office/drawing/2014/main" id="{7F026D47-1990-4CEC-BC49-90ADC9252478}"/>
              </a:ext>
            </a:extLst>
          </p:cNvPr>
          <p:cNvSpPr>
            <a:spLocks noGrp="1"/>
          </p:cNvSpPr>
          <p:nvPr/>
        </p:nvSpPr>
        <p:spPr>
          <a:xfrm>
            <a:off x="2664333" y="10582275"/>
            <a:ext cx="5936742" cy="95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能力、需求、等待时间、船期及可靠性变化分别进入成本市场分析与主体直接调整</a:t>
            </a:r>
          </a:p>
        </p:txBody>
      </p:sp>
      <p:sp>
        <p:nvSpPr>
          <p:cNvPr id="83" name="连接线_83">
            <a:extLst>
              <a:ext uri="{FF2B5EF4-FFF2-40B4-BE49-F238E27FC236}">
                <a16:creationId xmlns:a16="http://schemas.microsoft.com/office/drawing/2014/main" id="{926F5026-B7EF-45F5-B36A-58B278B6CA89}"/>
              </a:ext>
            </a:extLst>
          </p:cNvPr>
          <p:cNvSpPr>
            <a:spLocks noGrp="1"/>
          </p:cNvSpPr>
          <p:nvPr/>
        </p:nvSpPr>
        <p:spPr>
          <a:xfrm>
            <a:off x="4010025" y="10772775"/>
            <a:ext cx="19050" cy="66675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4" name="连接线_84">
            <a:extLst>
              <a:ext uri="{FF2B5EF4-FFF2-40B4-BE49-F238E27FC236}">
                <a16:creationId xmlns:a16="http://schemas.microsoft.com/office/drawing/2014/main" id="{DE7AD2C4-CECC-4B5F-B995-9B34D092F035}"/>
              </a:ext>
            </a:extLst>
          </p:cNvPr>
          <p:cNvSpPr>
            <a:spLocks noGrp="1"/>
          </p:cNvSpPr>
          <p:nvPr/>
        </p:nvSpPr>
        <p:spPr>
          <a:xfrm>
            <a:off x="7258050" y="10772775"/>
            <a:ext cx="19050" cy="66675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5" name="文字_85">
            <a:extLst>
              <a:ext uri="{FF2B5EF4-FFF2-40B4-BE49-F238E27FC236}">
                <a16:creationId xmlns:a16="http://schemas.microsoft.com/office/drawing/2014/main" id="{AF0C7144-2D71-4710-9C0D-D293C893E77A}"/>
              </a:ext>
            </a:extLst>
          </p:cNvPr>
          <p:cNvSpPr>
            <a:spLocks noGrp="1"/>
          </p:cNvSpPr>
          <p:nvPr/>
        </p:nvSpPr>
        <p:spPr>
          <a:xfrm>
            <a:off x="2733675" y="10820400"/>
            <a:ext cx="25717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运行变化引起成本与供需调整</a:t>
            </a:r>
          </a:p>
        </p:txBody>
      </p:sp>
      <p:sp>
        <p:nvSpPr>
          <p:cNvPr id="86" name="文字_86">
            <a:extLst>
              <a:ext uri="{FF2B5EF4-FFF2-40B4-BE49-F238E27FC236}">
                <a16:creationId xmlns:a16="http://schemas.microsoft.com/office/drawing/2014/main" id="{F5AFBFDE-6188-416B-A49C-5C8983FE3DE0}"/>
              </a:ext>
            </a:extLst>
          </p:cNvPr>
          <p:cNvSpPr>
            <a:spLocks noGrp="1"/>
          </p:cNvSpPr>
          <p:nvPr/>
        </p:nvSpPr>
        <p:spPr>
          <a:xfrm>
            <a:off x="5981700" y="10820400"/>
            <a:ext cx="25717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通航约束直接引起组织适应</a:t>
            </a:r>
          </a:p>
        </p:txBody>
      </p:sp>
      <p:sp>
        <p:nvSpPr>
          <p:cNvPr id="87" name="流程箭头_87">
            <a:extLst>
              <a:ext uri="{FF2B5EF4-FFF2-40B4-BE49-F238E27FC236}">
                <a16:creationId xmlns:a16="http://schemas.microsoft.com/office/drawing/2014/main" id="{287760BC-5311-417F-A8FB-2BB8E3A60FCB}"/>
              </a:ext>
            </a:extLst>
          </p:cNvPr>
          <p:cNvSpPr>
            <a:spLocks noGrp="1"/>
          </p:cNvSpPr>
          <p:nvPr/>
        </p:nvSpPr>
        <p:spPr>
          <a:xfrm>
            <a:off x="3933825" y="10982325"/>
            <a:ext cx="152400" cy="11430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8" name="流程箭头_88">
            <a:extLst>
              <a:ext uri="{FF2B5EF4-FFF2-40B4-BE49-F238E27FC236}">
                <a16:creationId xmlns:a16="http://schemas.microsoft.com/office/drawing/2014/main" id="{0C9F08D5-99DF-4B05-8D2F-1853B38D29CB}"/>
              </a:ext>
            </a:extLst>
          </p:cNvPr>
          <p:cNvSpPr>
            <a:spLocks noGrp="1"/>
          </p:cNvSpPr>
          <p:nvPr/>
        </p:nvSpPr>
        <p:spPr>
          <a:xfrm>
            <a:off x="7181850" y="10982325"/>
            <a:ext cx="152400" cy="11430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9" name="容器_89">
            <a:extLst>
              <a:ext uri="{FF2B5EF4-FFF2-40B4-BE49-F238E27FC236}">
                <a16:creationId xmlns:a16="http://schemas.microsoft.com/office/drawing/2014/main" id="{D27AF7ED-6145-4CE7-9A4B-5F998872B736}"/>
              </a:ext>
            </a:extLst>
          </p:cNvPr>
          <p:cNvSpPr>
            <a:spLocks noGrp="1"/>
          </p:cNvSpPr>
          <p:nvPr/>
        </p:nvSpPr>
        <p:spPr>
          <a:xfrm>
            <a:off x="2578608" y="11106150"/>
            <a:ext cx="2862072" cy="3143250"/>
          </a:xfrm>
          <a:prstGeom prst="roundRect">
            <a:avLst>
              <a:gd name="adj" fmla="val 2995"/>
            </a:avLst>
          </a:prstGeom>
          <a:solidFill>
            <a:srgbClr val="F7FCF8"/>
          </a:solidFill>
          <a:ln w="16193">
            <a:solidFill>
              <a:srgbClr val="21864B"/>
            </a:solidFill>
          </a:ln>
        </p:spPr>
      </p:sp>
      <p:sp>
        <p:nvSpPr>
          <p:cNvPr id="90" name="容器_90">
            <a:extLst>
              <a:ext uri="{FF2B5EF4-FFF2-40B4-BE49-F238E27FC236}">
                <a16:creationId xmlns:a16="http://schemas.microsoft.com/office/drawing/2014/main" id="{9C151255-AFF3-4638-AFFC-E25767A7C339}"/>
              </a:ext>
            </a:extLst>
          </p:cNvPr>
          <p:cNvSpPr>
            <a:spLocks noGrp="1"/>
          </p:cNvSpPr>
          <p:nvPr/>
        </p:nvSpPr>
        <p:spPr>
          <a:xfrm>
            <a:off x="5824728" y="11106150"/>
            <a:ext cx="2862072" cy="3143250"/>
          </a:xfrm>
          <a:prstGeom prst="roundRect">
            <a:avLst>
              <a:gd name="adj" fmla="val 2995"/>
            </a:avLst>
          </a:prstGeom>
          <a:solidFill>
            <a:srgbClr val="F7FCF8"/>
          </a:solidFill>
          <a:ln w="16193">
            <a:solidFill>
              <a:srgbClr val="21864B"/>
            </a:solidFill>
          </a:ln>
        </p:spPr>
      </p:sp>
      <p:sp>
        <p:nvSpPr>
          <p:cNvPr id="91" name="文字_91">
            <a:extLst>
              <a:ext uri="{FF2B5EF4-FFF2-40B4-BE49-F238E27FC236}">
                <a16:creationId xmlns:a16="http://schemas.microsoft.com/office/drawing/2014/main" id="{9FFC658C-2FE3-45EC-B646-262CA5BB47FC}"/>
              </a:ext>
            </a:extLst>
          </p:cNvPr>
          <p:cNvSpPr>
            <a:spLocks noGrp="1"/>
          </p:cNvSpPr>
          <p:nvPr/>
        </p:nvSpPr>
        <p:spPr>
          <a:xfrm>
            <a:off x="2676525" y="1117282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成本与市场响应</a:t>
            </a:r>
          </a:p>
        </p:txBody>
      </p:sp>
      <p:sp>
        <p:nvSpPr>
          <p:cNvPr id="92" name="文字_92">
            <a:extLst>
              <a:ext uri="{FF2B5EF4-FFF2-40B4-BE49-F238E27FC236}">
                <a16:creationId xmlns:a16="http://schemas.microsoft.com/office/drawing/2014/main" id="{701B411F-001A-45B9-B065-9DA44394BFBA}"/>
              </a:ext>
            </a:extLst>
          </p:cNvPr>
          <p:cNvSpPr>
            <a:spLocks noGrp="1"/>
          </p:cNvSpPr>
          <p:nvPr/>
        </p:nvSpPr>
        <p:spPr>
          <a:xfrm>
            <a:off x="5924550" y="1117282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主体直接与市场驱动调整</a:t>
            </a:r>
          </a:p>
        </p:txBody>
      </p:sp>
      <p:sp>
        <p:nvSpPr>
          <p:cNvPr id="93" name="运输成本与港航经营响应_93">
            <a:extLst>
              <a:ext uri="{FF2B5EF4-FFF2-40B4-BE49-F238E27FC236}">
                <a16:creationId xmlns:a16="http://schemas.microsoft.com/office/drawing/2014/main" id="{A220E07A-5387-4C23-933B-EBA376564DBC}"/>
              </a:ext>
            </a:extLst>
          </p:cNvPr>
          <p:cNvSpPr>
            <a:spLocks noGrp="1"/>
          </p:cNvSpPr>
          <p:nvPr/>
        </p:nvSpPr>
        <p:spPr>
          <a:xfrm>
            <a:off x="2667000" y="1156335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94" name="文字_94">
            <a:extLst>
              <a:ext uri="{FF2B5EF4-FFF2-40B4-BE49-F238E27FC236}">
                <a16:creationId xmlns:a16="http://schemas.microsoft.com/office/drawing/2014/main" id="{FA910CD7-C536-4456-899D-71AB58C84D5B}"/>
              </a:ext>
            </a:extLst>
          </p:cNvPr>
          <p:cNvSpPr>
            <a:spLocks noGrp="1"/>
          </p:cNvSpPr>
          <p:nvPr/>
        </p:nvSpPr>
        <p:spPr>
          <a:xfrm>
            <a:off x="2733675" y="1164907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运输成本与港航经营响应</a:t>
            </a:r>
          </a:p>
        </p:txBody>
      </p:sp>
      <p:sp>
        <p:nvSpPr>
          <p:cNvPr id="95" name="文字_95">
            <a:extLst>
              <a:ext uri="{FF2B5EF4-FFF2-40B4-BE49-F238E27FC236}">
                <a16:creationId xmlns:a16="http://schemas.microsoft.com/office/drawing/2014/main" id="{C07FC8DD-6D18-459F-BAAF-23A4468F5B89}"/>
              </a:ext>
            </a:extLst>
          </p:cNvPr>
          <p:cNvSpPr>
            <a:spLocks noGrp="1"/>
          </p:cNvSpPr>
          <p:nvPr/>
        </p:nvSpPr>
        <p:spPr>
          <a:xfrm>
            <a:off x="2752725" y="1196340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待闸、航行、转运及周转变化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单航次单位成本与经营收益</a:t>
            </a:r>
          </a:p>
        </p:txBody>
      </p:sp>
      <p:sp>
        <p:nvSpPr>
          <p:cNvPr id="96" name="运价响应及其作用条件_96">
            <a:extLst>
              <a:ext uri="{FF2B5EF4-FFF2-40B4-BE49-F238E27FC236}">
                <a16:creationId xmlns:a16="http://schemas.microsoft.com/office/drawing/2014/main" id="{BD16B272-A719-4D82-9622-B415628BC234}"/>
              </a:ext>
            </a:extLst>
          </p:cNvPr>
          <p:cNvSpPr>
            <a:spLocks noGrp="1"/>
          </p:cNvSpPr>
          <p:nvPr/>
        </p:nvSpPr>
        <p:spPr>
          <a:xfrm>
            <a:off x="2667000" y="12430125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97" name="文字_97">
            <a:extLst>
              <a:ext uri="{FF2B5EF4-FFF2-40B4-BE49-F238E27FC236}">
                <a16:creationId xmlns:a16="http://schemas.microsoft.com/office/drawing/2014/main" id="{B3950108-0E78-40CD-9BB9-EE8381EF5819}"/>
              </a:ext>
            </a:extLst>
          </p:cNvPr>
          <p:cNvSpPr>
            <a:spLocks noGrp="1"/>
          </p:cNvSpPr>
          <p:nvPr/>
        </p:nvSpPr>
        <p:spPr>
          <a:xfrm>
            <a:off x="2733675" y="12515850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运价响应及其作用条件</a:t>
            </a:r>
          </a:p>
        </p:txBody>
      </p:sp>
      <p:sp>
        <p:nvSpPr>
          <p:cNvPr id="98" name="文字_98">
            <a:extLst>
              <a:ext uri="{FF2B5EF4-FFF2-40B4-BE49-F238E27FC236}">
                <a16:creationId xmlns:a16="http://schemas.microsoft.com/office/drawing/2014/main" id="{A6D1DAE7-8530-4287-B201-53FDE6DC7443}"/>
              </a:ext>
            </a:extLst>
          </p:cNvPr>
          <p:cNvSpPr>
            <a:spLocks noGrp="1"/>
          </p:cNvSpPr>
          <p:nvPr/>
        </p:nvSpPr>
        <p:spPr>
          <a:xfrm>
            <a:off x="2752725" y="12830175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供需、成本、合同与替代条件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控制燃料变化并检验价格方向</a:t>
            </a:r>
          </a:p>
        </p:txBody>
      </p:sp>
      <p:sp>
        <p:nvSpPr>
          <p:cNvPr id="99" name="差异化响应与传导时滞_99">
            <a:extLst>
              <a:ext uri="{FF2B5EF4-FFF2-40B4-BE49-F238E27FC236}">
                <a16:creationId xmlns:a16="http://schemas.microsoft.com/office/drawing/2014/main" id="{01CE31DC-3766-4A24-A04D-B94F427F69AC}"/>
              </a:ext>
            </a:extLst>
          </p:cNvPr>
          <p:cNvSpPr>
            <a:spLocks noGrp="1"/>
          </p:cNvSpPr>
          <p:nvPr/>
        </p:nvSpPr>
        <p:spPr>
          <a:xfrm>
            <a:off x="2667000" y="1329690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00" name="文字_100">
            <a:extLst>
              <a:ext uri="{FF2B5EF4-FFF2-40B4-BE49-F238E27FC236}">
                <a16:creationId xmlns:a16="http://schemas.microsoft.com/office/drawing/2014/main" id="{4DD41A75-5069-47C6-B735-AC1E94B66F77}"/>
              </a:ext>
            </a:extLst>
          </p:cNvPr>
          <p:cNvSpPr>
            <a:spLocks noGrp="1"/>
          </p:cNvSpPr>
          <p:nvPr/>
        </p:nvSpPr>
        <p:spPr>
          <a:xfrm>
            <a:off x="2733675" y="1338262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差异化响应与传导时滞</a:t>
            </a:r>
          </a:p>
        </p:txBody>
      </p:sp>
      <p:sp>
        <p:nvSpPr>
          <p:cNvPr id="101" name="文字_101">
            <a:extLst>
              <a:ext uri="{FF2B5EF4-FFF2-40B4-BE49-F238E27FC236}">
                <a16:creationId xmlns:a16="http://schemas.microsoft.com/office/drawing/2014/main" id="{FE8873DB-ACD1-4DA9-9605-5C59AD0F355C}"/>
              </a:ext>
            </a:extLst>
          </p:cNvPr>
          <p:cNvSpPr>
            <a:spLocks noGrp="1"/>
          </p:cNvSpPr>
          <p:nvPr/>
        </p:nvSpPr>
        <p:spPr>
          <a:xfrm>
            <a:off x="2752725" y="1369695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分货类、航线、船型识别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成本与运价口径分别核算</a:t>
            </a:r>
          </a:p>
        </p:txBody>
      </p:sp>
      <p:sp>
        <p:nvSpPr>
          <p:cNvPr id="102" name="直接适应通航与服务变化_102">
            <a:extLst>
              <a:ext uri="{FF2B5EF4-FFF2-40B4-BE49-F238E27FC236}">
                <a16:creationId xmlns:a16="http://schemas.microsoft.com/office/drawing/2014/main" id="{F5CBF712-22AA-4460-875B-15F25D61DDF0}"/>
              </a:ext>
            </a:extLst>
          </p:cNvPr>
          <p:cNvSpPr>
            <a:spLocks noGrp="1"/>
          </p:cNvSpPr>
          <p:nvPr/>
        </p:nvSpPr>
        <p:spPr>
          <a:xfrm>
            <a:off x="5915025" y="1156335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03" name="文字_103">
            <a:extLst>
              <a:ext uri="{FF2B5EF4-FFF2-40B4-BE49-F238E27FC236}">
                <a16:creationId xmlns:a16="http://schemas.microsoft.com/office/drawing/2014/main" id="{97095BD4-8157-4FAA-BC8B-19242E973DF4}"/>
              </a:ext>
            </a:extLst>
          </p:cNvPr>
          <p:cNvSpPr>
            <a:spLocks noGrp="1"/>
          </p:cNvSpPr>
          <p:nvPr/>
        </p:nvSpPr>
        <p:spPr>
          <a:xfrm>
            <a:off x="5981700" y="1164907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直接适应通航与服务变化</a:t>
            </a:r>
          </a:p>
        </p:txBody>
      </p:sp>
      <p:sp>
        <p:nvSpPr>
          <p:cNvPr id="104" name="文字_104">
            <a:extLst>
              <a:ext uri="{FF2B5EF4-FFF2-40B4-BE49-F238E27FC236}">
                <a16:creationId xmlns:a16="http://schemas.microsoft.com/office/drawing/2014/main" id="{7A792F1E-0614-4BC6-94BC-35E2D027185B}"/>
              </a:ext>
            </a:extLst>
          </p:cNvPr>
          <p:cNvSpPr>
            <a:spLocks noGrp="1"/>
          </p:cNvSpPr>
          <p:nvPr/>
        </p:nvSpPr>
        <p:spPr>
          <a:xfrm>
            <a:off x="6000750" y="1196340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航次、待闸组织、绕行转运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船型与发运时间调整</a:t>
            </a:r>
          </a:p>
        </p:txBody>
      </p:sp>
      <p:sp>
        <p:nvSpPr>
          <p:cNvPr id="105" name="市场信息驱动的运输选择_105">
            <a:extLst>
              <a:ext uri="{FF2B5EF4-FFF2-40B4-BE49-F238E27FC236}">
                <a16:creationId xmlns:a16="http://schemas.microsoft.com/office/drawing/2014/main" id="{8B54AAC3-40FD-4BEF-8AEF-6258DE474F47}"/>
              </a:ext>
            </a:extLst>
          </p:cNvPr>
          <p:cNvSpPr>
            <a:spLocks noGrp="1"/>
          </p:cNvSpPr>
          <p:nvPr/>
        </p:nvSpPr>
        <p:spPr>
          <a:xfrm>
            <a:off x="5915025" y="12430125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06" name="文字_106">
            <a:extLst>
              <a:ext uri="{FF2B5EF4-FFF2-40B4-BE49-F238E27FC236}">
                <a16:creationId xmlns:a16="http://schemas.microsoft.com/office/drawing/2014/main" id="{41BA92EA-301E-4727-B0DF-E55316AE8983}"/>
              </a:ext>
            </a:extLst>
          </p:cNvPr>
          <p:cNvSpPr>
            <a:spLocks noGrp="1"/>
          </p:cNvSpPr>
          <p:nvPr/>
        </p:nvSpPr>
        <p:spPr>
          <a:xfrm>
            <a:off x="5981700" y="12515850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市场信息驱动的运输选择</a:t>
            </a:r>
          </a:p>
        </p:txBody>
      </p:sp>
      <p:sp>
        <p:nvSpPr>
          <p:cNvPr id="107" name="文字_107">
            <a:extLst>
              <a:ext uri="{FF2B5EF4-FFF2-40B4-BE49-F238E27FC236}">
                <a16:creationId xmlns:a16="http://schemas.microsoft.com/office/drawing/2014/main" id="{DA747360-1095-4C67-8282-D241B0151EF1}"/>
              </a:ext>
            </a:extLst>
          </p:cNvPr>
          <p:cNvSpPr>
            <a:spLocks noGrp="1"/>
          </p:cNvSpPr>
          <p:nvPr/>
        </p:nvSpPr>
        <p:spPr>
          <a:xfrm>
            <a:off x="6000750" y="12830175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承运意愿、运力配置与航次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发运时点、通道及方式选择</a:t>
            </a:r>
          </a:p>
        </p:txBody>
      </p:sp>
      <p:sp>
        <p:nvSpPr>
          <p:cNvPr id="108" name="主体行为弹性与调整约束_108">
            <a:extLst>
              <a:ext uri="{FF2B5EF4-FFF2-40B4-BE49-F238E27FC236}">
                <a16:creationId xmlns:a16="http://schemas.microsoft.com/office/drawing/2014/main" id="{905FC5A1-BAD7-4BAB-9AC9-938D9EEC728C}"/>
              </a:ext>
            </a:extLst>
          </p:cNvPr>
          <p:cNvSpPr>
            <a:spLocks noGrp="1"/>
          </p:cNvSpPr>
          <p:nvPr/>
        </p:nvSpPr>
        <p:spPr>
          <a:xfrm>
            <a:off x="5915025" y="1329690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09" name="文字_109">
            <a:extLst>
              <a:ext uri="{FF2B5EF4-FFF2-40B4-BE49-F238E27FC236}">
                <a16:creationId xmlns:a16="http://schemas.microsoft.com/office/drawing/2014/main" id="{744D81A5-C87A-4188-B5F2-06162EE64A42}"/>
              </a:ext>
            </a:extLst>
          </p:cNvPr>
          <p:cNvSpPr>
            <a:spLocks noGrp="1"/>
          </p:cNvSpPr>
          <p:nvPr/>
        </p:nvSpPr>
        <p:spPr>
          <a:xfrm>
            <a:off x="5981700" y="1338262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主体行为弹性与调整约束</a:t>
            </a:r>
          </a:p>
        </p:txBody>
      </p:sp>
      <p:sp>
        <p:nvSpPr>
          <p:cNvPr id="110" name="文字_110">
            <a:extLst>
              <a:ext uri="{FF2B5EF4-FFF2-40B4-BE49-F238E27FC236}">
                <a16:creationId xmlns:a16="http://schemas.microsoft.com/office/drawing/2014/main" id="{14D57A59-0561-4F70-A79F-5000CB601677}"/>
              </a:ext>
            </a:extLst>
          </p:cNvPr>
          <p:cNvSpPr>
            <a:spLocks noGrp="1"/>
          </p:cNvSpPr>
          <p:nvPr/>
        </p:nvSpPr>
        <p:spPr>
          <a:xfrm>
            <a:off x="6000750" y="1369695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货类期限、替代能力与资源约束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行为方向、调整比例与时滞</a:t>
            </a:r>
          </a:p>
        </p:txBody>
      </p:sp>
      <p:sp>
        <p:nvSpPr>
          <p:cNvPr id="111" name="流程箭头_111">
            <a:extLst>
              <a:ext uri="{FF2B5EF4-FFF2-40B4-BE49-F238E27FC236}">
                <a16:creationId xmlns:a16="http://schemas.microsoft.com/office/drawing/2014/main" id="{EDFE84F2-F56A-4621-8C68-83F3E61CC9EE}"/>
              </a:ext>
            </a:extLst>
          </p:cNvPr>
          <p:cNvSpPr>
            <a:spLocks noGrp="1"/>
          </p:cNvSpPr>
          <p:nvPr/>
        </p:nvSpPr>
        <p:spPr>
          <a:xfrm>
            <a:off x="5505450" y="12725400"/>
            <a:ext cx="257175" cy="171450"/>
          </a:xfrm>
          <a:prstGeom prst="right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12" name="连接线_112">
            <a:extLst>
              <a:ext uri="{FF2B5EF4-FFF2-40B4-BE49-F238E27FC236}">
                <a16:creationId xmlns:a16="http://schemas.microsoft.com/office/drawing/2014/main" id="{8CFDCA8C-577D-448B-AD16-6553A59C1CD5}"/>
              </a:ext>
            </a:extLst>
          </p:cNvPr>
          <p:cNvSpPr>
            <a:spLocks noGrp="1"/>
          </p:cNvSpPr>
          <p:nvPr/>
        </p:nvSpPr>
        <p:spPr>
          <a:xfrm>
            <a:off x="4010025" y="14277975"/>
            <a:ext cx="19050" cy="1524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13" name="连接线_113">
            <a:extLst>
              <a:ext uri="{FF2B5EF4-FFF2-40B4-BE49-F238E27FC236}">
                <a16:creationId xmlns:a16="http://schemas.microsoft.com/office/drawing/2014/main" id="{94656AB2-AC1F-4395-B96D-94B44F38917A}"/>
              </a:ext>
            </a:extLst>
          </p:cNvPr>
          <p:cNvSpPr>
            <a:spLocks noGrp="1"/>
          </p:cNvSpPr>
          <p:nvPr/>
        </p:nvSpPr>
        <p:spPr>
          <a:xfrm>
            <a:off x="7258050" y="14277975"/>
            <a:ext cx="19050" cy="1524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14" name="连接线_114">
            <a:extLst>
              <a:ext uri="{FF2B5EF4-FFF2-40B4-BE49-F238E27FC236}">
                <a16:creationId xmlns:a16="http://schemas.microsoft.com/office/drawing/2014/main" id="{770F6769-B06A-4C5E-8826-127BC5AF9113}"/>
              </a:ext>
            </a:extLst>
          </p:cNvPr>
          <p:cNvSpPr>
            <a:spLocks noGrp="1"/>
          </p:cNvSpPr>
          <p:nvPr/>
        </p:nvSpPr>
        <p:spPr>
          <a:xfrm>
            <a:off x="4010025" y="14430375"/>
            <a:ext cx="324802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15" name="流程箭头_115">
            <a:extLst>
              <a:ext uri="{FF2B5EF4-FFF2-40B4-BE49-F238E27FC236}">
                <a16:creationId xmlns:a16="http://schemas.microsoft.com/office/drawing/2014/main" id="{A0E0BB12-31F6-4D7E-97E0-2895778F5E8C}"/>
              </a:ext>
            </a:extLst>
          </p:cNvPr>
          <p:cNvSpPr>
            <a:spLocks noGrp="1"/>
          </p:cNvSpPr>
          <p:nvPr/>
        </p:nvSpPr>
        <p:spPr>
          <a:xfrm>
            <a:off x="5562600" y="14439900"/>
            <a:ext cx="152400" cy="200025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16" name="行为反馈更新有效运力、到达流与运输需求_116">
            <a:extLst>
              <a:ext uri="{FF2B5EF4-FFF2-40B4-BE49-F238E27FC236}">
                <a16:creationId xmlns:a16="http://schemas.microsoft.com/office/drawing/2014/main" id="{2FE7A36C-8D05-4469-BFA6-932D6F068ADF}"/>
              </a:ext>
            </a:extLst>
          </p:cNvPr>
          <p:cNvSpPr>
            <a:spLocks noGrp="1"/>
          </p:cNvSpPr>
          <p:nvPr/>
        </p:nvSpPr>
        <p:spPr>
          <a:xfrm>
            <a:off x="2578608" y="14678025"/>
            <a:ext cx="6108192" cy="619125"/>
          </a:xfrm>
          <a:prstGeom prst="roundRect">
            <a:avLst>
              <a:gd name="adj" fmla="val 15385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17" name="文字_117">
            <a:extLst>
              <a:ext uri="{FF2B5EF4-FFF2-40B4-BE49-F238E27FC236}">
                <a16:creationId xmlns:a16="http://schemas.microsoft.com/office/drawing/2014/main" id="{B716EE0B-0E6D-45EC-B9E8-89AF3DD86409}"/>
              </a:ext>
            </a:extLst>
          </p:cNvPr>
          <p:cNvSpPr>
            <a:spLocks noGrp="1"/>
          </p:cNvSpPr>
          <p:nvPr/>
        </p:nvSpPr>
        <p:spPr>
          <a:xfrm>
            <a:off x="2645283" y="14763750"/>
            <a:ext cx="5974842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行为反馈更新有效运力、到达流与运输需求</a:t>
            </a:r>
          </a:p>
        </p:txBody>
      </p:sp>
      <p:sp>
        <p:nvSpPr>
          <p:cNvPr id="118" name="文字_118">
            <a:extLst>
              <a:ext uri="{FF2B5EF4-FFF2-40B4-BE49-F238E27FC236}">
                <a16:creationId xmlns:a16="http://schemas.microsoft.com/office/drawing/2014/main" id="{84790B49-4927-444A-94BC-F4A5153BE5D4}"/>
              </a:ext>
            </a:extLst>
          </p:cNvPr>
          <p:cNvSpPr>
            <a:spLocks noGrp="1"/>
          </p:cNvSpPr>
          <p:nvPr/>
        </p:nvSpPr>
        <p:spPr>
          <a:xfrm>
            <a:off x="2664333" y="15068550"/>
            <a:ext cx="5936742" cy="142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将主体选择转化为分时段运力、到达与货类需求变化，并返回第一部分迭代计算</a:t>
            </a:r>
          </a:p>
        </p:txBody>
      </p:sp>
      <p:sp>
        <p:nvSpPr>
          <p:cNvPr id="119" name="文字_119">
            <a:extLst>
              <a:ext uri="{FF2B5EF4-FFF2-40B4-BE49-F238E27FC236}">
                <a16:creationId xmlns:a16="http://schemas.microsoft.com/office/drawing/2014/main" id="{9807847B-F10C-47BA-A502-AFD54D78E0D1}"/>
              </a:ext>
            </a:extLst>
          </p:cNvPr>
          <p:cNvSpPr>
            <a:spLocks noGrp="1"/>
          </p:cNvSpPr>
          <p:nvPr/>
        </p:nvSpPr>
        <p:spPr>
          <a:xfrm>
            <a:off x="2578608" y="15335250"/>
            <a:ext cx="610819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方法：运输成本核算、运价响应分析、离散选择与行为弹性估计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反馈方向依据数据检验，区分企业成本、货主支付运费和企业收入</a:t>
            </a:r>
          </a:p>
        </p:txBody>
      </p:sp>
      <p:sp>
        <p:nvSpPr>
          <p:cNvPr id="120" name="连接线_120">
            <a:extLst>
              <a:ext uri="{FF2B5EF4-FFF2-40B4-BE49-F238E27FC236}">
                <a16:creationId xmlns:a16="http://schemas.microsoft.com/office/drawing/2014/main" id="{6B4BCFE3-3654-4045-A292-52647F331094}"/>
              </a:ext>
            </a:extLst>
          </p:cNvPr>
          <p:cNvSpPr>
            <a:spLocks noGrp="1"/>
          </p:cNvSpPr>
          <p:nvPr/>
        </p:nvSpPr>
        <p:spPr>
          <a:xfrm>
            <a:off x="2276475" y="14982825"/>
            <a:ext cx="302133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1" name="连接线_121">
            <a:extLst>
              <a:ext uri="{FF2B5EF4-FFF2-40B4-BE49-F238E27FC236}">
                <a16:creationId xmlns:a16="http://schemas.microsoft.com/office/drawing/2014/main" id="{C5CFC16B-8443-4659-93D2-7DC760C01BA2}"/>
              </a:ext>
            </a:extLst>
          </p:cNvPr>
          <p:cNvSpPr>
            <a:spLocks noGrp="1"/>
          </p:cNvSpPr>
          <p:nvPr/>
        </p:nvSpPr>
        <p:spPr>
          <a:xfrm>
            <a:off x="2276475" y="4619625"/>
            <a:ext cx="19050" cy="103632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2" name="连接线_122">
            <a:extLst>
              <a:ext uri="{FF2B5EF4-FFF2-40B4-BE49-F238E27FC236}">
                <a16:creationId xmlns:a16="http://schemas.microsoft.com/office/drawing/2014/main" id="{41AC73AB-C069-410D-BD6A-D16C77EB151B}"/>
              </a:ext>
            </a:extLst>
          </p:cNvPr>
          <p:cNvSpPr>
            <a:spLocks noGrp="1"/>
          </p:cNvSpPr>
          <p:nvPr/>
        </p:nvSpPr>
        <p:spPr>
          <a:xfrm>
            <a:off x="2276475" y="4619625"/>
            <a:ext cx="14287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3" name="流程箭头_123">
            <a:extLst>
              <a:ext uri="{FF2B5EF4-FFF2-40B4-BE49-F238E27FC236}">
                <a16:creationId xmlns:a16="http://schemas.microsoft.com/office/drawing/2014/main" id="{7386266F-4AD3-41FD-97BB-42BE23FAF8E9}"/>
              </a:ext>
            </a:extLst>
          </p:cNvPr>
          <p:cNvSpPr>
            <a:spLocks noGrp="1"/>
          </p:cNvSpPr>
          <p:nvPr/>
        </p:nvSpPr>
        <p:spPr>
          <a:xfrm>
            <a:off x="2419350" y="4552950"/>
            <a:ext cx="152400" cy="152400"/>
          </a:xfrm>
          <a:prstGeom prst="right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4" name="连接线_124">
            <a:extLst>
              <a:ext uri="{FF2B5EF4-FFF2-40B4-BE49-F238E27FC236}">
                <a16:creationId xmlns:a16="http://schemas.microsoft.com/office/drawing/2014/main" id="{FF679CBA-A6A5-44A0-AC7B-5BCECE834499}"/>
              </a:ext>
            </a:extLst>
          </p:cNvPr>
          <p:cNvSpPr>
            <a:spLocks noGrp="1"/>
          </p:cNvSpPr>
          <p:nvPr/>
        </p:nvSpPr>
        <p:spPr>
          <a:xfrm>
            <a:off x="8686800" y="14982825"/>
            <a:ext cx="33337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5" name="连接线_125">
            <a:extLst>
              <a:ext uri="{FF2B5EF4-FFF2-40B4-BE49-F238E27FC236}">
                <a16:creationId xmlns:a16="http://schemas.microsoft.com/office/drawing/2014/main" id="{7B905F31-2648-42BE-AA04-AEEB228EE6DB}"/>
              </a:ext>
            </a:extLst>
          </p:cNvPr>
          <p:cNvSpPr>
            <a:spLocks noGrp="1"/>
          </p:cNvSpPr>
          <p:nvPr/>
        </p:nvSpPr>
        <p:spPr>
          <a:xfrm>
            <a:off x="9020175" y="4619625"/>
            <a:ext cx="19050" cy="103632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6" name="连接线_126">
            <a:extLst>
              <a:ext uri="{FF2B5EF4-FFF2-40B4-BE49-F238E27FC236}">
                <a16:creationId xmlns:a16="http://schemas.microsoft.com/office/drawing/2014/main" id="{4B05CBA2-7257-4FE5-B15E-4834347E1CFC}"/>
              </a:ext>
            </a:extLst>
          </p:cNvPr>
          <p:cNvSpPr>
            <a:spLocks noGrp="1"/>
          </p:cNvSpPr>
          <p:nvPr/>
        </p:nvSpPr>
        <p:spPr>
          <a:xfrm>
            <a:off x="8858250" y="4619625"/>
            <a:ext cx="16192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7" name="流程箭头_127">
            <a:extLst>
              <a:ext uri="{FF2B5EF4-FFF2-40B4-BE49-F238E27FC236}">
                <a16:creationId xmlns:a16="http://schemas.microsoft.com/office/drawing/2014/main" id="{E2731735-AD53-4D2D-8AAB-3557B792BBD4}"/>
              </a:ext>
            </a:extLst>
          </p:cNvPr>
          <p:cNvSpPr>
            <a:spLocks noGrp="1"/>
          </p:cNvSpPr>
          <p:nvPr/>
        </p:nvSpPr>
        <p:spPr>
          <a:xfrm>
            <a:off x="8686800" y="4552950"/>
            <a:ext cx="171450" cy="152400"/>
          </a:xfrm>
          <a:prstGeom prst="left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8" name="容器_128">
            <a:extLst>
              <a:ext uri="{FF2B5EF4-FFF2-40B4-BE49-F238E27FC236}">
                <a16:creationId xmlns:a16="http://schemas.microsoft.com/office/drawing/2014/main" id="{026C634A-17B0-42BF-9B34-FDE935F99D38}"/>
              </a:ext>
            </a:extLst>
          </p:cNvPr>
          <p:cNvSpPr>
            <a:spLocks noGrp="1"/>
          </p:cNvSpPr>
          <p:nvPr/>
        </p:nvSpPr>
        <p:spPr>
          <a:xfrm>
            <a:off x="2124075" y="10391775"/>
            <a:ext cx="257175" cy="838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9" name="容器_129">
            <a:extLst>
              <a:ext uri="{FF2B5EF4-FFF2-40B4-BE49-F238E27FC236}">
                <a16:creationId xmlns:a16="http://schemas.microsoft.com/office/drawing/2014/main" id="{079A69D3-5D91-4804-AB40-917A50B951D7}"/>
              </a:ext>
            </a:extLst>
          </p:cNvPr>
          <p:cNvSpPr>
            <a:spLocks noGrp="1"/>
          </p:cNvSpPr>
          <p:nvPr/>
        </p:nvSpPr>
        <p:spPr>
          <a:xfrm>
            <a:off x="8877300" y="10877550"/>
            <a:ext cx="266700" cy="11144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30" name="文字_130">
            <a:extLst>
              <a:ext uri="{FF2B5EF4-FFF2-40B4-BE49-F238E27FC236}">
                <a16:creationId xmlns:a16="http://schemas.microsoft.com/office/drawing/2014/main" id="{492C55D5-98B8-4FF9-BC79-967C4BEF88DE}"/>
              </a:ext>
            </a:extLst>
          </p:cNvPr>
          <p:cNvSpPr>
            <a:spLocks noGrp="1"/>
          </p:cNvSpPr>
          <p:nvPr/>
        </p:nvSpPr>
        <p:spPr>
          <a:xfrm>
            <a:off x="2143125" y="9763125"/>
            <a:ext cx="238125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力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配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31" name="文字_131">
            <a:extLst>
              <a:ext uri="{FF2B5EF4-FFF2-40B4-BE49-F238E27FC236}">
                <a16:creationId xmlns:a16="http://schemas.microsoft.com/office/drawing/2014/main" id="{08C3B388-8FF0-4CC7-95EA-0467B384230F}"/>
              </a:ext>
            </a:extLst>
          </p:cNvPr>
          <p:cNvSpPr>
            <a:spLocks noGrp="1"/>
          </p:cNvSpPr>
          <p:nvPr/>
        </p:nvSpPr>
        <p:spPr>
          <a:xfrm>
            <a:off x="8896350" y="10191750"/>
            <a:ext cx="238125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需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32" name="流程箭头_132">
            <a:extLst>
              <a:ext uri="{FF2B5EF4-FFF2-40B4-BE49-F238E27FC236}">
                <a16:creationId xmlns:a16="http://schemas.microsoft.com/office/drawing/2014/main" id="{4146C06B-C06E-4723-B405-66017001A2B2}"/>
              </a:ext>
            </a:extLst>
          </p:cNvPr>
          <p:cNvSpPr>
            <a:spLocks noGrp="1"/>
          </p:cNvSpPr>
          <p:nvPr/>
        </p:nvSpPr>
        <p:spPr>
          <a:xfrm>
            <a:off x="5562600" y="15887700"/>
            <a:ext cx="152400" cy="9525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33" name="研究模块_133">
            <a:extLst>
              <a:ext uri="{FF2B5EF4-FFF2-40B4-BE49-F238E27FC236}">
                <a16:creationId xmlns:a16="http://schemas.microsoft.com/office/drawing/2014/main" id="{68E5F52B-33AD-4745-9D1A-837C88DE1B4E}"/>
              </a:ext>
            </a:extLst>
          </p:cNvPr>
          <p:cNvSpPr>
            <a:spLocks noGrp="1"/>
          </p:cNvSpPr>
          <p:nvPr/>
        </p:nvSpPr>
        <p:spPr>
          <a:xfrm>
            <a:off x="2395728" y="16002000"/>
            <a:ext cx="6473952" cy="754380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4" name="模块标题背景_134">
            <a:extLst>
              <a:ext uri="{FF2B5EF4-FFF2-40B4-BE49-F238E27FC236}">
                <a16:creationId xmlns:a16="http://schemas.microsoft.com/office/drawing/2014/main" id="{EA0C18A9-BC0B-495A-A74B-35173343DEC9}"/>
              </a:ext>
            </a:extLst>
          </p:cNvPr>
          <p:cNvSpPr>
            <a:spLocks noGrp="1"/>
          </p:cNvSpPr>
          <p:nvPr/>
        </p:nvSpPr>
        <p:spPr>
          <a:xfrm>
            <a:off x="2459736" y="16066008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BF8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5" name="模块标题_135">
            <a:extLst>
              <a:ext uri="{FF2B5EF4-FFF2-40B4-BE49-F238E27FC236}">
                <a16:creationId xmlns:a16="http://schemas.microsoft.com/office/drawing/2014/main" id="{30F00B71-1304-40EA-A291-B7929557AB19}"/>
              </a:ext>
            </a:extLst>
          </p:cNvPr>
          <p:cNvSpPr>
            <a:spLocks noGrp="1"/>
          </p:cNvSpPr>
          <p:nvPr/>
        </p:nvSpPr>
        <p:spPr>
          <a:xfrm>
            <a:off x="2638425" y="16068675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航运波动传播与动态响应模型构建</a:t>
            </a:r>
          </a:p>
        </p:txBody>
      </p:sp>
      <p:sp>
        <p:nvSpPr>
          <p:cNvPr id="136" name="传播与恢复机制识别_136">
            <a:extLst>
              <a:ext uri="{FF2B5EF4-FFF2-40B4-BE49-F238E27FC236}">
                <a16:creationId xmlns:a16="http://schemas.microsoft.com/office/drawing/2014/main" id="{EEB9192B-6A51-4506-9350-420E552E8869}"/>
              </a:ext>
            </a:extLst>
          </p:cNvPr>
          <p:cNvSpPr>
            <a:spLocks noGrp="1"/>
          </p:cNvSpPr>
          <p:nvPr/>
        </p:nvSpPr>
        <p:spPr>
          <a:xfrm>
            <a:off x="2578608" y="16554450"/>
            <a:ext cx="6108192" cy="790575"/>
          </a:xfrm>
          <a:prstGeom prst="roundRect">
            <a:avLst>
              <a:gd name="adj" fmla="val 12048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7" name="文字_137">
            <a:extLst>
              <a:ext uri="{FF2B5EF4-FFF2-40B4-BE49-F238E27FC236}">
                <a16:creationId xmlns:a16="http://schemas.microsoft.com/office/drawing/2014/main" id="{6BF2FB26-5257-40E3-ACC3-012370DBC7E2}"/>
              </a:ext>
            </a:extLst>
          </p:cNvPr>
          <p:cNvSpPr>
            <a:spLocks noGrp="1"/>
          </p:cNvSpPr>
          <p:nvPr/>
        </p:nvSpPr>
        <p:spPr>
          <a:xfrm>
            <a:off x="2645283" y="16640175"/>
            <a:ext cx="5974842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传播与恢复机制识别</a:t>
            </a:r>
          </a:p>
        </p:txBody>
      </p:sp>
      <p:sp>
        <p:nvSpPr>
          <p:cNvPr id="138" name="文字_138">
            <a:extLst>
              <a:ext uri="{FF2B5EF4-FFF2-40B4-BE49-F238E27FC236}">
                <a16:creationId xmlns:a16="http://schemas.microsoft.com/office/drawing/2014/main" id="{0C3D7865-C9DA-41CD-AA8F-BC2BF90E9F99}"/>
              </a:ext>
            </a:extLst>
          </p:cNvPr>
          <p:cNvSpPr>
            <a:spLocks noGrp="1"/>
          </p:cNvSpPr>
          <p:nvPr/>
        </p:nvSpPr>
        <p:spPr>
          <a:xfrm>
            <a:off x="2664333" y="16983075"/>
            <a:ext cx="5936742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识别坝区多通道及上下游港航网络的连接、剩余能力与积压作用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根据运行与行为响应证据提出传播、放大及恢复假设</a:t>
            </a:r>
          </a:p>
        </p:txBody>
      </p:sp>
      <p:sp>
        <p:nvSpPr>
          <p:cNvPr id="139" name="流程箭头_139">
            <a:extLst>
              <a:ext uri="{FF2B5EF4-FFF2-40B4-BE49-F238E27FC236}">
                <a16:creationId xmlns:a16="http://schemas.microsoft.com/office/drawing/2014/main" id="{735341C8-C684-47E9-837C-BB25FE4C394A}"/>
              </a:ext>
            </a:extLst>
          </p:cNvPr>
          <p:cNvSpPr>
            <a:spLocks noGrp="1"/>
          </p:cNvSpPr>
          <p:nvPr/>
        </p:nvSpPr>
        <p:spPr>
          <a:xfrm>
            <a:off x="5562600" y="17383125"/>
            <a:ext cx="152400" cy="180975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0" name="融合运行与市场行为反馈的航运动态响应模型_140">
            <a:extLst>
              <a:ext uri="{FF2B5EF4-FFF2-40B4-BE49-F238E27FC236}">
                <a16:creationId xmlns:a16="http://schemas.microsoft.com/office/drawing/2014/main" id="{58BA61AD-B179-4134-A918-855DCFF11586}"/>
              </a:ext>
            </a:extLst>
          </p:cNvPr>
          <p:cNvSpPr>
            <a:spLocks noGrp="1"/>
          </p:cNvSpPr>
          <p:nvPr/>
        </p:nvSpPr>
        <p:spPr>
          <a:xfrm>
            <a:off x="2578608" y="17592675"/>
            <a:ext cx="6108192" cy="1133475"/>
          </a:xfrm>
          <a:prstGeom prst="roundRect">
            <a:avLst>
              <a:gd name="adj" fmla="val 8403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41" name="文字_141">
            <a:extLst>
              <a:ext uri="{FF2B5EF4-FFF2-40B4-BE49-F238E27FC236}">
                <a16:creationId xmlns:a16="http://schemas.microsoft.com/office/drawing/2014/main" id="{79DC9F01-088B-44E6-973D-84995BBEC08C}"/>
              </a:ext>
            </a:extLst>
          </p:cNvPr>
          <p:cNvSpPr>
            <a:spLocks noGrp="1"/>
          </p:cNvSpPr>
          <p:nvPr/>
        </p:nvSpPr>
        <p:spPr>
          <a:xfrm>
            <a:off x="2645283" y="17678400"/>
            <a:ext cx="5974842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融合运行与市场行为反馈的航运动态响应模型</a:t>
            </a:r>
          </a:p>
        </p:txBody>
      </p:sp>
      <p:sp>
        <p:nvSpPr>
          <p:cNvPr id="142" name="文字_142">
            <a:extLst>
              <a:ext uri="{FF2B5EF4-FFF2-40B4-BE49-F238E27FC236}">
                <a16:creationId xmlns:a16="http://schemas.microsoft.com/office/drawing/2014/main" id="{97AA37D3-DB6B-4A1A-868A-A9D529BBF0E3}"/>
              </a:ext>
            </a:extLst>
          </p:cNvPr>
          <p:cNvSpPr>
            <a:spLocks noGrp="1"/>
          </p:cNvSpPr>
          <p:nvPr/>
        </p:nvSpPr>
        <p:spPr>
          <a:xfrm>
            <a:off x="2664333" y="18049875"/>
            <a:ext cx="5936742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动态排队、时变网络与离散事件仿真联动刻画能力、到达、积压及港航衔接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集成成本运价响应、运力配置与货主运输选择，求解航运内部反馈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统一需求、实际流量与积压守恒，区分延后实现及未满足需求</a:t>
            </a:r>
          </a:p>
        </p:txBody>
      </p:sp>
      <p:sp>
        <p:nvSpPr>
          <p:cNvPr id="143" name="连接线_143">
            <a:extLst>
              <a:ext uri="{FF2B5EF4-FFF2-40B4-BE49-F238E27FC236}">
                <a16:creationId xmlns:a16="http://schemas.microsoft.com/office/drawing/2014/main" id="{F10BC046-D369-40EC-AE8A-2D150C87F12B}"/>
              </a:ext>
            </a:extLst>
          </p:cNvPr>
          <p:cNvSpPr>
            <a:spLocks noGrp="1"/>
          </p:cNvSpPr>
          <p:nvPr/>
        </p:nvSpPr>
        <p:spPr>
          <a:xfrm>
            <a:off x="5638800" y="18745200"/>
            <a:ext cx="19050" cy="952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4" name="连接线_144">
            <a:extLst>
              <a:ext uri="{FF2B5EF4-FFF2-40B4-BE49-F238E27FC236}">
                <a16:creationId xmlns:a16="http://schemas.microsoft.com/office/drawing/2014/main" id="{8925F49B-DE00-4CF4-B4F3-D63C339E8118}"/>
              </a:ext>
            </a:extLst>
          </p:cNvPr>
          <p:cNvSpPr>
            <a:spLocks noGrp="1"/>
          </p:cNvSpPr>
          <p:nvPr/>
        </p:nvSpPr>
        <p:spPr>
          <a:xfrm>
            <a:off x="4010025" y="18840450"/>
            <a:ext cx="32480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5" name="流程箭头_145">
            <a:extLst>
              <a:ext uri="{FF2B5EF4-FFF2-40B4-BE49-F238E27FC236}">
                <a16:creationId xmlns:a16="http://schemas.microsoft.com/office/drawing/2014/main" id="{F608842A-E008-4739-95DE-16F838492F5C}"/>
              </a:ext>
            </a:extLst>
          </p:cNvPr>
          <p:cNvSpPr>
            <a:spLocks noGrp="1"/>
          </p:cNvSpPr>
          <p:nvPr/>
        </p:nvSpPr>
        <p:spPr>
          <a:xfrm>
            <a:off x="3933825" y="18849975"/>
            <a:ext cx="152400" cy="161925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6" name="流程箭头_146">
            <a:extLst>
              <a:ext uri="{FF2B5EF4-FFF2-40B4-BE49-F238E27FC236}">
                <a16:creationId xmlns:a16="http://schemas.microsoft.com/office/drawing/2014/main" id="{D73820B1-CE4B-45B3-B2F3-5D09201F958C}"/>
              </a:ext>
            </a:extLst>
          </p:cNvPr>
          <p:cNvSpPr>
            <a:spLocks noGrp="1"/>
          </p:cNvSpPr>
          <p:nvPr/>
        </p:nvSpPr>
        <p:spPr>
          <a:xfrm>
            <a:off x="7181850" y="18849975"/>
            <a:ext cx="152400" cy="161925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7" name="典型事件参数校准_147">
            <a:extLst>
              <a:ext uri="{FF2B5EF4-FFF2-40B4-BE49-F238E27FC236}">
                <a16:creationId xmlns:a16="http://schemas.microsoft.com/office/drawing/2014/main" id="{2D1E1FE7-3197-4CA1-8609-75A70D8E0EE7}"/>
              </a:ext>
            </a:extLst>
          </p:cNvPr>
          <p:cNvSpPr>
            <a:spLocks noGrp="1"/>
          </p:cNvSpPr>
          <p:nvPr/>
        </p:nvSpPr>
        <p:spPr>
          <a:xfrm>
            <a:off x="2578608" y="19030950"/>
            <a:ext cx="2862072" cy="1419225"/>
          </a:xfrm>
          <a:prstGeom prst="roundRect">
            <a:avLst>
              <a:gd name="adj" fmla="val 6711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48" name="文字_148">
            <a:extLst>
              <a:ext uri="{FF2B5EF4-FFF2-40B4-BE49-F238E27FC236}">
                <a16:creationId xmlns:a16="http://schemas.microsoft.com/office/drawing/2014/main" id="{A8A277CB-A221-4512-A68B-3166051051EA}"/>
              </a:ext>
            </a:extLst>
          </p:cNvPr>
          <p:cNvSpPr>
            <a:spLocks noGrp="1"/>
          </p:cNvSpPr>
          <p:nvPr/>
        </p:nvSpPr>
        <p:spPr>
          <a:xfrm>
            <a:off x="2645283" y="19116675"/>
            <a:ext cx="272872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典型事件参数校准</a:t>
            </a:r>
          </a:p>
        </p:txBody>
      </p:sp>
      <p:sp>
        <p:nvSpPr>
          <p:cNvPr id="149" name="文字_149">
            <a:extLst>
              <a:ext uri="{FF2B5EF4-FFF2-40B4-BE49-F238E27FC236}">
                <a16:creationId xmlns:a16="http://schemas.microsoft.com/office/drawing/2014/main" id="{49D9B26C-143F-408F-A9D3-FCE7B60CED40}"/>
              </a:ext>
            </a:extLst>
          </p:cNvPr>
          <p:cNvSpPr>
            <a:spLocks noGrp="1"/>
          </p:cNvSpPr>
          <p:nvPr/>
        </p:nvSpPr>
        <p:spPr>
          <a:xfrm>
            <a:off x="2664333" y="19535775"/>
            <a:ext cx="2690622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施工与检修事件的前中后数据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辨识能力、到达、服务与组织参数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估计成本、运价及行为反馈参数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说明参数来源与可迁移范围</a:t>
            </a:r>
          </a:p>
        </p:txBody>
      </p:sp>
      <p:sp>
        <p:nvSpPr>
          <p:cNvPr id="150" name="独立事件与多指标检验_150">
            <a:extLst>
              <a:ext uri="{FF2B5EF4-FFF2-40B4-BE49-F238E27FC236}">
                <a16:creationId xmlns:a16="http://schemas.microsoft.com/office/drawing/2014/main" id="{B107EA6D-B7C4-4896-A81A-C197BA5CB237}"/>
              </a:ext>
            </a:extLst>
          </p:cNvPr>
          <p:cNvSpPr>
            <a:spLocks noGrp="1"/>
          </p:cNvSpPr>
          <p:nvPr/>
        </p:nvSpPr>
        <p:spPr>
          <a:xfrm>
            <a:off x="5824728" y="19030950"/>
            <a:ext cx="2862072" cy="1419225"/>
          </a:xfrm>
          <a:prstGeom prst="roundRect">
            <a:avLst>
              <a:gd name="adj" fmla="val 6711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51" name="文字_151">
            <a:extLst>
              <a:ext uri="{FF2B5EF4-FFF2-40B4-BE49-F238E27FC236}">
                <a16:creationId xmlns:a16="http://schemas.microsoft.com/office/drawing/2014/main" id="{38D46F2A-2CB0-4A12-A6B9-9B31D02AF8DC}"/>
              </a:ext>
            </a:extLst>
          </p:cNvPr>
          <p:cNvSpPr>
            <a:spLocks noGrp="1"/>
          </p:cNvSpPr>
          <p:nvPr/>
        </p:nvSpPr>
        <p:spPr>
          <a:xfrm>
            <a:off x="5891403" y="19116675"/>
            <a:ext cx="272872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独立事件与多指标检验</a:t>
            </a:r>
          </a:p>
        </p:txBody>
      </p:sp>
      <p:sp>
        <p:nvSpPr>
          <p:cNvPr id="152" name="文字_152">
            <a:extLst>
              <a:ext uri="{FF2B5EF4-FFF2-40B4-BE49-F238E27FC236}">
                <a16:creationId xmlns:a16="http://schemas.microsoft.com/office/drawing/2014/main" id="{6A2D8AE4-96F9-48DD-A6B8-0DD332677B21}"/>
              </a:ext>
            </a:extLst>
          </p:cNvPr>
          <p:cNvSpPr>
            <a:spLocks noGrp="1"/>
          </p:cNvSpPr>
          <p:nvPr/>
        </p:nvSpPr>
        <p:spPr>
          <a:xfrm>
            <a:off x="5910453" y="19535775"/>
            <a:ext cx="2690622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使用不同事件或时段检验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通过量、排队及等待时间分布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船期偏移、运价响应及传播时滞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评估误差并修正模型假设</a:t>
            </a:r>
          </a:p>
        </p:txBody>
      </p:sp>
      <p:sp>
        <p:nvSpPr>
          <p:cNvPr id="153" name="连接线_153">
            <a:extLst>
              <a:ext uri="{FF2B5EF4-FFF2-40B4-BE49-F238E27FC236}">
                <a16:creationId xmlns:a16="http://schemas.microsoft.com/office/drawing/2014/main" id="{035997B5-B97E-474A-82F8-F446B1D61FA5}"/>
              </a:ext>
            </a:extLst>
          </p:cNvPr>
          <p:cNvSpPr>
            <a:spLocks noGrp="1"/>
          </p:cNvSpPr>
          <p:nvPr/>
        </p:nvSpPr>
        <p:spPr>
          <a:xfrm>
            <a:off x="2276475" y="19716750"/>
            <a:ext cx="302133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4" name="连接线_154">
            <a:extLst>
              <a:ext uri="{FF2B5EF4-FFF2-40B4-BE49-F238E27FC236}">
                <a16:creationId xmlns:a16="http://schemas.microsoft.com/office/drawing/2014/main" id="{7D610089-2B53-4466-A9DD-17CFB73A514B}"/>
              </a:ext>
            </a:extLst>
          </p:cNvPr>
          <p:cNvSpPr>
            <a:spLocks noGrp="1"/>
          </p:cNvSpPr>
          <p:nvPr/>
        </p:nvSpPr>
        <p:spPr>
          <a:xfrm>
            <a:off x="2276475" y="18097500"/>
            <a:ext cx="19050" cy="16192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5" name="流程箭头_155">
            <a:extLst>
              <a:ext uri="{FF2B5EF4-FFF2-40B4-BE49-F238E27FC236}">
                <a16:creationId xmlns:a16="http://schemas.microsoft.com/office/drawing/2014/main" id="{74CED99C-988B-489B-8690-F277F6A43D6E}"/>
              </a:ext>
            </a:extLst>
          </p:cNvPr>
          <p:cNvSpPr>
            <a:spLocks noGrp="1"/>
          </p:cNvSpPr>
          <p:nvPr/>
        </p:nvSpPr>
        <p:spPr>
          <a:xfrm>
            <a:off x="2419350" y="18030825"/>
            <a:ext cx="152400" cy="152400"/>
          </a:xfrm>
          <a:prstGeom prst="right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6" name="连接线_156">
            <a:extLst>
              <a:ext uri="{FF2B5EF4-FFF2-40B4-BE49-F238E27FC236}">
                <a16:creationId xmlns:a16="http://schemas.microsoft.com/office/drawing/2014/main" id="{E36234A9-DAF5-4C37-A5BE-0240888280A5}"/>
              </a:ext>
            </a:extLst>
          </p:cNvPr>
          <p:cNvSpPr>
            <a:spLocks noGrp="1"/>
          </p:cNvSpPr>
          <p:nvPr/>
        </p:nvSpPr>
        <p:spPr>
          <a:xfrm>
            <a:off x="2276475" y="18097500"/>
            <a:ext cx="14287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7" name="连接线_157">
            <a:extLst>
              <a:ext uri="{FF2B5EF4-FFF2-40B4-BE49-F238E27FC236}">
                <a16:creationId xmlns:a16="http://schemas.microsoft.com/office/drawing/2014/main" id="{DD2FF452-AE5F-491C-AE63-043D4B201AA8}"/>
              </a:ext>
            </a:extLst>
          </p:cNvPr>
          <p:cNvSpPr>
            <a:spLocks noGrp="1"/>
          </p:cNvSpPr>
          <p:nvPr/>
        </p:nvSpPr>
        <p:spPr>
          <a:xfrm>
            <a:off x="8686800" y="19716750"/>
            <a:ext cx="33337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8" name="连接线_158">
            <a:extLst>
              <a:ext uri="{FF2B5EF4-FFF2-40B4-BE49-F238E27FC236}">
                <a16:creationId xmlns:a16="http://schemas.microsoft.com/office/drawing/2014/main" id="{3D443D81-89B2-4F25-83CF-54A083045CFD}"/>
              </a:ext>
            </a:extLst>
          </p:cNvPr>
          <p:cNvSpPr>
            <a:spLocks noGrp="1"/>
          </p:cNvSpPr>
          <p:nvPr/>
        </p:nvSpPr>
        <p:spPr>
          <a:xfrm>
            <a:off x="9020175" y="18097500"/>
            <a:ext cx="19050" cy="16192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9" name="连接线_159">
            <a:extLst>
              <a:ext uri="{FF2B5EF4-FFF2-40B4-BE49-F238E27FC236}">
                <a16:creationId xmlns:a16="http://schemas.microsoft.com/office/drawing/2014/main" id="{A35281C8-FCCC-4100-A315-5E59A1F92250}"/>
              </a:ext>
            </a:extLst>
          </p:cNvPr>
          <p:cNvSpPr>
            <a:spLocks noGrp="1"/>
          </p:cNvSpPr>
          <p:nvPr/>
        </p:nvSpPr>
        <p:spPr>
          <a:xfrm>
            <a:off x="8858250" y="18097500"/>
            <a:ext cx="1619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60" name="流程箭头_160">
            <a:extLst>
              <a:ext uri="{FF2B5EF4-FFF2-40B4-BE49-F238E27FC236}">
                <a16:creationId xmlns:a16="http://schemas.microsoft.com/office/drawing/2014/main" id="{69422F94-ABD5-4BF3-8A9B-4B23BA9E0AE2}"/>
              </a:ext>
            </a:extLst>
          </p:cNvPr>
          <p:cNvSpPr>
            <a:spLocks noGrp="1"/>
          </p:cNvSpPr>
          <p:nvPr/>
        </p:nvSpPr>
        <p:spPr>
          <a:xfrm>
            <a:off x="8686800" y="18030825"/>
            <a:ext cx="171450" cy="152400"/>
          </a:xfrm>
          <a:prstGeom prst="left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61" name="容器_161">
            <a:extLst>
              <a:ext uri="{FF2B5EF4-FFF2-40B4-BE49-F238E27FC236}">
                <a16:creationId xmlns:a16="http://schemas.microsoft.com/office/drawing/2014/main" id="{8E08FC0F-528B-462F-9F47-0AE0191FF737}"/>
              </a:ext>
            </a:extLst>
          </p:cNvPr>
          <p:cNvSpPr>
            <a:spLocks noGrp="1"/>
          </p:cNvSpPr>
          <p:nvPr/>
        </p:nvSpPr>
        <p:spPr>
          <a:xfrm>
            <a:off x="2124075" y="18888075"/>
            <a:ext cx="257175" cy="60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62" name="容器_162">
            <a:extLst>
              <a:ext uri="{FF2B5EF4-FFF2-40B4-BE49-F238E27FC236}">
                <a16:creationId xmlns:a16="http://schemas.microsoft.com/office/drawing/2014/main" id="{E714CC2F-B34B-4326-8441-CA4B12191BA3}"/>
              </a:ext>
            </a:extLst>
          </p:cNvPr>
          <p:cNvSpPr>
            <a:spLocks noGrp="1"/>
          </p:cNvSpPr>
          <p:nvPr/>
        </p:nvSpPr>
        <p:spPr>
          <a:xfrm>
            <a:off x="8877300" y="18888075"/>
            <a:ext cx="266700" cy="60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63" name="文字_163">
            <a:extLst>
              <a:ext uri="{FF2B5EF4-FFF2-40B4-BE49-F238E27FC236}">
                <a16:creationId xmlns:a16="http://schemas.microsoft.com/office/drawing/2014/main" id="{D0777661-B3A1-43EB-B040-D3C14426816A}"/>
              </a:ext>
            </a:extLst>
          </p:cNvPr>
          <p:cNvSpPr>
            <a:spLocks noGrp="1"/>
          </p:cNvSpPr>
          <p:nvPr/>
        </p:nvSpPr>
        <p:spPr>
          <a:xfrm>
            <a:off x="2143125" y="18745200"/>
            <a:ext cx="238125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64" name="文字_164">
            <a:extLst>
              <a:ext uri="{FF2B5EF4-FFF2-40B4-BE49-F238E27FC236}">
                <a16:creationId xmlns:a16="http://schemas.microsoft.com/office/drawing/2014/main" id="{3235AF1C-A6B0-4347-A370-18FA93366660}"/>
              </a:ext>
            </a:extLst>
          </p:cNvPr>
          <p:cNvSpPr>
            <a:spLocks noGrp="1"/>
          </p:cNvSpPr>
          <p:nvPr/>
        </p:nvSpPr>
        <p:spPr>
          <a:xfrm>
            <a:off x="8896350" y="18745200"/>
            <a:ext cx="238125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65" name="连接线_165">
            <a:extLst>
              <a:ext uri="{FF2B5EF4-FFF2-40B4-BE49-F238E27FC236}">
                <a16:creationId xmlns:a16="http://schemas.microsoft.com/office/drawing/2014/main" id="{B339375E-89A2-4963-B7EC-86D4385EBF9E}"/>
              </a:ext>
            </a:extLst>
          </p:cNvPr>
          <p:cNvSpPr>
            <a:spLocks noGrp="1"/>
          </p:cNvSpPr>
          <p:nvPr/>
        </p:nvSpPr>
        <p:spPr>
          <a:xfrm>
            <a:off x="4010025" y="20507325"/>
            <a:ext cx="19050" cy="1524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66" name="连接线_166">
            <a:extLst>
              <a:ext uri="{FF2B5EF4-FFF2-40B4-BE49-F238E27FC236}">
                <a16:creationId xmlns:a16="http://schemas.microsoft.com/office/drawing/2014/main" id="{F5690F2C-20FF-46BF-8D2F-40C1784EE80D}"/>
              </a:ext>
            </a:extLst>
          </p:cNvPr>
          <p:cNvSpPr>
            <a:spLocks noGrp="1"/>
          </p:cNvSpPr>
          <p:nvPr/>
        </p:nvSpPr>
        <p:spPr>
          <a:xfrm>
            <a:off x="7258050" y="20507325"/>
            <a:ext cx="19050" cy="1524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67" name="连接线_167">
            <a:extLst>
              <a:ext uri="{FF2B5EF4-FFF2-40B4-BE49-F238E27FC236}">
                <a16:creationId xmlns:a16="http://schemas.microsoft.com/office/drawing/2014/main" id="{F32D47D5-4236-4FF1-903D-C4935AF26738}"/>
              </a:ext>
            </a:extLst>
          </p:cNvPr>
          <p:cNvSpPr>
            <a:spLocks noGrp="1"/>
          </p:cNvSpPr>
          <p:nvPr/>
        </p:nvSpPr>
        <p:spPr>
          <a:xfrm>
            <a:off x="4010025" y="20659725"/>
            <a:ext cx="32480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68" name="流程箭头_168">
            <a:extLst>
              <a:ext uri="{FF2B5EF4-FFF2-40B4-BE49-F238E27FC236}">
                <a16:creationId xmlns:a16="http://schemas.microsoft.com/office/drawing/2014/main" id="{E0E57DAC-63C9-4542-B626-8249353CB729}"/>
              </a:ext>
            </a:extLst>
          </p:cNvPr>
          <p:cNvSpPr>
            <a:spLocks noGrp="1"/>
          </p:cNvSpPr>
          <p:nvPr/>
        </p:nvSpPr>
        <p:spPr>
          <a:xfrm>
            <a:off x="5562600" y="20669250"/>
            <a:ext cx="152400" cy="200025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69" name="多情景传播与恢复推演_169">
            <a:extLst>
              <a:ext uri="{FF2B5EF4-FFF2-40B4-BE49-F238E27FC236}">
                <a16:creationId xmlns:a16="http://schemas.microsoft.com/office/drawing/2014/main" id="{FA93F7AF-2A3C-4FEC-BD5F-13F62FADF6F2}"/>
              </a:ext>
            </a:extLst>
          </p:cNvPr>
          <p:cNvSpPr>
            <a:spLocks noGrp="1"/>
          </p:cNvSpPr>
          <p:nvPr/>
        </p:nvSpPr>
        <p:spPr>
          <a:xfrm>
            <a:off x="2578608" y="20907375"/>
            <a:ext cx="6108192" cy="1066800"/>
          </a:xfrm>
          <a:prstGeom prst="roundRect">
            <a:avLst>
              <a:gd name="adj" fmla="val 8929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70" name="文字_170">
            <a:extLst>
              <a:ext uri="{FF2B5EF4-FFF2-40B4-BE49-F238E27FC236}">
                <a16:creationId xmlns:a16="http://schemas.microsoft.com/office/drawing/2014/main" id="{0C76A510-B5DB-427D-B6C5-182376CE6EC5}"/>
              </a:ext>
            </a:extLst>
          </p:cNvPr>
          <p:cNvSpPr>
            <a:spLocks noGrp="1"/>
          </p:cNvSpPr>
          <p:nvPr/>
        </p:nvSpPr>
        <p:spPr>
          <a:xfrm>
            <a:off x="2645283" y="20993100"/>
            <a:ext cx="5974842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多情景传播与恢复推演</a:t>
            </a:r>
          </a:p>
        </p:txBody>
      </p:sp>
      <p:sp>
        <p:nvSpPr>
          <p:cNvPr id="171" name="文字_171">
            <a:extLst>
              <a:ext uri="{FF2B5EF4-FFF2-40B4-BE49-F238E27FC236}">
                <a16:creationId xmlns:a16="http://schemas.microsoft.com/office/drawing/2014/main" id="{28DFA426-0E48-4E82-925F-F94E923E28E3}"/>
              </a:ext>
            </a:extLst>
          </p:cNvPr>
          <p:cNvSpPr>
            <a:spLocks noGrp="1"/>
          </p:cNvSpPr>
          <p:nvPr/>
        </p:nvSpPr>
        <p:spPr>
          <a:xfrm>
            <a:off x="2664333" y="21336000"/>
            <a:ext cx="5936742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组合施工强度、工期、水文、需求高峰、初始负荷及替代通道条件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分析波动的传播方向、时滞、空间范围与通道间瓶颈转移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比较不同组织措施下的响应及适应性，形成后续优化任务的参数依据</a:t>
            </a:r>
          </a:p>
        </p:txBody>
      </p:sp>
      <p:sp>
        <p:nvSpPr>
          <p:cNvPr id="172" name="流程箭头_172">
            <a:extLst>
              <a:ext uri="{FF2B5EF4-FFF2-40B4-BE49-F238E27FC236}">
                <a16:creationId xmlns:a16="http://schemas.microsoft.com/office/drawing/2014/main" id="{CBE214F1-CA5F-4869-8748-822620C2142B}"/>
              </a:ext>
            </a:extLst>
          </p:cNvPr>
          <p:cNvSpPr>
            <a:spLocks noGrp="1"/>
          </p:cNvSpPr>
          <p:nvPr/>
        </p:nvSpPr>
        <p:spPr>
          <a:xfrm>
            <a:off x="5562600" y="22002750"/>
            <a:ext cx="152400" cy="15240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73" name="供需失配与放大阈值_173">
            <a:extLst>
              <a:ext uri="{FF2B5EF4-FFF2-40B4-BE49-F238E27FC236}">
                <a16:creationId xmlns:a16="http://schemas.microsoft.com/office/drawing/2014/main" id="{AFAFBD50-FFB6-4580-B79A-56EBCE118151}"/>
              </a:ext>
            </a:extLst>
          </p:cNvPr>
          <p:cNvSpPr>
            <a:spLocks noGrp="1"/>
          </p:cNvSpPr>
          <p:nvPr/>
        </p:nvSpPr>
        <p:spPr>
          <a:xfrm>
            <a:off x="2578608" y="22193250"/>
            <a:ext cx="1816608" cy="1276350"/>
          </a:xfrm>
          <a:prstGeom prst="roundRect">
            <a:avLst>
              <a:gd name="adj" fmla="val 7463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74" name="文字_174">
            <a:extLst>
              <a:ext uri="{FF2B5EF4-FFF2-40B4-BE49-F238E27FC236}">
                <a16:creationId xmlns:a16="http://schemas.microsoft.com/office/drawing/2014/main" id="{63667988-E029-48DD-93EA-FBD5E38B281E}"/>
              </a:ext>
            </a:extLst>
          </p:cNvPr>
          <p:cNvSpPr>
            <a:spLocks noGrp="1"/>
          </p:cNvSpPr>
          <p:nvPr/>
        </p:nvSpPr>
        <p:spPr>
          <a:xfrm>
            <a:off x="2645283" y="22278975"/>
            <a:ext cx="1683258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供需失配与放大阈值</a:t>
            </a:r>
          </a:p>
        </p:txBody>
      </p:sp>
      <p:sp>
        <p:nvSpPr>
          <p:cNvPr id="175" name="文字_175">
            <a:extLst>
              <a:ext uri="{FF2B5EF4-FFF2-40B4-BE49-F238E27FC236}">
                <a16:creationId xmlns:a16="http://schemas.microsoft.com/office/drawing/2014/main" id="{F148A4C1-855E-4E1A-9525-72FFDC655B06}"/>
              </a:ext>
            </a:extLst>
          </p:cNvPr>
          <p:cNvSpPr>
            <a:spLocks noGrp="1"/>
          </p:cNvSpPr>
          <p:nvPr/>
        </p:nvSpPr>
        <p:spPr>
          <a:xfrm>
            <a:off x="2664333" y="22640925"/>
            <a:ext cx="16451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持续积压出现条件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扰动强度与持续时间阈值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多次短时限制的累积效应</a:t>
            </a:r>
          </a:p>
        </p:txBody>
      </p:sp>
      <p:sp>
        <p:nvSpPr>
          <p:cNvPr id="176" name="积压消散与系统恢复_176">
            <a:extLst>
              <a:ext uri="{FF2B5EF4-FFF2-40B4-BE49-F238E27FC236}">
                <a16:creationId xmlns:a16="http://schemas.microsoft.com/office/drawing/2014/main" id="{6FDCBA9B-F55B-4134-A213-3B43B8117C4D}"/>
              </a:ext>
            </a:extLst>
          </p:cNvPr>
          <p:cNvSpPr>
            <a:spLocks noGrp="1"/>
          </p:cNvSpPr>
          <p:nvPr/>
        </p:nvSpPr>
        <p:spPr>
          <a:xfrm>
            <a:off x="4724400" y="22193250"/>
            <a:ext cx="1816608" cy="1276350"/>
          </a:xfrm>
          <a:prstGeom prst="roundRect">
            <a:avLst>
              <a:gd name="adj" fmla="val 7463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77" name="文字_177">
            <a:extLst>
              <a:ext uri="{FF2B5EF4-FFF2-40B4-BE49-F238E27FC236}">
                <a16:creationId xmlns:a16="http://schemas.microsoft.com/office/drawing/2014/main" id="{DCDB0B9E-B8C8-4C73-A1B8-306FD2D14564}"/>
              </a:ext>
            </a:extLst>
          </p:cNvPr>
          <p:cNvSpPr>
            <a:spLocks noGrp="1"/>
          </p:cNvSpPr>
          <p:nvPr/>
        </p:nvSpPr>
        <p:spPr>
          <a:xfrm>
            <a:off x="4791075" y="22278975"/>
            <a:ext cx="1683258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积压消散与系统恢复</a:t>
            </a:r>
          </a:p>
        </p:txBody>
      </p:sp>
      <p:sp>
        <p:nvSpPr>
          <p:cNvPr id="178" name="文字_178">
            <a:extLst>
              <a:ext uri="{FF2B5EF4-FFF2-40B4-BE49-F238E27FC236}">
                <a16:creationId xmlns:a16="http://schemas.microsoft.com/office/drawing/2014/main" id="{B30365F3-590A-4641-96CF-03D55641942B}"/>
              </a:ext>
            </a:extLst>
          </p:cNvPr>
          <p:cNvSpPr>
            <a:spLocks noGrp="1"/>
          </p:cNvSpPr>
          <p:nvPr/>
        </p:nvSpPr>
        <p:spPr>
          <a:xfrm>
            <a:off x="4810125" y="22640925"/>
            <a:ext cx="16451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剩余服务能力与消散速度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能力恢复后的服务滞后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恢复时间与累计服务损失</a:t>
            </a:r>
          </a:p>
        </p:txBody>
      </p:sp>
      <p:sp>
        <p:nvSpPr>
          <p:cNvPr id="179" name="敏感性与不确定性_179">
            <a:extLst>
              <a:ext uri="{FF2B5EF4-FFF2-40B4-BE49-F238E27FC236}">
                <a16:creationId xmlns:a16="http://schemas.microsoft.com/office/drawing/2014/main" id="{689A1707-045B-4F41-8F5E-5FD1F1AB7820}"/>
              </a:ext>
            </a:extLst>
          </p:cNvPr>
          <p:cNvSpPr>
            <a:spLocks noGrp="1"/>
          </p:cNvSpPr>
          <p:nvPr/>
        </p:nvSpPr>
        <p:spPr>
          <a:xfrm>
            <a:off x="6870192" y="22193250"/>
            <a:ext cx="1816608" cy="1276350"/>
          </a:xfrm>
          <a:prstGeom prst="roundRect">
            <a:avLst>
              <a:gd name="adj" fmla="val 7463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80" name="文字_180">
            <a:extLst>
              <a:ext uri="{FF2B5EF4-FFF2-40B4-BE49-F238E27FC236}">
                <a16:creationId xmlns:a16="http://schemas.microsoft.com/office/drawing/2014/main" id="{53FE0740-2BA0-4E13-89C0-6BFE29B83E04}"/>
              </a:ext>
            </a:extLst>
          </p:cNvPr>
          <p:cNvSpPr>
            <a:spLocks noGrp="1"/>
          </p:cNvSpPr>
          <p:nvPr/>
        </p:nvSpPr>
        <p:spPr>
          <a:xfrm>
            <a:off x="6936867" y="22278975"/>
            <a:ext cx="1683258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敏感性与不确定性</a:t>
            </a:r>
          </a:p>
        </p:txBody>
      </p:sp>
      <p:sp>
        <p:nvSpPr>
          <p:cNvPr id="181" name="文字_181">
            <a:extLst>
              <a:ext uri="{FF2B5EF4-FFF2-40B4-BE49-F238E27FC236}">
                <a16:creationId xmlns:a16="http://schemas.microsoft.com/office/drawing/2014/main" id="{EBA1DC6A-5FD6-4F4C-BC76-5C9DFF23B824}"/>
              </a:ext>
            </a:extLst>
          </p:cNvPr>
          <p:cNvSpPr>
            <a:spLocks noGrp="1"/>
          </p:cNvSpPr>
          <p:nvPr/>
        </p:nvSpPr>
        <p:spPr>
          <a:xfrm>
            <a:off x="6955917" y="22640925"/>
            <a:ext cx="16451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施工、需求及行为参数扰动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关键敏感因素与情景范围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模型适用边界及参数稳健性</a:t>
            </a:r>
          </a:p>
        </p:txBody>
      </p:sp>
      <p:sp>
        <p:nvSpPr>
          <p:cNvPr id="182" name="扰动情景库与能力映射_182">
            <a:extLst>
              <a:ext uri="{FF2B5EF4-FFF2-40B4-BE49-F238E27FC236}">
                <a16:creationId xmlns:a16="http://schemas.microsoft.com/office/drawing/2014/main" id="{5DB63970-D766-42CA-8A36-EC36F673048C}"/>
              </a:ext>
            </a:extLst>
          </p:cNvPr>
          <p:cNvSpPr>
            <a:spLocks noGrp="1"/>
          </p:cNvSpPr>
          <p:nvPr/>
        </p:nvSpPr>
        <p:spPr>
          <a:xfrm>
            <a:off x="9784080" y="1381125"/>
            <a:ext cx="2084832" cy="2333625"/>
          </a:xfrm>
          <a:prstGeom prst="roundRect">
            <a:avLst>
              <a:gd name="adj" fmla="val 4569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83" name="文字_183">
            <a:extLst>
              <a:ext uri="{FF2B5EF4-FFF2-40B4-BE49-F238E27FC236}">
                <a16:creationId xmlns:a16="http://schemas.microsoft.com/office/drawing/2014/main" id="{F70C1D80-D1D8-4063-AE04-B40BAFD9ED5A}"/>
              </a:ext>
            </a:extLst>
          </p:cNvPr>
          <p:cNvSpPr>
            <a:spLocks noGrp="1"/>
          </p:cNvSpPr>
          <p:nvPr/>
        </p:nvSpPr>
        <p:spPr>
          <a:xfrm>
            <a:off x="9850755" y="1466850"/>
            <a:ext cx="19514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扰动情景库与能力映射</a:t>
            </a:r>
          </a:p>
        </p:txBody>
      </p:sp>
      <p:sp>
        <p:nvSpPr>
          <p:cNvPr id="184" name="文字_184">
            <a:extLst>
              <a:ext uri="{FF2B5EF4-FFF2-40B4-BE49-F238E27FC236}">
                <a16:creationId xmlns:a16="http://schemas.microsoft.com/office/drawing/2014/main" id="{30EC4012-51F7-4B2F-9637-51CE66C2E501}"/>
              </a:ext>
            </a:extLst>
          </p:cNvPr>
          <p:cNvSpPr>
            <a:spLocks noGrp="1"/>
          </p:cNvSpPr>
          <p:nvPr/>
        </p:nvSpPr>
        <p:spPr>
          <a:xfrm>
            <a:off x="9869805" y="1952625"/>
            <a:ext cx="1913382" cy="167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施工阶段、强度及工期参数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通航约束与有效能力映射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能力折减幅度和持续时间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多情景编号与标准化输入</a:t>
            </a:r>
          </a:p>
        </p:txBody>
      </p:sp>
      <p:sp>
        <p:nvSpPr>
          <p:cNvPr id="185" name="需求基准与施工增量_185">
            <a:extLst>
              <a:ext uri="{FF2B5EF4-FFF2-40B4-BE49-F238E27FC236}">
                <a16:creationId xmlns:a16="http://schemas.microsoft.com/office/drawing/2014/main" id="{F7FD6DB2-ECAB-487C-9CB0-07349608BFF0}"/>
              </a:ext>
            </a:extLst>
          </p:cNvPr>
          <p:cNvSpPr>
            <a:spLocks noGrp="1"/>
          </p:cNvSpPr>
          <p:nvPr/>
        </p:nvSpPr>
        <p:spPr>
          <a:xfrm>
            <a:off x="9784080" y="4143375"/>
            <a:ext cx="2084832" cy="2190750"/>
          </a:xfrm>
          <a:prstGeom prst="roundRect">
            <a:avLst>
              <a:gd name="adj" fmla="val 4569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86" name="文字_186">
            <a:extLst>
              <a:ext uri="{FF2B5EF4-FFF2-40B4-BE49-F238E27FC236}">
                <a16:creationId xmlns:a16="http://schemas.microsoft.com/office/drawing/2014/main" id="{4B45F0B8-97F8-4F3F-B0C9-522B0ADEE0F9}"/>
              </a:ext>
            </a:extLst>
          </p:cNvPr>
          <p:cNvSpPr>
            <a:spLocks noGrp="1"/>
          </p:cNvSpPr>
          <p:nvPr/>
        </p:nvSpPr>
        <p:spPr>
          <a:xfrm>
            <a:off x="9850755" y="4229100"/>
            <a:ext cx="19514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需求基准与施工增量</a:t>
            </a:r>
          </a:p>
        </p:txBody>
      </p:sp>
      <p:sp>
        <p:nvSpPr>
          <p:cNvPr id="187" name="文字_187">
            <a:extLst>
              <a:ext uri="{FF2B5EF4-FFF2-40B4-BE49-F238E27FC236}">
                <a16:creationId xmlns:a16="http://schemas.microsoft.com/office/drawing/2014/main" id="{CBA068B8-276C-4C4B-813A-DD45382C48EF}"/>
              </a:ext>
            </a:extLst>
          </p:cNvPr>
          <p:cNvSpPr>
            <a:spLocks noGrp="1"/>
          </p:cNvSpPr>
          <p:nvPr/>
        </p:nvSpPr>
        <p:spPr>
          <a:xfrm>
            <a:off x="9869805" y="4714875"/>
            <a:ext cx="1913382" cy="1533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常态货类需求及到达过程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周期、季节与突发波动特征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施工增量响应幅度与时滞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需求弹性及识别条件</a:t>
            </a:r>
          </a:p>
        </p:txBody>
      </p:sp>
      <p:sp>
        <p:nvSpPr>
          <p:cNvPr id="188" name="运行与服务响应规律_188">
            <a:extLst>
              <a:ext uri="{FF2B5EF4-FFF2-40B4-BE49-F238E27FC236}">
                <a16:creationId xmlns:a16="http://schemas.microsoft.com/office/drawing/2014/main" id="{8E14AEA7-2F1D-4C2C-B258-F30F2E8B46B5}"/>
              </a:ext>
            </a:extLst>
          </p:cNvPr>
          <p:cNvSpPr>
            <a:spLocks noGrp="1"/>
          </p:cNvSpPr>
          <p:nvPr/>
        </p:nvSpPr>
        <p:spPr>
          <a:xfrm>
            <a:off x="9784080" y="7067550"/>
            <a:ext cx="2084832" cy="2190750"/>
          </a:xfrm>
          <a:prstGeom prst="roundRect">
            <a:avLst>
              <a:gd name="adj" fmla="val 4569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89" name="文字_189">
            <a:extLst>
              <a:ext uri="{FF2B5EF4-FFF2-40B4-BE49-F238E27FC236}">
                <a16:creationId xmlns:a16="http://schemas.microsoft.com/office/drawing/2014/main" id="{7CADC4DF-7416-44BC-8B86-FEFF144E6B83}"/>
              </a:ext>
            </a:extLst>
          </p:cNvPr>
          <p:cNvSpPr>
            <a:spLocks noGrp="1"/>
          </p:cNvSpPr>
          <p:nvPr/>
        </p:nvSpPr>
        <p:spPr>
          <a:xfrm>
            <a:off x="9850755" y="7153275"/>
            <a:ext cx="19514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运行与服务响应规律</a:t>
            </a:r>
          </a:p>
        </p:txBody>
      </p:sp>
      <p:sp>
        <p:nvSpPr>
          <p:cNvPr id="190" name="文字_190">
            <a:extLst>
              <a:ext uri="{FF2B5EF4-FFF2-40B4-BE49-F238E27FC236}">
                <a16:creationId xmlns:a16="http://schemas.microsoft.com/office/drawing/2014/main" id="{1574C9BC-A674-4CA0-8FD0-241322F9C506}"/>
              </a:ext>
            </a:extLst>
          </p:cNvPr>
          <p:cNvSpPr>
            <a:spLocks noGrp="1"/>
          </p:cNvSpPr>
          <p:nvPr/>
        </p:nvSpPr>
        <p:spPr>
          <a:xfrm>
            <a:off x="9869805" y="7639050"/>
            <a:ext cx="1913382" cy="1533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能力、流量、拥堵与组织变化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排队、船期及港航作业衔接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运输时效与交付可靠性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分货类航线船型差异</a:t>
            </a:r>
          </a:p>
        </p:txBody>
      </p:sp>
      <p:sp>
        <p:nvSpPr>
          <p:cNvPr id="191" name="市场响应与行为参数_191">
            <a:extLst>
              <a:ext uri="{FF2B5EF4-FFF2-40B4-BE49-F238E27FC236}">
                <a16:creationId xmlns:a16="http://schemas.microsoft.com/office/drawing/2014/main" id="{0985ACFD-07B5-4412-80E5-D7C385BD2C95}"/>
              </a:ext>
            </a:extLst>
          </p:cNvPr>
          <p:cNvSpPr>
            <a:spLocks noGrp="1"/>
          </p:cNvSpPr>
          <p:nvPr/>
        </p:nvSpPr>
        <p:spPr>
          <a:xfrm>
            <a:off x="9784080" y="10858500"/>
            <a:ext cx="2084832" cy="2428875"/>
          </a:xfrm>
          <a:prstGeom prst="roundRect">
            <a:avLst>
              <a:gd name="adj" fmla="val 4569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2" name="文字_192">
            <a:extLst>
              <a:ext uri="{FF2B5EF4-FFF2-40B4-BE49-F238E27FC236}">
                <a16:creationId xmlns:a16="http://schemas.microsoft.com/office/drawing/2014/main" id="{981CD535-A9A4-4293-872F-1E26949F156C}"/>
              </a:ext>
            </a:extLst>
          </p:cNvPr>
          <p:cNvSpPr>
            <a:spLocks noGrp="1"/>
          </p:cNvSpPr>
          <p:nvPr/>
        </p:nvSpPr>
        <p:spPr>
          <a:xfrm>
            <a:off x="9850755" y="10944225"/>
            <a:ext cx="19514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市场响应与行为参数</a:t>
            </a:r>
          </a:p>
        </p:txBody>
      </p:sp>
      <p:sp>
        <p:nvSpPr>
          <p:cNvPr id="193" name="文字_193">
            <a:extLst>
              <a:ext uri="{FF2B5EF4-FFF2-40B4-BE49-F238E27FC236}">
                <a16:creationId xmlns:a16="http://schemas.microsoft.com/office/drawing/2014/main" id="{776FFDE4-2570-4A75-9B24-7EEE7FD6D0F3}"/>
              </a:ext>
            </a:extLst>
          </p:cNvPr>
          <p:cNvSpPr>
            <a:spLocks noGrp="1"/>
          </p:cNvSpPr>
          <p:nvPr/>
        </p:nvSpPr>
        <p:spPr>
          <a:xfrm>
            <a:off x="9869805" y="11430000"/>
            <a:ext cx="1913382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运输成本、运价及收益变化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直接与市场驱动调整关系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运力、航次及运输选择弹性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响应方向、约束与调整时滞</a:t>
            </a:r>
          </a:p>
        </p:txBody>
      </p:sp>
      <p:sp>
        <p:nvSpPr>
          <p:cNvPr id="194" name="航运内部反馈模块_194">
            <a:extLst>
              <a:ext uri="{FF2B5EF4-FFF2-40B4-BE49-F238E27FC236}">
                <a16:creationId xmlns:a16="http://schemas.microsoft.com/office/drawing/2014/main" id="{53564CF8-D962-4FD5-ACD9-BC9D7839D288}"/>
              </a:ext>
            </a:extLst>
          </p:cNvPr>
          <p:cNvSpPr>
            <a:spLocks noGrp="1"/>
          </p:cNvSpPr>
          <p:nvPr/>
        </p:nvSpPr>
        <p:spPr>
          <a:xfrm>
            <a:off x="9784080" y="13906500"/>
            <a:ext cx="2084832" cy="1619250"/>
          </a:xfrm>
          <a:prstGeom prst="roundRect">
            <a:avLst>
              <a:gd name="adj" fmla="val 5882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5" name="文字_195">
            <a:extLst>
              <a:ext uri="{FF2B5EF4-FFF2-40B4-BE49-F238E27FC236}">
                <a16:creationId xmlns:a16="http://schemas.microsoft.com/office/drawing/2014/main" id="{EFAE2270-D0BB-461F-B743-214BC5974764}"/>
              </a:ext>
            </a:extLst>
          </p:cNvPr>
          <p:cNvSpPr>
            <a:spLocks noGrp="1"/>
          </p:cNvSpPr>
          <p:nvPr/>
        </p:nvSpPr>
        <p:spPr>
          <a:xfrm>
            <a:off x="9850755" y="13992225"/>
            <a:ext cx="19514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航运内部反馈模块</a:t>
            </a:r>
          </a:p>
        </p:txBody>
      </p:sp>
      <p:sp>
        <p:nvSpPr>
          <p:cNvPr id="196" name="文字_196">
            <a:extLst>
              <a:ext uri="{FF2B5EF4-FFF2-40B4-BE49-F238E27FC236}">
                <a16:creationId xmlns:a16="http://schemas.microsoft.com/office/drawing/2014/main" id="{AAEE4367-5163-4CD8-8079-06ABD57C10FD}"/>
              </a:ext>
            </a:extLst>
          </p:cNvPr>
          <p:cNvSpPr>
            <a:spLocks noGrp="1"/>
          </p:cNvSpPr>
          <p:nvPr/>
        </p:nvSpPr>
        <p:spPr>
          <a:xfrm>
            <a:off x="9869805" y="14478000"/>
            <a:ext cx="1913382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主体调整对运力与需求的反馈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迭代关系及一致费用核算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运行、市场与行为关联参数</a:t>
            </a:r>
          </a:p>
        </p:txBody>
      </p:sp>
      <p:sp>
        <p:nvSpPr>
          <p:cNvPr id="197" name="传播阈值与恢复规律_197">
            <a:extLst>
              <a:ext uri="{FF2B5EF4-FFF2-40B4-BE49-F238E27FC236}">
                <a16:creationId xmlns:a16="http://schemas.microsoft.com/office/drawing/2014/main" id="{F282FBF9-B0AE-4D39-A48E-22F58332342B}"/>
              </a:ext>
            </a:extLst>
          </p:cNvPr>
          <p:cNvSpPr>
            <a:spLocks noGrp="1"/>
          </p:cNvSpPr>
          <p:nvPr/>
        </p:nvSpPr>
        <p:spPr>
          <a:xfrm>
            <a:off x="9784080" y="17811750"/>
            <a:ext cx="2084832" cy="2190750"/>
          </a:xfrm>
          <a:prstGeom prst="roundRect">
            <a:avLst>
              <a:gd name="adj" fmla="val 4569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8" name="文字_198">
            <a:extLst>
              <a:ext uri="{FF2B5EF4-FFF2-40B4-BE49-F238E27FC236}">
                <a16:creationId xmlns:a16="http://schemas.microsoft.com/office/drawing/2014/main" id="{FB7A5DE7-0754-4638-B866-4122A7CE2874}"/>
              </a:ext>
            </a:extLst>
          </p:cNvPr>
          <p:cNvSpPr>
            <a:spLocks noGrp="1"/>
          </p:cNvSpPr>
          <p:nvPr/>
        </p:nvSpPr>
        <p:spPr>
          <a:xfrm>
            <a:off x="9850755" y="17897475"/>
            <a:ext cx="19514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传播阈值与恢复规律</a:t>
            </a:r>
          </a:p>
        </p:txBody>
      </p:sp>
      <p:sp>
        <p:nvSpPr>
          <p:cNvPr id="199" name="文字_199">
            <a:extLst>
              <a:ext uri="{FF2B5EF4-FFF2-40B4-BE49-F238E27FC236}">
                <a16:creationId xmlns:a16="http://schemas.microsoft.com/office/drawing/2014/main" id="{2776D451-D897-4565-990A-796AE801B79A}"/>
              </a:ext>
            </a:extLst>
          </p:cNvPr>
          <p:cNvSpPr>
            <a:spLocks noGrp="1"/>
          </p:cNvSpPr>
          <p:nvPr/>
        </p:nvSpPr>
        <p:spPr>
          <a:xfrm>
            <a:off x="9869805" y="18383250"/>
            <a:ext cx="1913382" cy="1533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多通道及上下游传播时滞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供需失配与非线性放大阈值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瓶颈转移及积压消散过程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系统恢复与组织适应性</a:t>
            </a:r>
          </a:p>
        </p:txBody>
      </p:sp>
      <p:sp>
        <p:nvSpPr>
          <p:cNvPr id="200" name="动态响应模型与接口_200">
            <a:extLst>
              <a:ext uri="{FF2B5EF4-FFF2-40B4-BE49-F238E27FC236}">
                <a16:creationId xmlns:a16="http://schemas.microsoft.com/office/drawing/2014/main" id="{DCABDACF-DCA9-4C69-974A-A50D87CD6595}"/>
              </a:ext>
            </a:extLst>
          </p:cNvPr>
          <p:cNvSpPr>
            <a:spLocks noGrp="1"/>
          </p:cNvSpPr>
          <p:nvPr/>
        </p:nvSpPr>
        <p:spPr>
          <a:xfrm>
            <a:off x="9784080" y="20955000"/>
            <a:ext cx="2084832" cy="2143125"/>
          </a:xfrm>
          <a:prstGeom prst="roundRect">
            <a:avLst>
              <a:gd name="adj" fmla="val 4569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01" name="文字_201">
            <a:extLst>
              <a:ext uri="{FF2B5EF4-FFF2-40B4-BE49-F238E27FC236}">
                <a16:creationId xmlns:a16="http://schemas.microsoft.com/office/drawing/2014/main" id="{6B256C81-3118-4072-A2DC-C63D4704010E}"/>
              </a:ext>
            </a:extLst>
          </p:cNvPr>
          <p:cNvSpPr>
            <a:spLocks noGrp="1"/>
          </p:cNvSpPr>
          <p:nvPr/>
        </p:nvSpPr>
        <p:spPr>
          <a:xfrm>
            <a:off x="9850755" y="21040725"/>
            <a:ext cx="19514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动态响应模型与接口</a:t>
            </a:r>
          </a:p>
        </p:txBody>
      </p:sp>
      <p:sp>
        <p:nvSpPr>
          <p:cNvPr id="202" name="文字_202">
            <a:extLst>
              <a:ext uri="{FF2B5EF4-FFF2-40B4-BE49-F238E27FC236}">
                <a16:creationId xmlns:a16="http://schemas.microsoft.com/office/drawing/2014/main" id="{0C025B8B-63A5-4B17-B6DA-CC53B0C7048D}"/>
              </a:ext>
            </a:extLst>
          </p:cNvPr>
          <p:cNvSpPr>
            <a:spLocks noGrp="1"/>
          </p:cNvSpPr>
          <p:nvPr/>
        </p:nvSpPr>
        <p:spPr>
          <a:xfrm>
            <a:off x="9869805" y="21526500"/>
            <a:ext cx="1913382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校准模型及独立检验结果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参数来源与不确定性范围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分时段通道货类输入输出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模块可调用性及适用边界</a:t>
            </a:r>
          </a:p>
        </p:txBody>
      </p:sp>
      <p:sp>
        <p:nvSpPr>
          <p:cNvPr id="203" name="流程箭头_203">
            <a:extLst>
              <a:ext uri="{FF2B5EF4-FFF2-40B4-BE49-F238E27FC236}">
                <a16:creationId xmlns:a16="http://schemas.microsoft.com/office/drawing/2014/main" id="{2B7BCB47-7A51-492A-953D-8AD7F2A252AE}"/>
              </a:ext>
            </a:extLst>
          </p:cNvPr>
          <p:cNvSpPr>
            <a:spLocks noGrp="1"/>
          </p:cNvSpPr>
          <p:nvPr/>
        </p:nvSpPr>
        <p:spPr>
          <a:xfrm>
            <a:off x="10753725" y="3781425"/>
            <a:ext cx="152400" cy="19050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204" name="流程箭头_204">
            <a:extLst>
              <a:ext uri="{FF2B5EF4-FFF2-40B4-BE49-F238E27FC236}">
                <a16:creationId xmlns:a16="http://schemas.microsoft.com/office/drawing/2014/main" id="{3E89129B-80D6-4F1E-8D44-5E9C42610F59}"/>
              </a:ext>
            </a:extLst>
          </p:cNvPr>
          <p:cNvSpPr>
            <a:spLocks noGrp="1"/>
          </p:cNvSpPr>
          <p:nvPr/>
        </p:nvSpPr>
        <p:spPr>
          <a:xfrm>
            <a:off x="10753725" y="6534150"/>
            <a:ext cx="152400" cy="36195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205" name="流程箭头_205">
            <a:extLst>
              <a:ext uri="{FF2B5EF4-FFF2-40B4-BE49-F238E27FC236}">
                <a16:creationId xmlns:a16="http://schemas.microsoft.com/office/drawing/2014/main" id="{D39EE247-3ADA-4CE9-95E4-4D884E8B14F3}"/>
              </a:ext>
            </a:extLst>
          </p:cNvPr>
          <p:cNvSpPr>
            <a:spLocks noGrp="1"/>
          </p:cNvSpPr>
          <p:nvPr/>
        </p:nvSpPr>
        <p:spPr>
          <a:xfrm>
            <a:off x="10753725" y="9372600"/>
            <a:ext cx="152400" cy="123825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206" name="流程箭头_206">
            <a:extLst>
              <a:ext uri="{FF2B5EF4-FFF2-40B4-BE49-F238E27FC236}">
                <a16:creationId xmlns:a16="http://schemas.microsoft.com/office/drawing/2014/main" id="{984BEBB9-1C66-4ACD-89AC-96F8A965C796}"/>
              </a:ext>
            </a:extLst>
          </p:cNvPr>
          <p:cNvSpPr>
            <a:spLocks noGrp="1"/>
          </p:cNvSpPr>
          <p:nvPr/>
        </p:nvSpPr>
        <p:spPr>
          <a:xfrm>
            <a:off x="10753725" y="13401675"/>
            <a:ext cx="152400" cy="333375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207" name="流程箭头_207">
            <a:extLst>
              <a:ext uri="{FF2B5EF4-FFF2-40B4-BE49-F238E27FC236}">
                <a16:creationId xmlns:a16="http://schemas.microsoft.com/office/drawing/2014/main" id="{3B49036D-6C04-470C-9343-6CA703C3D116}"/>
              </a:ext>
            </a:extLst>
          </p:cNvPr>
          <p:cNvSpPr>
            <a:spLocks noGrp="1"/>
          </p:cNvSpPr>
          <p:nvPr/>
        </p:nvSpPr>
        <p:spPr>
          <a:xfrm>
            <a:off x="10753725" y="15659100"/>
            <a:ext cx="152400" cy="1914525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208" name="流程箭头_208">
            <a:extLst>
              <a:ext uri="{FF2B5EF4-FFF2-40B4-BE49-F238E27FC236}">
                <a16:creationId xmlns:a16="http://schemas.microsoft.com/office/drawing/2014/main" id="{AB39609D-34C6-43C6-BB06-B10D7EEA8EF6}"/>
              </a:ext>
            </a:extLst>
          </p:cNvPr>
          <p:cNvSpPr>
            <a:spLocks noGrp="1"/>
          </p:cNvSpPr>
          <p:nvPr/>
        </p:nvSpPr>
        <p:spPr>
          <a:xfrm>
            <a:off x="10753725" y="20126325"/>
            <a:ext cx="152400" cy="581025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209" name="集成支撑_209">
            <a:extLst>
              <a:ext uri="{FF2B5EF4-FFF2-40B4-BE49-F238E27FC236}">
                <a16:creationId xmlns:a16="http://schemas.microsoft.com/office/drawing/2014/main" id="{EB6028C7-90BB-4057-A87C-9AF0AA606126}"/>
              </a:ext>
            </a:extLst>
          </p:cNvPr>
          <p:cNvSpPr>
            <a:spLocks noGrp="1"/>
          </p:cNvSpPr>
          <p:nvPr/>
        </p:nvSpPr>
        <p:spPr>
          <a:xfrm>
            <a:off x="9784080" y="23374350"/>
            <a:ext cx="2084832" cy="990600"/>
          </a:xfrm>
          <a:prstGeom prst="roundRect">
            <a:avLst>
              <a:gd name="adj" fmla="val 9615"/>
            </a:avLst>
          </a:prstGeom>
          <a:solidFill>
            <a:srgbClr val="1F4E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10" name="文字_210">
            <a:extLst>
              <a:ext uri="{FF2B5EF4-FFF2-40B4-BE49-F238E27FC236}">
                <a16:creationId xmlns:a16="http://schemas.microsoft.com/office/drawing/2014/main" id="{789E4CFB-E807-4C02-89E3-38EAB1D87A9D}"/>
              </a:ext>
            </a:extLst>
          </p:cNvPr>
          <p:cNvSpPr>
            <a:spLocks noGrp="1"/>
          </p:cNvSpPr>
          <p:nvPr/>
        </p:nvSpPr>
        <p:spPr>
          <a:xfrm>
            <a:off x="9858375" y="23460075"/>
            <a:ext cx="19335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支撑子课题五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级联模型集成与整体验证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提供航运响应模块及接口</a:t>
            </a:r>
          </a:p>
        </p:txBody>
      </p:sp>
      <p:sp>
        <p:nvSpPr>
          <p:cNvPr id="211" name="研究边界_211">
            <a:extLst>
              <a:ext uri="{FF2B5EF4-FFF2-40B4-BE49-F238E27FC236}">
                <a16:creationId xmlns:a16="http://schemas.microsoft.com/office/drawing/2014/main" id="{979EB79F-3D7D-4B5F-B6FC-0953A8885E6A}"/>
              </a:ext>
            </a:extLst>
          </p:cNvPr>
          <p:cNvSpPr>
            <a:spLocks noGrp="1"/>
          </p:cNvSpPr>
          <p:nvPr/>
        </p:nvSpPr>
        <p:spPr>
          <a:xfrm>
            <a:off x="2395728" y="23622000"/>
            <a:ext cx="6473952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研究边界：航运运行、运输服务及直接市场经营响应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输出运输时间、成本、运价、可靠性、实现流量及行为参数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产业库存、生产与区域经济由相关子课题衔接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完整调度优化、多式联运优化与平台研发由项目相关任务承担</a:t>
            </a:r>
          </a:p>
        </p:txBody>
      </p:sp>
      <p:sp>
        <p:nvSpPr>
          <p:cNvPr id="212" name="协同接口_212">
            <a:extLst>
              <a:ext uri="{FF2B5EF4-FFF2-40B4-BE49-F238E27FC236}">
                <a16:creationId xmlns:a16="http://schemas.microsoft.com/office/drawing/2014/main" id="{5B286F6B-526B-44A9-A8F5-FC467DB08BD3}"/>
              </a:ext>
            </a:extLst>
          </p:cNvPr>
          <p:cNvSpPr>
            <a:spLocks noGrp="1"/>
          </p:cNvSpPr>
          <p:nvPr/>
        </p:nvSpPr>
        <p:spPr>
          <a:xfrm>
            <a:off x="896112" y="246411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数据与模型衔接：子课题一提供数据与特征，子课题二提供全链条作用路径，子课题四反馈需求情景，子课题五统一接口并集成验证。</a:t>
            </a:r>
          </a:p>
        </p:txBody>
      </p:sp>
    </p:spTree>
    <p:extLst>
      <p:ext uri="{BB962C8B-B14F-4D97-AF65-F5344CB8AC3E}">
        <p14:creationId xmlns:p14="http://schemas.microsoft.com/office/powerpoint/2010/main" val="88050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总标题_1">
            <a:extLst>
              <a:ext uri="{FF2B5EF4-FFF2-40B4-BE49-F238E27FC236}">
                <a16:creationId xmlns:a16="http://schemas.microsoft.com/office/drawing/2014/main" id="{F2E36D8F-4E05-41BD-9C38-1F58AFD546EC}"/>
              </a:ext>
            </a:extLst>
          </p:cNvPr>
          <p:cNvSpPr>
            <a:spLocks noGrp="1"/>
          </p:cNvSpPr>
          <p:nvPr/>
        </p:nvSpPr>
        <p:spPr>
          <a:xfrm>
            <a:off x="566928" y="209550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2" name="子课题名称_2">
            <a:extLst>
              <a:ext uri="{FF2B5EF4-FFF2-40B4-BE49-F238E27FC236}">
                <a16:creationId xmlns:a16="http://schemas.microsoft.com/office/drawing/2014/main" id="{1D196D72-FD71-43A0-A10F-444D14ECAE12}"/>
              </a:ext>
            </a:extLst>
          </p:cNvPr>
          <p:cNvSpPr>
            <a:spLocks noGrp="1"/>
          </p:cNvSpPr>
          <p:nvPr/>
        </p:nvSpPr>
        <p:spPr>
          <a:xfrm>
            <a:off x="5810250" y="266700"/>
            <a:ext cx="5810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枢纽施工扰动下航运系统波动响应研究</a:t>
            </a:r>
          </a:p>
        </p:txBody>
      </p:sp>
      <p:sp>
        <p:nvSpPr>
          <p:cNvPr id="3" name="容器_3">
            <a:extLst>
              <a:ext uri="{FF2B5EF4-FFF2-40B4-BE49-F238E27FC236}">
                <a16:creationId xmlns:a16="http://schemas.microsoft.com/office/drawing/2014/main" id="{4CA63308-4EA1-403A-B6DC-D864E6371F27}"/>
              </a:ext>
            </a:extLst>
          </p:cNvPr>
          <p:cNvSpPr>
            <a:spLocks noGrp="1"/>
          </p:cNvSpPr>
          <p:nvPr/>
        </p:nvSpPr>
        <p:spPr>
          <a:xfrm>
            <a:off x="566928" y="685800"/>
            <a:ext cx="11057858" cy="14288"/>
          </a:xfrm>
          <a:prstGeom prst="rect">
            <a:avLst/>
          </a:prstGeom>
          <a:solidFill>
            <a:srgbClr val="BDD7EE"/>
          </a:solidFill>
          <a:ln w="0">
            <a:noFill/>
          </a:ln>
        </p:spPr>
      </p:sp>
      <p:sp>
        <p:nvSpPr>
          <p:cNvPr id="4" name="数据侧栏_4">
            <a:extLst>
              <a:ext uri="{FF2B5EF4-FFF2-40B4-BE49-F238E27FC236}">
                <a16:creationId xmlns:a16="http://schemas.microsoft.com/office/drawing/2014/main" id="{8659C039-FC91-49D1-9CBC-FD196C16C3AF}"/>
              </a:ext>
            </a:extLst>
          </p:cNvPr>
          <p:cNvSpPr>
            <a:spLocks noGrp="1"/>
          </p:cNvSpPr>
          <p:nvPr/>
        </p:nvSpPr>
        <p:spPr>
          <a:xfrm>
            <a:off x="329184" y="790575"/>
            <a:ext cx="457200" cy="17906996"/>
          </a:xfrm>
          <a:prstGeom prst="roundRect">
            <a:avLst>
              <a:gd name="adj" fmla="val 20833"/>
            </a:avLst>
          </a:prstGeom>
          <a:solidFill>
            <a:srgbClr val="C55A1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" name="成果侧栏_5">
            <a:extLst>
              <a:ext uri="{FF2B5EF4-FFF2-40B4-BE49-F238E27FC236}">
                <a16:creationId xmlns:a16="http://schemas.microsoft.com/office/drawing/2014/main" id="{77744A0F-742F-4B30-BDC5-E5B90A6CC18B}"/>
              </a:ext>
            </a:extLst>
          </p:cNvPr>
          <p:cNvSpPr>
            <a:spLocks noGrp="1"/>
          </p:cNvSpPr>
          <p:nvPr/>
        </p:nvSpPr>
        <p:spPr>
          <a:xfrm>
            <a:off x="9198864" y="790575"/>
            <a:ext cx="457200" cy="17906996"/>
          </a:xfrm>
          <a:prstGeom prst="roundRect">
            <a:avLst>
              <a:gd name="adj" fmla="val 20833"/>
            </a:avLst>
          </a:prstGeom>
          <a:solidFill>
            <a:srgbClr val="1F4E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" name="文字_6">
            <a:extLst>
              <a:ext uri="{FF2B5EF4-FFF2-40B4-BE49-F238E27FC236}">
                <a16:creationId xmlns:a16="http://schemas.microsoft.com/office/drawing/2014/main" id="{81C887F2-635F-4E3F-AE2F-031A57100510}"/>
              </a:ext>
            </a:extLst>
          </p:cNvPr>
          <p:cNvSpPr>
            <a:spLocks noGrp="1"/>
          </p:cNvSpPr>
          <p:nvPr/>
        </p:nvSpPr>
        <p:spPr>
          <a:xfrm>
            <a:off x="329184" y="8349888"/>
            <a:ext cx="4572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  <a:endParaRPr sz="165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字_9">
            <a:extLst>
              <a:ext uri="{FF2B5EF4-FFF2-40B4-BE49-F238E27FC236}">
                <a16:creationId xmlns:a16="http://schemas.microsoft.com/office/drawing/2014/main" id="{1C740A2E-C413-45A6-B0C0-2DB1709B0F57}"/>
              </a:ext>
            </a:extLst>
          </p:cNvPr>
          <p:cNvSpPr>
            <a:spLocks noGrp="1"/>
          </p:cNvSpPr>
          <p:nvPr/>
        </p:nvSpPr>
        <p:spPr>
          <a:xfrm>
            <a:off x="9198864" y="8191500"/>
            <a:ext cx="4572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</p:txBody>
      </p:sp>
      <p:sp>
        <p:nvSpPr>
          <p:cNvPr id="12" name="施工与 通航条件_12">
            <a:extLst>
              <a:ext uri="{FF2B5EF4-FFF2-40B4-BE49-F238E27FC236}">
                <a16:creationId xmlns:a16="http://schemas.microsoft.com/office/drawing/2014/main" id="{31F1A1B7-89C6-4098-BB84-275537F84BAD}"/>
              </a:ext>
            </a:extLst>
          </p:cNvPr>
          <p:cNvSpPr>
            <a:spLocks noGrp="1"/>
          </p:cNvSpPr>
          <p:nvPr/>
        </p:nvSpPr>
        <p:spPr>
          <a:xfrm>
            <a:off x="896112" y="1381125"/>
            <a:ext cx="1188720" cy="173355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" name="文字_13">
            <a:extLst>
              <a:ext uri="{FF2B5EF4-FFF2-40B4-BE49-F238E27FC236}">
                <a16:creationId xmlns:a16="http://schemas.microsoft.com/office/drawing/2014/main" id="{8F3D4E8A-50B4-4FF8-9DF5-2D062A59FF1A}"/>
              </a:ext>
            </a:extLst>
          </p:cNvPr>
          <p:cNvSpPr>
            <a:spLocks noGrp="1"/>
          </p:cNvSpPr>
          <p:nvPr/>
        </p:nvSpPr>
        <p:spPr>
          <a:xfrm>
            <a:off x="972312" y="1447800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通航条件</a:t>
            </a:r>
          </a:p>
        </p:txBody>
      </p:sp>
      <p:sp>
        <p:nvSpPr>
          <p:cNvPr id="14" name="文字_14">
            <a:extLst>
              <a:ext uri="{FF2B5EF4-FFF2-40B4-BE49-F238E27FC236}">
                <a16:creationId xmlns:a16="http://schemas.microsoft.com/office/drawing/2014/main" id="{C60ABC95-820E-4FC2-8DAE-5679E559EB5D}"/>
              </a:ext>
            </a:extLst>
          </p:cNvPr>
          <p:cNvSpPr>
            <a:spLocks noGrp="1"/>
          </p:cNvSpPr>
          <p:nvPr/>
        </p:nvSpPr>
        <p:spPr>
          <a:xfrm>
            <a:off x="1000887" y="1943100"/>
            <a:ext cx="97917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工期与检修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停限航窗口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设施与船型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放行规则</a:t>
            </a:r>
          </a:p>
        </p:txBody>
      </p:sp>
      <p:sp>
        <p:nvSpPr>
          <p:cNvPr id="15" name="运行与 运输需求_15">
            <a:extLst>
              <a:ext uri="{FF2B5EF4-FFF2-40B4-BE49-F238E27FC236}">
                <a16:creationId xmlns:a16="http://schemas.microsoft.com/office/drawing/2014/main" id="{981076E2-DC8A-435C-AE19-1F73D3153EAE}"/>
              </a:ext>
            </a:extLst>
          </p:cNvPr>
          <p:cNvSpPr>
            <a:spLocks noGrp="1"/>
          </p:cNvSpPr>
          <p:nvPr/>
        </p:nvSpPr>
        <p:spPr>
          <a:xfrm>
            <a:off x="896112" y="3476625"/>
            <a:ext cx="1188720" cy="203835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6" name="文字_16">
            <a:extLst>
              <a:ext uri="{FF2B5EF4-FFF2-40B4-BE49-F238E27FC236}">
                <a16:creationId xmlns:a16="http://schemas.microsoft.com/office/drawing/2014/main" id="{C010C31F-D4DA-4E9B-B52D-B006145C12E4}"/>
              </a:ext>
            </a:extLst>
          </p:cNvPr>
          <p:cNvSpPr>
            <a:spLocks noGrp="1"/>
          </p:cNvSpPr>
          <p:nvPr/>
        </p:nvSpPr>
        <p:spPr>
          <a:xfrm>
            <a:off x="972312" y="3543300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运行与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运输需求</a:t>
            </a:r>
          </a:p>
        </p:txBody>
      </p:sp>
      <p:sp>
        <p:nvSpPr>
          <p:cNvPr id="17" name="文字_17">
            <a:extLst>
              <a:ext uri="{FF2B5EF4-FFF2-40B4-BE49-F238E27FC236}">
                <a16:creationId xmlns:a16="http://schemas.microsoft.com/office/drawing/2014/main" id="{1A5C8449-DE4E-49E2-82DD-CCB315E0F813}"/>
              </a:ext>
            </a:extLst>
          </p:cNvPr>
          <p:cNvSpPr>
            <a:spLocks noGrp="1"/>
          </p:cNvSpPr>
          <p:nvPr/>
        </p:nvSpPr>
        <p:spPr>
          <a:xfrm>
            <a:off x="1000887" y="4038600"/>
            <a:ext cx="97917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船舶轨迹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到达与通过量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排队与船期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港口作业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货类与流向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发运与交付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替代通道</a:t>
            </a:r>
          </a:p>
        </p:txBody>
      </p:sp>
      <p:sp>
        <p:nvSpPr>
          <p:cNvPr id="18" name="常态运行 与外部条件_18">
            <a:extLst>
              <a:ext uri="{FF2B5EF4-FFF2-40B4-BE49-F238E27FC236}">
                <a16:creationId xmlns:a16="http://schemas.microsoft.com/office/drawing/2014/main" id="{FE3000DC-D390-4E91-992E-FBC1D94907D4}"/>
              </a:ext>
            </a:extLst>
          </p:cNvPr>
          <p:cNvSpPr>
            <a:spLocks noGrp="1"/>
          </p:cNvSpPr>
          <p:nvPr/>
        </p:nvSpPr>
        <p:spPr>
          <a:xfrm>
            <a:off x="896112" y="5724525"/>
            <a:ext cx="1188720" cy="1571625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" name="文字_19">
            <a:extLst>
              <a:ext uri="{FF2B5EF4-FFF2-40B4-BE49-F238E27FC236}">
                <a16:creationId xmlns:a16="http://schemas.microsoft.com/office/drawing/2014/main" id="{B5213921-2C7D-4DB9-8585-2C58D9EE9687}"/>
              </a:ext>
            </a:extLst>
          </p:cNvPr>
          <p:cNvSpPr>
            <a:spLocks noGrp="1"/>
          </p:cNvSpPr>
          <p:nvPr/>
        </p:nvSpPr>
        <p:spPr>
          <a:xfrm>
            <a:off x="972312" y="5791200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常态运行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与外部条件</a:t>
            </a:r>
          </a:p>
        </p:txBody>
      </p:sp>
      <p:sp>
        <p:nvSpPr>
          <p:cNvPr id="20" name="文字_20">
            <a:extLst>
              <a:ext uri="{FF2B5EF4-FFF2-40B4-BE49-F238E27FC236}">
                <a16:creationId xmlns:a16="http://schemas.microsoft.com/office/drawing/2014/main" id="{13B8E336-2E9F-4CA7-8CE2-0D198DDB5383}"/>
              </a:ext>
            </a:extLst>
          </p:cNvPr>
          <p:cNvSpPr>
            <a:spLocks noGrp="1"/>
          </p:cNvSpPr>
          <p:nvPr/>
        </p:nvSpPr>
        <p:spPr>
          <a:xfrm>
            <a:off x="1000887" y="6286500"/>
            <a:ext cx="97917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无施工基准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水文与天气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季节性需求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初始负荷</a:t>
            </a:r>
          </a:p>
        </p:txBody>
      </p:sp>
      <p:sp>
        <p:nvSpPr>
          <p:cNvPr id="21" name="运输组织 记录_21">
            <a:extLst>
              <a:ext uri="{FF2B5EF4-FFF2-40B4-BE49-F238E27FC236}">
                <a16:creationId xmlns:a16="http://schemas.microsoft.com/office/drawing/2014/main" id="{F875BD76-991A-41EC-BE88-C792F8E52A49}"/>
              </a:ext>
            </a:extLst>
          </p:cNvPr>
          <p:cNvSpPr>
            <a:spLocks noGrp="1"/>
          </p:cNvSpPr>
          <p:nvPr/>
        </p:nvSpPr>
        <p:spPr>
          <a:xfrm>
            <a:off x="896112" y="8210550"/>
            <a:ext cx="1188720" cy="182880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2" name="文字_22">
            <a:extLst>
              <a:ext uri="{FF2B5EF4-FFF2-40B4-BE49-F238E27FC236}">
                <a16:creationId xmlns:a16="http://schemas.microsoft.com/office/drawing/2014/main" id="{C77157A8-02FB-49C3-81A6-67779E7C3A98}"/>
              </a:ext>
            </a:extLst>
          </p:cNvPr>
          <p:cNvSpPr>
            <a:spLocks noGrp="1"/>
          </p:cNvSpPr>
          <p:nvPr/>
        </p:nvSpPr>
        <p:spPr>
          <a:xfrm>
            <a:off x="972312" y="8277225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运输组织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记录</a:t>
            </a:r>
          </a:p>
        </p:txBody>
      </p:sp>
      <p:sp>
        <p:nvSpPr>
          <p:cNvPr id="23" name="文字_23">
            <a:extLst>
              <a:ext uri="{FF2B5EF4-FFF2-40B4-BE49-F238E27FC236}">
                <a16:creationId xmlns:a16="http://schemas.microsoft.com/office/drawing/2014/main" id="{40D3831F-5306-4821-B611-7822B0FBD44E}"/>
              </a:ext>
            </a:extLst>
          </p:cNvPr>
          <p:cNvSpPr>
            <a:spLocks noGrp="1"/>
          </p:cNvSpPr>
          <p:nvPr/>
        </p:nvSpPr>
        <p:spPr>
          <a:xfrm>
            <a:off x="1000887" y="8772525"/>
            <a:ext cx="97917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航次与待闸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船型与通道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发运与到达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港航衔接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组织调整记录</a:t>
            </a:r>
          </a:p>
        </p:txBody>
      </p:sp>
      <p:sp>
        <p:nvSpPr>
          <p:cNvPr id="24" name="典型事件 与检验数据_24">
            <a:extLst>
              <a:ext uri="{FF2B5EF4-FFF2-40B4-BE49-F238E27FC236}">
                <a16:creationId xmlns:a16="http://schemas.microsoft.com/office/drawing/2014/main" id="{2298CE8A-71EB-4755-9B54-6D1158BDFBF4}"/>
              </a:ext>
            </a:extLst>
          </p:cNvPr>
          <p:cNvSpPr>
            <a:spLocks noGrp="1"/>
          </p:cNvSpPr>
          <p:nvPr/>
        </p:nvSpPr>
        <p:spPr>
          <a:xfrm>
            <a:off x="896112" y="14592300"/>
            <a:ext cx="1188720" cy="194310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5" name="文字_25">
            <a:extLst>
              <a:ext uri="{FF2B5EF4-FFF2-40B4-BE49-F238E27FC236}">
                <a16:creationId xmlns:a16="http://schemas.microsoft.com/office/drawing/2014/main" id="{F140D7BF-700B-42FE-9AE0-D9057B785CF8}"/>
              </a:ext>
            </a:extLst>
          </p:cNvPr>
          <p:cNvSpPr>
            <a:spLocks noGrp="1"/>
          </p:cNvSpPr>
          <p:nvPr/>
        </p:nvSpPr>
        <p:spPr>
          <a:xfrm>
            <a:off x="972312" y="14658975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典型事件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与检验数据</a:t>
            </a:r>
          </a:p>
        </p:txBody>
      </p:sp>
      <p:sp>
        <p:nvSpPr>
          <p:cNvPr id="26" name="文字_26">
            <a:extLst>
              <a:ext uri="{FF2B5EF4-FFF2-40B4-BE49-F238E27FC236}">
                <a16:creationId xmlns:a16="http://schemas.microsoft.com/office/drawing/2014/main" id="{B0C92E80-024A-4C4D-965B-71EBF80CF25E}"/>
              </a:ext>
            </a:extLst>
          </p:cNvPr>
          <p:cNvSpPr>
            <a:spLocks noGrp="1"/>
          </p:cNvSpPr>
          <p:nvPr/>
        </p:nvSpPr>
        <p:spPr>
          <a:xfrm>
            <a:off x="1000887" y="15154275"/>
            <a:ext cx="979170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施工检修事件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前后运行记录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到达与排队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船期与交付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独立检验事件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数据口径核对</a:t>
            </a:r>
          </a:p>
        </p:txBody>
      </p:sp>
      <p:sp>
        <p:nvSpPr>
          <p:cNvPr id="27" name="研究模块_27">
            <a:extLst>
              <a:ext uri="{FF2B5EF4-FFF2-40B4-BE49-F238E27FC236}">
                <a16:creationId xmlns:a16="http://schemas.microsoft.com/office/drawing/2014/main" id="{139392C6-8A38-4CB4-A0D8-E59C6E9BFC6E}"/>
              </a:ext>
            </a:extLst>
          </p:cNvPr>
          <p:cNvSpPr>
            <a:spLocks noGrp="1"/>
          </p:cNvSpPr>
          <p:nvPr/>
        </p:nvSpPr>
        <p:spPr>
          <a:xfrm>
            <a:off x="2395728" y="790575"/>
            <a:ext cx="6473952" cy="6677025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8" name="模块标题背景_28">
            <a:extLst>
              <a:ext uri="{FF2B5EF4-FFF2-40B4-BE49-F238E27FC236}">
                <a16:creationId xmlns:a16="http://schemas.microsoft.com/office/drawing/2014/main" id="{8265C9F0-ABE8-40ED-8A13-0FD9CFB662CB}"/>
              </a:ext>
            </a:extLst>
          </p:cNvPr>
          <p:cNvSpPr>
            <a:spLocks noGrp="1"/>
          </p:cNvSpPr>
          <p:nvPr/>
        </p:nvSpPr>
        <p:spPr>
          <a:xfrm>
            <a:off x="2459736" y="854583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2E75B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9" name="模块标题_29">
            <a:extLst>
              <a:ext uri="{FF2B5EF4-FFF2-40B4-BE49-F238E27FC236}">
                <a16:creationId xmlns:a16="http://schemas.microsoft.com/office/drawing/2014/main" id="{5B297A9C-4584-4919-A55E-9C89CF38982B}"/>
              </a:ext>
            </a:extLst>
          </p:cNvPr>
          <p:cNvSpPr>
            <a:spLocks noGrp="1"/>
          </p:cNvSpPr>
          <p:nvPr/>
        </p:nvSpPr>
        <p:spPr>
          <a:xfrm>
            <a:off x="2638425" y="857250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施工扰动与航运运行响应</a:t>
            </a:r>
          </a:p>
        </p:txBody>
      </p:sp>
      <p:sp>
        <p:nvSpPr>
          <p:cNvPr id="30" name="施工扰动表征_30">
            <a:extLst>
              <a:ext uri="{FF2B5EF4-FFF2-40B4-BE49-F238E27FC236}">
                <a16:creationId xmlns:a16="http://schemas.microsoft.com/office/drawing/2014/main" id="{8E037D6A-715B-4994-A19F-D573C206C195}"/>
              </a:ext>
            </a:extLst>
          </p:cNvPr>
          <p:cNvSpPr>
            <a:spLocks noGrp="1"/>
          </p:cNvSpPr>
          <p:nvPr/>
        </p:nvSpPr>
        <p:spPr>
          <a:xfrm>
            <a:off x="2578608" y="1381125"/>
            <a:ext cx="1816608" cy="1028700"/>
          </a:xfrm>
          <a:prstGeom prst="roundRect">
            <a:avLst>
              <a:gd name="adj" fmla="val 9259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1" name="文字_31">
            <a:extLst>
              <a:ext uri="{FF2B5EF4-FFF2-40B4-BE49-F238E27FC236}">
                <a16:creationId xmlns:a16="http://schemas.microsoft.com/office/drawing/2014/main" id="{C2BAC2F1-CC52-484F-B559-9B947D4B359E}"/>
              </a:ext>
            </a:extLst>
          </p:cNvPr>
          <p:cNvSpPr>
            <a:spLocks noGrp="1"/>
          </p:cNvSpPr>
          <p:nvPr/>
        </p:nvSpPr>
        <p:spPr>
          <a:xfrm>
            <a:off x="2654808" y="1447800"/>
            <a:ext cx="166420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施工扰动表征</a:t>
            </a:r>
          </a:p>
        </p:txBody>
      </p:sp>
      <p:sp>
        <p:nvSpPr>
          <p:cNvPr id="32" name="文字_32">
            <a:extLst>
              <a:ext uri="{FF2B5EF4-FFF2-40B4-BE49-F238E27FC236}">
                <a16:creationId xmlns:a16="http://schemas.microsoft.com/office/drawing/2014/main" id="{C73D7BD9-44D2-40C7-AB99-2610ECB35495}"/>
              </a:ext>
            </a:extLst>
          </p:cNvPr>
          <p:cNvSpPr>
            <a:spLocks noGrp="1"/>
          </p:cNvSpPr>
          <p:nvPr/>
        </p:nvSpPr>
        <p:spPr>
          <a:xfrm>
            <a:off x="2683383" y="1847850"/>
            <a:ext cx="1607058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阶段、范围</a:t>
            </a:r>
            <a:r>
              <a:rPr lang="zh-CN" altLang="en-US" sz="1350" b="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强度</a:t>
            </a:r>
            <a:endParaRPr sz="1350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工期、检修</a:t>
            </a:r>
            <a:r>
              <a:rPr lang="zh-CN" altLang="en-US" sz="1350" b="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恢复</a:t>
            </a:r>
            <a:endParaRPr sz="1350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通航约束变化_33">
            <a:extLst>
              <a:ext uri="{FF2B5EF4-FFF2-40B4-BE49-F238E27FC236}">
                <a16:creationId xmlns:a16="http://schemas.microsoft.com/office/drawing/2014/main" id="{C4CD26A3-F19C-472D-A08A-368970DC0A05}"/>
              </a:ext>
            </a:extLst>
          </p:cNvPr>
          <p:cNvSpPr>
            <a:spLocks noGrp="1"/>
          </p:cNvSpPr>
          <p:nvPr/>
        </p:nvSpPr>
        <p:spPr>
          <a:xfrm>
            <a:off x="4724400" y="1381125"/>
            <a:ext cx="1816608" cy="1028700"/>
          </a:xfrm>
          <a:prstGeom prst="roundRect">
            <a:avLst>
              <a:gd name="adj" fmla="val 9259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4" name="文字_34">
            <a:extLst>
              <a:ext uri="{FF2B5EF4-FFF2-40B4-BE49-F238E27FC236}">
                <a16:creationId xmlns:a16="http://schemas.microsoft.com/office/drawing/2014/main" id="{151F7659-D244-4C6A-A764-1683043602E1}"/>
              </a:ext>
            </a:extLst>
          </p:cNvPr>
          <p:cNvSpPr>
            <a:spLocks noGrp="1"/>
          </p:cNvSpPr>
          <p:nvPr/>
        </p:nvSpPr>
        <p:spPr>
          <a:xfrm>
            <a:off x="4800600" y="1447800"/>
            <a:ext cx="166420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通航约束变化</a:t>
            </a:r>
          </a:p>
        </p:txBody>
      </p:sp>
      <p:sp>
        <p:nvSpPr>
          <p:cNvPr id="35" name="文字_35">
            <a:extLst>
              <a:ext uri="{FF2B5EF4-FFF2-40B4-BE49-F238E27FC236}">
                <a16:creationId xmlns:a16="http://schemas.microsoft.com/office/drawing/2014/main" id="{7C05D0DF-FBB3-4EE9-86D7-4F2439F15009}"/>
              </a:ext>
            </a:extLst>
          </p:cNvPr>
          <p:cNvSpPr>
            <a:spLocks noGrp="1"/>
          </p:cNvSpPr>
          <p:nvPr/>
        </p:nvSpPr>
        <p:spPr>
          <a:xfrm>
            <a:off x="4829175" y="1847850"/>
            <a:ext cx="1607058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通航时间</a:t>
            </a:r>
            <a:r>
              <a:rPr lang="zh-CN" altLang="en-US" sz="1350" b="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放行规则</a:t>
            </a:r>
            <a:endParaRPr sz="1350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设施可用</a:t>
            </a:r>
            <a:r>
              <a:rPr lang="zh-CN" altLang="en-US" sz="1350" b="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船型限制</a:t>
            </a:r>
            <a:endParaRPr sz="1350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施工扰动情景_36">
            <a:extLst>
              <a:ext uri="{FF2B5EF4-FFF2-40B4-BE49-F238E27FC236}">
                <a16:creationId xmlns:a16="http://schemas.microsoft.com/office/drawing/2014/main" id="{EFDC3BB5-2E96-49F4-BF71-37B3F2F33A9A}"/>
              </a:ext>
            </a:extLst>
          </p:cNvPr>
          <p:cNvSpPr>
            <a:spLocks noGrp="1"/>
          </p:cNvSpPr>
          <p:nvPr/>
        </p:nvSpPr>
        <p:spPr>
          <a:xfrm>
            <a:off x="6870192" y="1381125"/>
            <a:ext cx="1816608" cy="1028700"/>
          </a:xfrm>
          <a:prstGeom prst="roundRect">
            <a:avLst>
              <a:gd name="adj" fmla="val 9259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7" name="文字_37">
            <a:extLst>
              <a:ext uri="{FF2B5EF4-FFF2-40B4-BE49-F238E27FC236}">
                <a16:creationId xmlns:a16="http://schemas.microsoft.com/office/drawing/2014/main" id="{E66EA0CE-AFA3-4F5D-9927-DA77C4B6B99F}"/>
              </a:ext>
            </a:extLst>
          </p:cNvPr>
          <p:cNvSpPr>
            <a:spLocks noGrp="1"/>
          </p:cNvSpPr>
          <p:nvPr/>
        </p:nvSpPr>
        <p:spPr>
          <a:xfrm>
            <a:off x="6946392" y="1447800"/>
            <a:ext cx="166420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施工扰动情景</a:t>
            </a:r>
          </a:p>
        </p:txBody>
      </p:sp>
      <p:sp>
        <p:nvSpPr>
          <p:cNvPr id="38" name="文字_38">
            <a:extLst>
              <a:ext uri="{FF2B5EF4-FFF2-40B4-BE49-F238E27FC236}">
                <a16:creationId xmlns:a16="http://schemas.microsoft.com/office/drawing/2014/main" id="{FDC75616-EA25-4D7B-A421-43CB4494AD66}"/>
              </a:ext>
            </a:extLst>
          </p:cNvPr>
          <p:cNvSpPr>
            <a:spLocks noGrp="1"/>
          </p:cNvSpPr>
          <p:nvPr/>
        </p:nvSpPr>
        <p:spPr>
          <a:xfrm>
            <a:off x="6974967" y="1847850"/>
            <a:ext cx="1607058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常态与施工情景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水文与需求叠加</a:t>
            </a:r>
          </a:p>
        </p:txBody>
      </p:sp>
      <p:sp>
        <p:nvSpPr>
          <p:cNvPr id="39" name="流程箭头_39">
            <a:extLst>
              <a:ext uri="{FF2B5EF4-FFF2-40B4-BE49-F238E27FC236}">
                <a16:creationId xmlns:a16="http://schemas.microsoft.com/office/drawing/2014/main" id="{EEB53247-5968-4246-8CA1-F29D534BCB5E}"/>
              </a:ext>
            </a:extLst>
          </p:cNvPr>
          <p:cNvSpPr>
            <a:spLocks noGrp="1"/>
          </p:cNvSpPr>
          <p:nvPr/>
        </p:nvSpPr>
        <p:spPr>
          <a:xfrm>
            <a:off x="4431792" y="1800225"/>
            <a:ext cx="256032" cy="190500"/>
          </a:xfrm>
          <a:prstGeom prst="right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0" name="流程箭头_40">
            <a:extLst>
              <a:ext uri="{FF2B5EF4-FFF2-40B4-BE49-F238E27FC236}">
                <a16:creationId xmlns:a16="http://schemas.microsoft.com/office/drawing/2014/main" id="{7E21ED61-71F2-4036-B84B-1E0CB224EB8F}"/>
              </a:ext>
            </a:extLst>
          </p:cNvPr>
          <p:cNvSpPr>
            <a:spLocks noGrp="1"/>
          </p:cNvSpPr>
          <p:nvPr/>
        </p:nvSpPr>
        <p:spPr>
          <a:xfrm>
            <a:off x="6577584" y="1800225"/>
            <a:ext cx="256032" cy="190500"/>
          </a:xfrm>
          <a:prstGeom prst="right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1" name="连接线_41">
            <a:extLst>
              <a:ext uri="{FF2B5EF4-FFF2-40B4-BE49-F238E27FC236}">
                <a16:creationId xmlns:a16="http://schemas.microsoft.com/office/drawing/2014/main" id="{47B67F8D-7D62-4AF3-B5CD-488A72478F2C}"/>
              </a:ext>
            </a:extLst>
          </p:cNvPr>
          <p:cNvSpPr>
            <a:spLocks noGrp="1"/>
          </p:cNvSpPr>
          <p:nvPr/>
        </p:nvSpPr>
        <p:spPr>
          <a:xfrm>
            <a:off x="7778496" y="2428875"/>
            <a:ext cx="19050" cy="1143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2" name="连接线_42">
            <a:extLst>
              <a:ext uri="{FF2B5EF4-FFF2-40B4-BE49-F238E27FC236}">
                <a16:creationId xmlns:a16="http://schemas.microsoft.com/office/drawing/2014/main" id="{E8DF94EE-0112-4C45-893C-2DE8BFFB4739}"/>
              </a:ext>
            </a:extLst>
          </p:cNvPr>
          <p:cNvSpPr>
            <a:spLocks noGrp="1"/>
          </p:cNvSpPr>
          <p:nvPr/>
        </p:nvSpPr>
        <p:spPr>
          <a:xfrm>
            <a:off x="5638800" y="2543175"/>
            <a:ext cx="2139696" cy="1905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3" name="连接线_43">
            <a:extLst>
              <a:ext uri="{FF2B5EF4-FFF2-40B4-BE49-F238E27FC236}">
                <a16:creationId xmlns:a16="http://schemas.microsoft.com/office/drawing/2014/main" id="{02C4FB4C-7983-430F-81EE-EC9F266EFE93}"/>
              </a:ext>
            </a:extLst>
          </p:cNvPr>
          <p:cNvSpPr>
            <a:spLocks noGrp="1"/>
          </p:cNvSpPr>
          <p:nvPr/>
        </p:nvSpPr>
        <p:spPr>
          <a:xfrm>
            <a:off x="5638800" y="2552700"/>
            <a:ext cx="19050" cy="1143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4" name="连接线_44">
            <a:extLst>
              <a:ext uri="{FF2B5EF4-FFF2-40B4-BE49-F238E27FC236}">
                <a16:creationId xmlns:a16="http://schemas.microsoft.com/office/drawing/2014/main" id="{FCF25854-7A6D-4462-B76B-FD437DD45790}"/>
              </a:ext>
            </a:extLst>
          </p:cNvPr>
          <p:cNvSpPr>
            <a:spLocks noGrp="1"/>
          </p:cNvSpPr>
          <p:nvPr/>
        </p:nvSpPr>
        <p:spPr>
          <a:xfrm>
            <a:off x="4010025" y="2667000"/>
            <a:ext cx="3248025" cy="1905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5" name="流程箭头_45">
            <a:extLst>
              <a:ext uri="{FF2B5EF4-FFF2-40B4-BE49-F238E27FC236}">
                <a16:creationId xmlns:a16="http://schemas.microsoft.com/office/drawing/2014/main" id="{C8828C49-C7B1-4345-87CE-E7FFB91E23A1}"/>
              </a:ext>
            </a:extLst>
          </p:cNvPr>
          <p:cNvSpPr>
            <a:spLocks noGrp="1"/>
          </p:cNvSpPr>
          <p:nvPr/>
        </p:nvSpPr>
        <p:spPr>
          <a:xfrm>
            <a:off x="3933825" y="2676525"/>
            <a:ext cx="152400" cy="19050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6" name="流程箭头_46">
            <a:extLst>
              <a:ext uri="{FF2B5EF4-FFF2-40B4-BE49-F238E27FC236}">
                <a16:creationId xmlns:a16="http://schemas.microsoft.com/office/drawing/2014/main" id="{B82BFA36-4CE8-4243-BEEF-D7D0F43A80E8}"/>
              </a:ext>
            </a:extLst>
          </p:cNvPr>
          <p:cNvSpPr>
            <a:spLocks noGrp="1"/>
          </p:cNvSpPr>
          <p:nvPr/>
        </p:nvSpPr>
        <p:spPr>
          <a:xfrm>
            <a:off x="7181850" y="2676525"/>
            <a:ext cx="152400" cy="19050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7" name="容器_47">
            <a:extLst>
              <a:ext uri="{FF2B5EF4-FFF2-40B4-BE49-F238E27FC236}">
                <a16:creationId xmlns:a16="http://schemas.microsoft.com/office/drawing/2014/main" id="{B456F31F-511B-4488-919D-E48F7DCA3EF8}"/>
              </a:ext>
            </a:extLst>
          </p:cNvPr>
          <p:cNvSpPr>
            <a:spLocks noGrp="1"/>
          </p:cNvSpPr>
          <p:nvPr/>
        </p:nvSpPr>
        <p:spPr>
          <a:xfrm>
            <a:off x="2578608" y="2876550"/>
            <a:ext cx="2862072" cy="2952750"/>
          </a:xfrm>
          <a:prstGeom prst="roundRect">
            <a:avLst>
              <a:gd name="adj" fmla="val 2995"/>
            </a:avLst>
          </a:prstGeom>
          <a:solidFill>
            <a:srgbClr val="F6FAFE"/>
          </a:solidFill>
          <a:ln w="16193">
            <a:solidFill>
              <a:srgbClr val="2E75B6"/>
            </a:solidFill>
          </a:ln>
        </p:spPr>
      </p:sp>
      <p:sp>
        <p:nvSpPr>
          <p:cNvPr id="48" name="容器_48">
            <a:extLst>
              <a:ext uri="{FF2B5EF4-FFF2-40B4-BE49-F238E27FC236}">
                <a16:creationId xmlns:a16="http://schemas.microsoft.com/office/drawing/2014/main" id="{AB35EC32-53D7-4591-AC29-239D7164E529}"/>
              </a:ext>
            </a:extLst>
          </p:cNvPr>
          <p:cNvSpPr>
            <a:spLocks noGrp="1"/>
          </p:cNvSpPr>
          <p:nvPr/>
        </p:nvSpPr>
        <p:spPr>
          <a:xfrm>
            <a:off x="5824728" y="2876550"/>
            <a:ext cx="2862072" cy="2952750"/>
          </a:xfrm>
          <a:prstGeom prst="roundRect">
            <a:avLst>
              <a:gd name="adj" fmla="val 2995"/>
            </a:avLst>
          </a:prstGeom>
          <a:solidFill>
            <a:srgbClr val="F6FAFE"/>
          </a:solidFill>
          <a:ln w="16193">
            <a:solidFill>
              <a:srgbClr val="2E75B6"/>
            </a:solidFill>
          </a:ln>
        </p:spPr>
      </p:sp>
      <p:sp>
        <p:nvSpPr>
          <p:cNvPr id="49" name="文字_49">
            <a:extLst>
              <a:ext uri="{FF2B5EF4-FFF2-40B4-BE49-F238E27FC236}">
                <a16:creationId xmlns:a16="http://schemas.microsoft.com/office/drawing/2014/main" id="{F68B4646-00B3-4F19-8492-1E21D3EA1BE3}"/>
              </a:ext>
            </a:extLst>
          </p:cNvPr>
          <p:cNvSpPr>
            <a:spLocks noGrp="1"/>
          </p:cNvSpPr>
          <p:nvPr/>
        </p:nvSpPr>
        <p:spPr>
          <a:xfrm>
            <a:off x="2667000" y="2952750"/>
            <a:ext cx="26765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运输能力变化</a:t>
            </a:r>
          </a:p>
        </p:txBody>
      </p:sp>
      <p:sp>
        <p:nvSpPr>
          <p:cNvPr id="50" name="文字_50">
            <a:extLst>
              <a:ext uri="{FF2B5EF4-FFF2-40B4-BE49-F238E27FC236}">
                <a16:creationId xmlns:a16="http://schemas.microsoft.com/office/drawing/2014/main" id="{ECBD5C32-0B37-4718-A16A-E858FD202AF1}"/>
              </a:ext>
            </a:extLst>
          </p:cNvPr>
          <p:cNvSpPr>
            <a:spLocks noGrp="1"/>
          </p:cNvSpPr>
          <p:nvPr/>
        </p:nvSpPr>
        <p:spPr>
          <a:xfrm>
            <a:off x="5915025" y="2952750"/>
            <a:ext cx="26765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需求与到达变化</a:t>
            </a:r>
          </a:p>
        </p:txBody>
      </p:sp>
      <p:sp>
        <p:nvSpPr>
          <p:cNvPr id="51" name="能力约束_51">
            <a:extLst>
              <a:ext uri="{FF2B5EF4-FFF2-40B4-BE49-F238E27FC236}">
                <a16:creationId xmlns:a16="http://schemas.microsoft.com/office/drawing/2014/main" id="{CD749E83-A2AF-45C7-A5CE-7D1BB2C04C03}"/>
              </a:ext>
            </a:extLst>
          </p:cNvPr>
          <p:cNvSpPr>
            <a:spLocks noGrp="1"/>
          </p:cNvSpPr>
          <p:nvPr/>
        </p:nvSpPr>
        <p:spPr>
          <a:xfrm>
            <a:off x="2667000" y="3333750"/>
            <a:ext cx="2676525" cy="838200"/>
          </a:xfrm>
          <a:prstGeom prst="roundRect">
            <a:avLst>
              <a:gd name="adj" fmla="val 11364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2" name="文字_52">
            <a:extLst>
              <a:ext uri="{FF2B5EF4-FFF2-40B4-BE49-F238E27FC236}">
                <a16:creationId xmlns:a16="http://schemas.microsoft.com/office/drawing/2014/main" id="{B263A993-76E1-44AD-B4B4-C83A9C2B0494}"/>
              </a:ext>
            </a:extLst>
          </p:cNvPr>
          <p:cNvSpPr>
            <a:spLocks noGrp="1"/>
          </p:cNvSpPr>
          <p:nvPr/>
        </p:nvSpPr>
        <p:spPr>
          <a:xfrm>
            <a:off x="2743200" y="3400425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能力约束</a:t>
            </a:r>
          </a:p>
        </p:txBody>
      </p:sp>
      <p:sp>
        <p:nvSpPr>
          <p:cNvPr id="53" name="文字_53">
            <a:extLst>
              <a:ext uri="{FF2B5EF4-FFF2-40B4-BE49-F238E27FC236}">
                <a16:creationId xmlns:a16="http://schemas.microsoft.com/office/drawing/2014/main" id="{D99702E2-AD08-4ADF-9B59-D1CC1EBEF545}"/>
              </a:ext>
            </a:extLst>
          </p:cNvPr>
          <p:cNvSpPr>
            <a:spLocks noGrp="1"/>
          </p:cNvSpPr>
          <p:nvPr/>
        </p:nvSpPr>
        <p:spPr>
          <a:xfrm>
            <a:off x="2771775" y="3714750"/>
            <a:ext cx="2466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航道、船闸与船舶运力</a:t>
            </a:r>
          </a:p>
        </p:txBody>
      </p:sp>
      <p:sp>
        <p:nvSpPr>
          <p:cNvPr id="54" name="能力折减_54">
            <a:extLst>
              <a:ext uri="{FF2B5EF4-FFF2-40B4-BE49-F238E27FC236}">
                <a16:creationId xmlns:a16="http://schemas.microsoft.com/office/drawing/2014/main" id="{DF2B4DDF-7CB8-48E4-B3DA-ADD11B48FB4F}"/>
              </a:ext>
            </a:extLst>
          </p:cNvPr>
          <p:cNvSpPr>
            <a:spLocks noGrp="1"/>
          </p:cNvSpPr>
          <p:nvPr/>
        </p:nvSpPr>
        <p:spPr>
          <a:xfrm>
            <a:off x="2667000" y="4276725"/>
            <a:ext cx="2676525" cy="66675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5" name="文字_55">
            <a:extLst>
              <a:ext uri="{FF2B5EF4-FFF2-40B4-BE49-F238E27FC236}">
                <a16:creationId xmlns:a16="http://schemas.microsoft.com/office/drawing/2014/main" id="{B5CAA6AE-EA5C-412B-A976-8436EA745629}"/>
              </a:ext>
            </a:extLst>
          </p:cNvPr>
          <p:cNvSpPr>
            <a:spLocks noGrp="1"/>
          </p:cNvSpPr>
          <p:nvPr/>
        </p:nvSpPr>
        <p:spPr>
          <a:xfrm>
            <a:off x="2743200" y="4343400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能力折减</a:t>
            </a:r>
          </a:p>
        </p:txBody>
      </p:sp>
      <p:sp>
        <p:nvSpPr>
          <p:cNvPr id="56" name="文字_56">
            <a:extLst>
              <a:ext uri="{FF2B5EF4-FFF2-40B4-BE49-F238E27FC236}">
                <a16:creationId xmlns:a16="http://schemas.microsoft.com/office/drawing/2014/main" id="{2ED01D95-A461-4503-B20D-0F5E6089D4B9}"/>
              </a:ext>
            </a:extLst>
          </p:cNvPr>
          <p:cNvSpPr>
            <a:spLocks noGrp="1"/>
          </p:cNvSpPr>
          <p:nvPr/>
        </p:nvSpPr>
        <p:spPr>
          <a:xfrm>
            <a:off x="2771775" y="4657725"/>
            <a:ext cx="24669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折减幅度与持续时间</a:t>
            </a:r>
          </a:p>
        </p:txBody>
      </p:sp>
      <p:sp>
        <p:nvSpPr>
          <p:cNvPr id="57" name="时空差异_57">
            <a:extLst>
              <a:ext uri="{FF2B5EF4-FFF2-40B4-BE49-F238E27FC236}">
                <a16:creationId xmlns:a16="http://schemas.microsoft.com/office/drawing/2014/main" id="{5E839F80-7181-484C-9FC2-34206FA8589E}"/>
              </a:ext>
            </a:extLst>
          </p:cNvPr>
          <p:cNvSpPr>
            <a:spLocks noGrp="1"/>
          </p:cNvSpPr>
          <p:nvPr/>
        </p:nvSpPr>
        <p:spPr>
          <a:xfrm>
            <a:off x="2667000" y="5048250"/>
            <a:ext cx="2676525" cy="66675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8" name="文字_58">
            <a:extLst>
              <a:ext uri="{FF2B5EF4-FFF2-40B4-BE49-F238E27FC236}">
                <a16:creationId xmlns:a16="http://schemas.microsoft.com/office/drawing/2014/main" id="{43D73B42-80BA-459A-8B9A-A9FDFF7551A4}"/>
              </a:ext>
            </a:extLst>
          </p:cNvPr>
          <p:cNvSpPr>
            <a:spLocks noGrp="1"/>
          </p:cNvSpPr>
          <p:nvPr/>
        </p:nvSpPr>
        <p:spPr>
          <a:xfrm>
            <a:off x="2743200" y="5114925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时空差异</a:t>
            </a:r>
          </a:p>
        </p:txBody>
      </p:sp>
      <p:sp>
        <p:nvSpPr>
          <p:cNvPr id="59" name="文字_59">
            <a:extLst>
              <a:ext uri="{FF2B5EF4-FFF2-40B4-BE49-F238E27FC236}">
                <a16:creationId xmlns:a16="http://schemas.microsoft.com/office/drawing/2014/main" id="{885EBF2A-0673-4A9F-87C2-4E796DA5215E}"/>
              </a:ext>
            </a:extLst>
          </p:cNvPr>
          <p:cNvSpPr>
            <a:spLocks noGrp="1"/>
          </p:cNvSpPr>
          <p:nvPr/>
        </p:nvSpPr>
        <p:spPr>
          <a:xfrm>
            <a:off x="2771775" y="5429250"/>
            <a:ext cx="24669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能力恢复与瓶颈分布</a:t>
            </a:r>
          </a:p>
        </p:txBody>
      </p:sp>
      <p:sp>
        <p:nvSpPr>
          <p:cNvPr id="60" name="需求与到达_60">
            <a:extLst>
              <a:ext uri="{FF2B5EF4-FFF2-40B4-BE49-F238E27FC236}">
                <a16:creationId xmlns:a16="http://schemas.microsoft.com/office/drawing/2014/main" id="{629456BA-A5B0-443A-BAAF-03714DFAF5BD}"/>
              </a:ext>
            </a:extLst>
          </p:cNvPr>
          <p:cNvSpPr>
            <a:spLocks noGrp="1"/>
          </p:cNvSpPr>
          <p:nvPr/>
        </p:nvSpPr>
        <p:spPr>
          <a:xfrm>
            <a:off x="5915025" y="3333750"/>
            <a:ext cx="2676525" cy="838200"/>
          </a:xfrm>
          <a:prstGeom prst="roundRect">
            <a:avLst>
              <a:gd name="adj" fmla="val 11364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1" name="文字_61">
            <a:extLst>
              <a:ext uri="{FF2B5EF4-FFF2-40B4-BE49-F238E27FC236}">
                <a16:creationId xmlns:a16="http://schemas.microsoft.com/office/drawing/2014/main" id="{95EEE848-C702-43C5-8072-6D61842237C1}"/>
              </a:ext>
            </a:extLst>
          </p:cNvPr>
          <p:cNvSpPr>
            <a:spLocks noGrp="1"/>
          </p:cNvSpPr>
          <p:nvPr/>
        </p:nvSpPr>
        <p:spPr>
          <a:xfrm>
            <a:off x="5991225" y="3400425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</a:t>
            </a:r>
          </a:p>
        </p:txBody>
      </p:sp>
      <p:sp>
        <p:nvSpPr>
          <p:cNvPr id="62" name="文字_62">
            <a:extLst>
              <a:ext uri="{FF2B5EF4-FFF2-40B4-BE49-F238E27FC236}">
                <a16:creationId xmlns:a16="http://schemas.microsoft.com/office/drawing/2014/main" id="{34B9F7BA-3BF7-498F-B464-01123909CC1D}"/>
              </a:ext>
            </a:extLst>
          </p:cNvPr>
          <p:cNvSpPr>
            <a:spLocks noGrp="1"/>
          </p:cNvSpPr>
          <p:nvPr/>
        </p:nvSpPr>
        <p:spPr>
          <a:xfrm>
            <a:off x="6019800" y="3714750"/>
            <a:ext cx="2466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货类、流向与到达节奏</a:t>
            </a:r>
            <a:endParaRPr sz="1313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常态波动_63">
            <a:extLst>
              <a:ext uri="{FF2B5EF4-FFF2-40B4-BE49-F238E27FC236}">
                <a16:creationId xmlns:a16="http://schemas.microsoft.com/office/drawing/2014/main" id="{1A61DDDD-884C-47A2-AA08-6E89F56AAF21}"/>
              </a:ext>
            </a:extLst>
          </p:cNvPr>
          <p:cNvSpPr>
            <a:spLocks noGrp="1"/>
          </p:cNvSpPr>
          <p:nvPr/>
        </p:nvSpPr>
        <p:spPr>
          <a:xfrm>
            <a:off x="5915025" y="4276725"/>
            <a:ext cx="2676525" cy="66675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4" name="文字_64">
            <a:extLst>
              <a:ext uri="{FF2B5EF4-FFF2-40B4-BE49-F238E27FC236}">
                <a16:creationId xmlns:a16="http://schemas.microsoft.com/office/drawing/2014/main" id="{F223D80C-1E16-4348-A136-42471D5FBCA7}"/>
              </a:ext>
            </a:extLst>
          </p:cNvPr>
          <p:cNvSpPr>
            <a:spLocks noGrp="1"/>
          </p:cNvSpPr>
          <p:nvPr/>
        </p:nvSpPr>
        <p:spPr>
          <a:xfrm>
            <a:off x="5991225" y="4343400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常态波动</a:t>
            </a:r>
          </a:p>
        </p:txBody>
      </p:sp>
      <p:sp>
        <p:nvSpPr>
          <p:cNvPr id="65" name="文字_65">
            <a:extLst>
              <a:ext uri="{FF2B5EF4-FFF2-40B4-BE49-F238E27FC236}">
                <a16:creationId xmlns:a16="http://schemas.microsoft.com/office/drawing/2014/main" id="{9537AA7C-F3CC-4400-8847-2DB405D57977}"/>
              </a:ext>
            </a:extLst>
          </p:cNvPr>
          <p:cNvSpPr>
            <a:spLocks noGrp="1"/>
          </p:cNvSpPr>
          <p:nvPr/>
        </p:nvSpPr>
        <p:spPr>
          <a:xfrm>
            <a:off x="6019800" y="4657725"/>
            <a:ext cx="24669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周期、季节与突发变化</a:t>
            </a:r>
          </a:p>
        </p:txBody>
      </p:sp>
      <p:sp>
        <p:nvSpPr>
          <p:cNvPr id="66" name="施工影响_66">
            <a:extLst>
              <a:ext uri="{FF2B5EF4-FFF2-40B4-BE49-F238E27FC236}">
                <a16:creationId xmlns:a16="http://schemas.microsoft.com/office/drawing/2014/main" id="{DD415B62-D2ED-4488-A20F-2E1A6948E0D1}"/>
              </a:ext>
            </a:extLst>
          </p:cNvPr>
          <p:cNvSpPr>
            <a:spLocks noGrp="1"/>
          </p:cNvSpPr>
          <p:nvPr/>
        </p:nvSpPr>
        <p:spPr>
          <a:xfrm>
            <a:off x="5915025" y="5048250"/>
            <a:ext cx="2676525" cy="66675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7" name="文字_67">
            <a:extLst>
              <a:ext uri="{FF2B5EF4-FFF2-40B4-BE49-F238E27FC236}">
                <a16:creationId xmlns:a16="http://schemas.microsoft.com/office/drawing/2014/main" id="{221ABC27-608B-4F9B-98E8-2451BB5CF2B5}"/>
              </a:ext>
            </a:extLst>
          </p:cNvPr>
          <p:cNvSpPr>
            <a:spLocks noGrp="1"/>
          </p:cNvSpPr>
          <p:nvPr/>
        </p:nvSpPr>
        <p:spPr>
          <a:xfrm>
            <a:off x="5991225" y="5114925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施工影响</a:t>
            </a:r>
          </a:p>
        </p:txBody>
      </p:sp>
      <p:sp>
        <p:nvSpPr>
          <p:cNvPr id="68" name="文字_68">
            <a:extLst>
              <a:ext uri="{FF2B5EF4-FFF2-40B4-BE49-F238E27FC236}">
                <a16:creationId xmlns:a16="http://schemas.microsoft.com/office/drawing/2014/main" id="{DA3680D2-C93A-4030-8EE0-864AEC82C438}"/>
              </a:ext>
            </a:extLst>
          </p:cNvPr>
          <p:cNvSpPr>
            <a:spLocks noGrp="1"/>
          </p:cNvSpPr>
          <p:nvPr/>
        </p:nvSpPr>
        <p:spPr>
          <a:xfrm>
            <a:off x="6019800" y="5429250"/>
            <a:ext cx="24669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变化幅度、时滞与货类差异</a:t>
            </a:r>
          </a:p>
        </p:txBody>
      </p:sp>
      <p:sp>
        <p:nvSpPr>
          <p:cNvPr id="69" name="连接线_69">
            <a:extLst>
              <a:ext uri="{FF2B5EF4-FFF2-40B4-BE49-F238E27FC236}">
                <a16:creationId xmlns:a16="http://schemas.microsoft.com/office/drawing/2014/main" id="{7E2023E1-B6AC-43C1-9708-176938A0C64D}"/>
              </a:ext>
            </a:extLst>
          </p:cNvPr>
          <p:cNvSpPr>
            <a:spLocks noGrp="1"/>
          </p:cNvSpPr>
          <p:nvPr/>
        </p:nvSpPr>
        <p:spPr>
          <a:xfrm>
            <a:off x="4010025" y="5905500"/>
            <a:ext cx="19050" cy="762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0" name="连接线_70">
            <a:extLst>
              <a:ext uri="{FF2B5EF4-FFF2-40B4-BE49-F238E27FC236}">
                <a16:creationId xmlns:a16="http://schemas.microsoft.com/office/drawing/2014/main" id="{95FCCE1E-2061-40E3-B4D5-8CA0DF3A26A8}"/>
              </a:ext>
            </a:extLst>
          </p:cNvPr>
          <p:cNvSpPr>
            <a:spLocks noGrp="1"/>
          </p:cNvSpPr>
          <p:nvPr/>
        </p:nvSpPr>
        <p:spPr>
          <a:xfrm>
            <a:off x="7258050" y="5905500"/>
            <a:ext cx="19050" cy="762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1" name="连接线_71">
            <a:extLst>
              <a:ext uri="{FF2B5EF4-FFF2-40B4-BE49-F238E27FC236}">
                <a16:creationId xmlns:a16="http://schemas.microsoft.com/office/drawing/2014/main" id="{40653072-B33C-4175-9063-ABBA15E28A9C}"/>
              </a:ext>
            </a:extLst>
          </p:cNvPr>
          <p:cNvSpPr>
            <a:spLocks noGrp="1"/>
          </p:cNvSpPr>
          <p:nvPr/>
        </p:nvSpPr>
        <p:spPr>
          <a:xfrm>
            <a:off x="4010025" y="5981700"/>
            <a:ext cx="3248025" cy="1905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2" name="流程箭头_72">
            <a:extLst>
              <a:ext uri="{FF2B5EF4-FFF2-40B4-BE49-F238E27FC236}">
                <a16:creationId xmlns:a16="http://schemas.microsoft.com/office/drawing/2014/main" id="{2E2C6C30-5371-484E-9BD5-647F39D7CAAC}"/>
              </a:ext>
            </a:extLst>
          </p:cNvPr>
          <p:cNvSpPr>
            <a:spLocks noGrp="1"/>
          </p:cNvSpPr>
          <p:nvPr/>
        </p:nvSpPr>
        <p:spPr>
          <a:xfrm>
            <a:off x="5562600" y="5991225"/>
            <a:ext cx="152400" cy="13335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3" name="供需失配与运输服务响应_73">
            <a:extLst>
              <a:ext uri="{FF2B5EF4-FFF2-40B4-BE49-F238E27FC236}">
                <a16:creationId xmlns:a16="http://schemas.microsoft.com/office/drawing/2014/main" id="{DDD2DB27-BDEE-462D-B0B1-D7181BC66980}"/>
              </a:ext>
            </a:extLst>
          </p:cNvPr>
          <p:cNvSpPr>
            <a:spLocks noGrp="1"/>
          </p:cNvSpPr>
          <p:nvPr/>
        </p:nvSpPr>
        <p:spPr>
          <a:xfrm>
            <a:off x="2578608" y="6191250"/>
            <a:ext cx="6108192" cy="1152525"/>
          </a:xfrm>
          <a:prstGeom prst="roundRect">
            <a:avLst>
              <a:gd name="adj" fmla="val 8264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4" name="文字_74">
            <a:extLst>
              <a:ext uri="{FF2B5EF4-FFF2-40B4-BE49-F238E27FC236}">
                <a16:creationId xmlns:a16="http://schemas.microsoft.com/office/drawing/2014/main" id="{88B01A74-DE08-45B9-B3AC-0E8511222DED}"/>
              </a:ext>
            </a:extLst>
          </p:cNvPr>
          <p:cNvSpPr>
            <a:spLocks noGrp="1"/>
          </p:cNvSpPr>
          <p:nvPr/>
        </p:nvSpPr>
        <p:spPr>
          <a:xfrm>
            <a:off x="2654808" y="6257925"/>
            <a:ext cx="595579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供需失配与运输服务响应</a:t>
            </a:r>
          </a:p>
        </p:txBody>
      </p:sp>
      <p:sp>
        <p:nvSpPr>
          <p:cNvPr id="75" name="文字_75">
            <a:extLst>
              <a:ext uri="{FF2B5EF4-FFF2-40B4-BE49-F238E27FC236}">
                <a16:creationId xmlns:a16="http://schemas.microsoft.com/office/drawing/2014/main" id="{175F8366-A46F-427C-825D-151AEAAE3E52}"/>
              </a:ext>
            </a:extLst>
          </p:cNvPr>
          <p:cNvSpPr>
            <a:spLocks noGrp="1"/>
          </p:cNvSpPr>
          <p:nvPr/>
        </p:nvSpPr>
        <p:spPr>
          <a:xfrm>
            <a:off x="2683383" y="6600825"/>
            <a:ext cx="5898642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通过量与货物积压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排队等待与船期偏移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港航衔接、运输时效与交付可靠性</a:t>
            </a:r>
          </a:p>
        </p:txBody>
      </p:sp>
      <p:sp>
        <p:nvSpPr>
          <p:cNvPr id="76" name="流程箭头_76">
            <a:extLst>
              <a:ext uri="{FF2B5EF4-FFF2-40B4-BE49-F238E27FC236}">
                <a16:creationId xmlns:a16="http://schemas.microsoft.com/office/drawing/2014/main" id="{D5AD84F9-5FD3-4577-BAE0-605C8FD11D6B}"/>
              </a:ext>
            </a:extLst>
          </p:cNvPr>
          <p:cNvSpPr>
            <a:spLocks noGrp="1"/>
          </p:cNvSpPr>
          <p:nvPr/>
        </p:nvSpPr>
        <p:spPr>
          <a:xfrm>
            <a:off x="5562600" y="7486650"/>
            <a:ext cx="152400" cy="15240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7" name="研究模块_77">
            <a:extLst>
              <a:ext uri="{FF2B5EF4-FFF2-40B4-BE49-F238E27FC236}">
                <a16:creationId xmlns:a16="http://schemas.microsoft.com/office/drawing/2014/main" id="{5FB5BB77-660C-49F8-9C23-605DA91EE02B}"/>
              </a:ext>
            </a:extLst>
          </p:cNvPr>
          <p:cNvSpPr>
            <a:spLocks noGrp="1"/>
          </p:cNvSpPr>
          <p:nvPr/>
        </p:nvSpPr>
        <p:spPr>
          <a:xfrm>
            <a:off x="2395728" y="7658100"/>
            <a:ext cx="6473952" cy="3800475"/>
          </a:xfrm>
          <a:prstGeom prst="roundRect">
            <a:avLst>
              <a:gd name="adj" fmla="val 2506"/>
            </a:avLst>
          </a:prstGeom>
          <a:solidFill>
            <a:srgbClr val="FFFFFF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8" name="模块标题背景_78">
            <a:extLst>
              <a:ext uri="{FF2B5EF4-FFF2-40B4-BE49-F238E27FC236}">
                <a16:creationId xmlns:a16="http://schemas.microsoft.com/office/drawing/2014/main" id="{1A47A5E3-2695-4902-964C-0891C1823D90}"/>
              </a:ext>
            </a:extLst>
          </p:cNvPr>
          <p:cNvSpPr>
            <a:spLocks noGrp="1"/>
          </p:cNvSpPr>
          <p:nvPr/>
        </p:nvSpPr>
        <p:spPr>
          <a:xfrm>
            <a:off x="2459736" y="7722108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2186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9" name="模块标题_79">
            <a:extLst>
              <a:ext uri="{FF2B5EF4-FFF2-40B4-BE49-F238E27FC236}">
                <a16:creationId xmlns:a16="http://schemas.microsoft.com/office/drawing/2014/main" id="{E9ED1DCC-1E95-471A-9E2E-CE01E9A6DFD1}"/>
              </a:ext>
            </a:extLst>
          </p:cNvPr>
          <p:cNvSpPr>
            <a:spLocks noGrp="1"/>
          </p:cNvSpPr>
          <p:nvPr/>
        </p:nvSpPr>
        <p:spPr>
          <a:xfrm>
            <a:off x="2638425" y="7724775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运输组织调整与运行反馈</a:t>
            </a:r>
          </a:p>
        </p:txBody>
      </p:sp>
      <p:sp>
        <p:nvSpPr>
          <p:cNvPr id="80" name="通航限制与运输服务变化_80">
            <a:extLst>
              <a:ext uri="{FF2B5EF4-FFF2-40B4-BE49-F238E27FC236}">
                <a16:creationId xmlns:a16="http://schemas.microsoft.com/office/drawing/2014/main" id="{93EDCCA6-6865-4B2D-93B9-208F7E36EFBE}"/>
              </a:ext>
            </a:extLst>
          </p:cNvPr>
          <p:cNvSpPr>
            <a:spLocks noGrp="1"/>
          </p:cNvSpPr>
          <p:nvPr/>
        </p:nvSpPr>
        <p:spPr>
          <a:xfrm>
            <a:off x="2578608" y="8210550"/>
            <a:ext cx="6108192" cy="666750"/>
          </a:xfrm>
          <a:prstGeom prst="roundRect">
            <a:avLst>
              <a:gd name="adj" fmla="val 1428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1" name="文字_81">
            <a:extLst>
              <a:ext uri="{FF2B5EF4-FFF2-40B4-BE49-F238E27FC236}">
                <a16:creationId xmlns:a16="http://schemas.microsoft.com/office/drawing/2014/main" id="{99602CDF-DF72-4543-8639-B9638AE2E6E3}"/>
              </a:ext>
            </a:extLst>
          </p:cNvPr>
          <p:cNvSpPr>
            <a:spLocks noGrp="1"/>
          </p:cNvSpPr>
          <p:nvPr/>
        </p:nvSpPr>
        <p:spPr>
          <a:xfrm>
            <a:off x="2654808" y="8277225"/>
            <a:ext cx="5955792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通航限制与运输服务变化</a:t>
            </a:r>
          </a:p>
        </p:txBody>
      </p:sp>
      <p:sp>
        <p:nvSpPr>
          <p:cNvPr id="82" name="文字_82">
            <a:extLst>
              <a:ext uri="{FF2B5EF4-FFF2-40B4-BE49-F238E27FC236}">
                <a16:creationId xmlns:a16="http://schemas.microsoft.com/office/drawing/2014/main" id="{19309BDA-B6F5-4024-BCAB-F5BBA0C71B51}"/>
              </a:ext>
            </a:extLst>
          </p:cNvPr>
          <p:cNvSpPr>
            <a:spLocks noGrp="1"/>
          </p:cNvSpPr>
          <p:nvPr/>
        </p:nvSpPr>
        <p:spPr>
          <a:xfrm>
            <a:off x="2683383" y="8582025"/>
            <a:ext cx="5898642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待闸、船期与港航衔接变化</a:t>
            </a:r>
          </a:p>
        </p:txBody>
      </p:sp>
      <p:sp>
        <p:nvSpPr>
          <p:cNvPr id="83" name="连接线_83">
            <a:extLst>
              <a:ext uri="{FF2B5EF4-FFF2-40B4-BE49-F238E27FC236}">
                <a16:creationId xmlns:a16="http://schemas.microsoft.com/office/drawing/2014/main" id="{C67DFCE2-3633-461F-A7B5-A093B650C8D9}"/>
              </a:ext>
            </a:extLst>
          </p:cNvPr>
          <p:cNvSpPr>
            <a:spLocks noGrp="1"/>
          </p:cNvSpPr>
          <p:nvPr/>
        </p:nvSpPr>
        <p:spPr>
          <a:xfrm>
            <a:off x="5638800" y="8867775"/>
            <a:ext cx="19050" cy="1143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4" name="连接线_84">
            <a:extLst>
              <a:ext uri="{FF2B5EF4-FFF2-40B4-BE49-F238E27FC236}">
                <a16:creationId xmlns:a16="http://schemas.microsoft.com/office/drawing/2014/main" id="{A3702AEB-70EE-426D-9F11-1E8895321953}"/>
              </a:ext>
            </a:extLst>
          </p:cNvPr>
          <p:cNvSpPr>
            <a:spLocks noGrp="1"/>
          </p:cNvSpPr>
          <p:nvPr/>
        </p:nvSpPr>
        <p:spPr>
          <a:xfrm>
            <a:off x="4010025" y="8982075"/>
            <a:ext cx="324802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5" name="流程箭头_85">
            <a:extLst>
              <a:ext uri="{FF2B5EF4-FFF2-40B4-BE49-F238E27FC236}">
                <a16:creationId xmlns:a16="http://schemas.microsoft.com/office/drawing/2014/main" id="{7A71D8AD-8755-4559-BF92-8F75464DC566}"/>
              </a:ext>
            </a:extLst>
          </p:cNvPr>
          <p:cNvSpPr>
            <a:spLocks noGrp="1"/>
          </p:cNvSpPr>
          <p:nvPr/>
        </p:nvSpPr>
        <p:spPr>
          <a:xfrm>
            <a:off x="3933825" y="8991600"/>
            <a:ext cx="152400" cy="19050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6" name="流程箭头_86">
            <a:extLst>
              <a:ext uri="{FF2B5EF4-FFF2-40B4-BE49-F238E27FC236}">
                <a16:creationId xmlns:a16="http://schemas.microsoft.com/office/drawing/2014/main" id="{3A3D335C-FF65-4325-BB99-1C3373C08B62}"/>
              </a:ext>
            </a:extLst>
          </p:cNvPr>
          <p:cNvSpPr>
            <a:spLocks noGrp="1"/>
          </p:cNvSpPr>
          <p:nvPr/>
        </p:nvSpPr>
        <p:spPr>
          <a:xfrm>
            <a:off x="7181850" y="8991600"/>
            <a:ext cx="152400" cy="19050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7" name="船舶组织调整_87">
            <a:extLst>
              <a:ext uri="{FF2B5EF4-FFF2-40B4-BE49-F238E27FC236}">
                <a16:creationId xmlns:a16="http://schemas.microsoft.com/office/drawing/2014/main" id="{9F32A2F0-D328-44E1-B4E7-968105B90D15}"/>
              </a:ext>
            </a:extLst>
          </p:cNvPr>
          <p:cNvSpPr>
            <a:spLocks noGrp="1"/>
          </p:cNvSpPr>
          <p:nvPr/>
        </p:nvSpPr>
        <p:spPr>
          <a:xfrm>
            <a:off x="2578608" y="9201150"/>
            <a:ext cx="2862072" cy="1133475"/>
          </a:xfrm>
          <a:prstGeom prst="roundRect">
            <a:avLst>
              <a:gd name="adj" fmla="val 8403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8" name="文字_88">
            <a:extLst>
              <a:ext uri="{FF2B5EF4-FFF2-40B4-BE49-F238E27FC236}">
                <a16:creationId xmlns:a16="http://schemas.microsoft.com/office/drawing/2014/main" id="{036BEF02-A320-486F-9A61-B3DE3F2E7CD7}"/>
              </a:ext>
            </a:extLst>
          </p:cNvPr>
          <p:cNvSpPr>
            <a:spLocks noGrp="1"/>
          </p:cNvSpPr>
          <p:nvPr/>
        </p:nvSpPr>
        <p:spPr>
          <a:xfrm>
            <a:off x="2654808" y="9267825"/>
            <a:ext cx="270967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船舶组织调整</a:t>
            </a:r>
          </a:p>
        </p:txBody>
      </p:sp>
      <p:sp>
        <p:nvSpPr>
          <p:cNvPr id="89" name="文字_89">
            <a:extLst>
              <a:ext uri="{FF2B5EF4-FFF2-40B4-BE49-F238E27FC236}">
                <a16:creationId xmlns:a16="http://schemas.microsoft.com/office/drawing/2014/main" id="{C06D1AC5-DB53-497A-BEC5-7CB4FF85EE5D}"/>
              </a:ext>
            </a:extLst>
          </p:cNvPr>
          <p:cNvSpPr>
            <a:spLocks noGrp="1"/>
          </p:cNvSpPr>
          <p:nvPr/>
        </p:nvSpPr>
        <p:spPr>
          <a:xfrm>
            <a:off x="2683383" y="9610725"/>
            <a:ext cx="2652522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航次与待闸安排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船型及通道变化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港航作业衔接</a:t>
            </a:r>
          </a:p>
        </p:txBody>
      </p:sp>
      <p:sp>
        <p:nvSpPr>
          <p:cNvPr id="90" name="货物发运调整_90">
            <a:extLst>
              <a:ext uri="{FF2B5EF4-FFF2-40B4-BE49-F238E27FC236}">
                <a16:creationId xmlns:a16="http://schemas.microsoft.com/office/drawing/2014/main" id="{1299C0C8-C864-46B7-B234-8C64D57416B6}"/>
              </a:ext>
            </a:extLst>
          </p:cNvPr>
          <p:cNvSpPr>
            <a:spLocks noGrp="1"/>
          </p:cNvSpPr>
          <p:nvPr/>
        </p:nvSpPr>
        <p:spPr>
          <a:xfrm>
            <a:off x="5824728" y="9201150"/>
            <a:ext cx="2862072" cy="1133475"/>
          </a:xfrm>
          <a:prstGeom prst="roundRect">
            <a:avLst>
              <a:gd name="adj" fmla="val 8403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91" name="文字_91">
            <a:extLst>
              <a:ext uri="{FF2B5EF4-FFF2-40B4-BE49-F238E27FC236}">
                <a16:creationId xmlns:a16="http://schemas.microsoft.com/office/drawing/2014/main" id="{CC994F48-95F1-4612-959E-C1FEE2E5A838}"/>
              </a:ext>
            </a:extLst>
          </p:cNvPr>
          <p:cNvSpPr>
            <a:spLocks noGrp="1"/>
          </p:cNvSpPr>
          <p:nvPr/>
        </p:nvSpPr>
        <p:spPr>
          <a:xfrm>
            <a:off x="5900928" y="9267825"/>
            <a:ext cx="270967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货物发运调整</a:t>
            </a:r>
          </a:p>
        </p:txBody>
      </p:sp>
      <p:sp>
        <p:nvSpPr>
          <p:cNvPr id="92" name="文字_92">
            <a:extLst>
              <a:ext uri="{FF2B5EF4-FFF2-40B4-BE49-F238E27FC236}">
                <a16:creationId xmlns:a16="http://schemas.microsoft.com/office/drawing/2014/main" id="{5DBD1F1F-915C-4EE1-96C7-482106EC9C6B}"/>
              </a:ext>
            </a:extLst>
          </p:cNvPr>
          <p:cNvSpPr>
            <a:spLocks noGrp="1"/>
          </p:cNvSpPr>
          <p:nvPr/>
        </p:nvSpPr>
        <p:spPr>
          <a:xfrm>
            <a:off x="5929503" y="9610725"/>
            <a:ext cx="2652522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提前或延后发运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到达节奏变化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受限货流转移</a:t>
            </a:r>
          </a:p>
        </p:txBody>
      </p:sp>
      <p:sp>
        <p:nvSpPr>
          <p:cNvPr id="93" name="连接线_93">
            <a:extLst>
              <a:ext uri="{FF2B5EF4-FFF2-40B4-BE49-F238E27FC236}">
                <a16:creationId xmlns:a16="http://schemas.microsoft.com/office/drawing/2014/main" id="{09FE51E9-A13B-499D-92AA-D6A0B34A0F55}"/>
              </a:ext>
            </a:extLst>
          </p:cNvPr>
          <p:cNvSpPr>
            <a:spLocks noGrp="1"/>
          </p:cNvSpPr>
          <p:nvPr/>
        </p:nvSpPr>
        <p:spPr>
          <a:xfrm>
            <a:off x="4010025" y="10391775"/>
            <a:ext cx="19050" cy="762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94" name="连接线_94">
            <a:extLst>
              <a:ext uri="{FF2B5EF4-FFF2-40B4-BE49-F238E27FC236}">
                <a16:creationId xmlns:a16="http://schemas.microsoft.com/office/drawing/2014/main" id="{30C42F40-01E1-47EC-9E07-0E05056BE560}"/>
              </a:ext>
            </a:extLst>
          </p:cNvPr>
          <p:cNvSpPr>
            <a:spLocks noGrp="1"/>
          </p:cNvSpPr>
          <p:nvPr/>
        </p:nvSpPr>
        <p:spPr>
          <a:xfrm>
            <a:off x="7258050" y="10391775"/>
            <a:ext cx="19050" cy="762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95" name="连接线_95">
            <a:extLst>
              <a:ext uri="{FF2B5EF4-FFF2-40B4-BE49-F238E27FC236}">
                <a16:creationId xmlns:a16="http://schemas.microsoft.com/office/drawing/2014/main" id="{13AE47C5-15DD-4CDF-B9A7-D73C3F732480}"/>
              </a:ext>
            </a:extLst>
          </p:cNvPr>
          <p:cNvSpPr>
            <a:spLocks noGrp="1"/>
          </p:cNvSpPr>
          <p:nvPr/>
        </p:nvSpPr>
        <p:spPr>
          <a:xfrm>
            <a:off x="4010025" y="10467975"/>
            <a:ext cx="324802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96" name="流程箭头_96">
            <a:extLst>
              <a:ext uri="{FF2B5EF4-FFF2-40B4-BE49-F238E27FC236}">
                <a16:creationId xmlns:a16="http://schemas.microsoft.com/office/drawing/2014/main" id="{30E462DA-830C-42CA-9CF6-BDC0EC20CEA4}"/>
              </a:ext>
            </a:extLst>
          </p:cNvPr>
          <p:cNvSpPr>
            <a:spLocks noGrp="1"/>
          </p:cNvSpPr>
          <p:nvPr/>
        </p:nvSpPr>
        <p:spPr>
          <a:xfrm>
            <a:off x="5562600" y="10477500"/>
            <a:ext cx="152400" cy="13335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97" name="组织调整对运行的反馈_97">
            <a:extLst>
              <a:ext uri="{FF2B5EF4-FFF2-40B4-BE49-F238E27FC236}">
                <a16:creationId xmlns:a16="http://schemas.microsoft.com/office/drawing/2014/main" id="{9D72EA26-8A5C-4347-9786-BE33D33E391E}"/>
              </a:ext>
            </a:extLst>
          </p:cNvPr>
          <p:cNvSpPr>
            <a:spLocks noGrp="1"/>
          </p:cNvSpPr>
          <p:nvPr/>
        </p:nvSpPr>
        <p:spPr>
          <a:xfrm>
            <a:off x="2578608" y="10668000"/>
            <a:ext cx="6108192" cy="666750"/>
          </a:xfrm>
          <a:prstGeom prst="roundRect">
            <a:avLst>
              <a:gd name="adj" fmla="val 1428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98" name="文字_98">
            <a:extLst>
              <a:ext uri="{FF2B5EF4-FFF2-40B4-BE49-F238E27FC236}">
                <a16:creationId xmlns:a16="http://schemas.microsoft.com/office/drawing/2014/main" id="{98AFC31B-5309-4CE7-8C49-9757EFDAC978}"/>
              </a:ext>
            </a:extLst>
          </p:cNvPr>
          <p:cNvSpPr>
            <a:spLocks noGrp="1"/>
          </p:cNvSpPr>
          <p:nvPr/>
        </p:nvSpPr>
        <p:spPr>
          <a:xfrm>
            <a:off x="2654808" y="10734675"/>
            <a:ext cx="5955792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组织调整对运行的反馈</a:t>
            </a:r>
          </a:p>
        </p:txBody>
      </p:sp>
      <p:sp>
        <p:nvSpPr>
          <p:cNvPr id="99" name="文字_99">
            <a:extLst>
              <a:ext uri="{FF2B5EF4-FFF2-40B4-BE49-F238E27FC236}">
                <a16:creationId xmlns:a16="http://schemas.microsoft.com/office/drawing/2014/main" id="{EA9BD973-0F85-4A69-A3AE-715255410A8F}"/>
              </a:ext>
            </a:extLst>
          </p:cNvPr>
          <p:cNvSpPr>
            <a:spLocks noGrp="1"/>
          </p:cNvSpPr>
          <p:nvPr/>
        </p:nvSpPr>
        <p:spPr>
          <a:xfrm>
            <a:off x="2683383" y="11039475"/>
            <a:ext cx="5898642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更新运力、到达流与货类运输时序</a:t>
            </a:r>
          </a:p>
        </p:txBody>
      </p:sp>
      <p:sp>
        <p:nvSpPr>
          <p:cNvPr id="100" name="连接线_100">
            <a:extLst>
              <a:ext uri="{FF2B5EF4-FFF2-40B4-BE49-F238E27FC236}">
                <a16:creationId xmlns:a16="http://schemas.microsoft.com/office/drawing/2014/main" id="{C2A07F48-7800-4663-9FC2-B414B7FC242B}"/>
              </a:ext>
            </a:extLst>
          </p:cNvPr>
          <p:cNvSpPr>
            <a:spLocks noGrp="1"/>
          </p:cNvSpPr>
          <p:nvPr/>
        </p:nvSpPr>
        <p:spPr>
          <a:xfrm>
            <a:off x="2276475" y="11001375"/>
            <a:ext cx="302133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1" name="连接线_101">
            <a:extLst>
              <a:ext uri="{FF2B5EF4-FFF2-40B4-BE49-F238E27FC236}">
                <a16:creationId xmlns:a16="http://schemas.microsoft.com/office/drawing/2014/main" id="{B7C5CB12-2AC7-46B7-B880-F3B44F871279}"/>
              </a:ext>
            </a:extLst>
          </p:cNvPr>
          <p:cNvSpPr>
            <a:spLocks noGrp="1"/>
          </p:cNvSpPr>
          <p:nvPr/>
        </p:nvSpPr>
        <p:spPr>
          <a:xfrm>
            <a:off x="2276475" y="3752850"/>
            <a:ext cx="19050" cy="7248525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2" name="连接线_102">
            <a:extLst>
              <a:ext uri="{FF2B5EF4-FFF2-40B4-BE49-F238E27FC236}">
                <a16:creationId xmlns:a16="http://schemas.microsoft.com/office/drawing/2014/main" id="{DBC7F092-D227-44AA-9514-704438744B7D}"/>
              </a:ext>
            </a:extLst>
          </p:cNvPr>
          <p:cNvSpPr>
            <a:spLocks noGrp="1"/>
          </p:cNvSpPr>
          <p:nvPr/>
        </p:nvSpPr>
        <p:spPr>
          <a:xfrm>
            <a:off x="2276475" y="3752850"/>
            <a:ext cx="14287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3" name="流程箭头_103">
            <a:extLst>
              <a:ext uri="{FF2B5EF4-FFF2-40B4-BE49-F238E27FC236}">
                <a16:creationId xmlns:a16="http://schemas.microsoft.com/office/drawing/2014/main" id="{6B6BBC56-D463-4280-A7B9-DE1E52401950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152400" cy="152400"/>
          </a:xfrm>
          <a:prstGeom prst="right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4" name="连接线_104">
            <a:extLst>
              <a:ext uri="{FF2B5EF4-FFF2-40B4-BE49-F238E27FC236}">
                <a16:creationId xmlns:a16="http://schemas.microsoft.com/office/drawing/2014/main" id="{7DD80BC2-133D-408B-8B3C-CA39CF566169}"/>
              </a:ext>
            </a:extLst>
          </p:cNvPr>
          <p:cNvSpPr>
            <a:spLocks noGrp="1"/>
          </p:cNvSpPr>
          <p:nvPr/>
        </p:nvSpPr>
        <p:spPr>
          <a:xfrm>
            <a:off x="8686800" y="11001375"/>
            <a:ext cx="33337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5" name="连接线_105">
            <a:extLst>
              <a:ext uri="{FF2B5EF4-FFF2-40B4-BE49-F238E27FC236}">
                <a16:creationId xmlns:a16="http://schemas.microsoft.com/office/drawing/2014/main" id="{A6EF3012-AFA3-4DB7-B44C-05B8562BD895}"/>
              </a:ext>
            </a:extLst>
          </p:cNvPr>
          <p:cNvSpPr>
            <a:spLocks noGrp="1"/>
          </p:cNvSpPr>
          <p:nvPr/>
        </p:nvSpPr>
        <p:spPr>
          <a:xfrm>
            <a:off x="9020175" y="3752850"/>
            <a:ext cx="19050" cy="7248525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6" name="连接线_106">
            <a:extLst>
              <a:ext uri="{FF2B5EF4-FFF2-40B4-BE49-F238E27FC236}">
                <a16:creationId xmlns:a16="http://schemas.microsoft.com/office/drawing/2014/main" id="{B527A078-0DAE-4249-92B6-2BEC5D2B8DFD}"/>
              </a:ext>
            </a:extLst>
          </p:cNvPr>
          <p:cNvSpPr>
            <a:spLocks noGrp="1"/>
          </p:cNvSpPr>
          <p:nvPr/>
        </p:nvSpPr>
        <p:spPr>
          <a:xfrm>
            <a:off x="8858250" y="3752850"/>
            <a:ext cx="16192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7" name="流程箭头_107">
            <a:extLst>
              <a:ext uri="{FF2B5EF4-FFF2-40B4-BE49-F238E27FC236}">
                <a16:creationId xmlns:a16="http://schemas.microsoft.com/office/drawing/2014/main" id="{9BBD8FEE-62C6-4D26-A968-F17DF424A8D3}"/>
              </a:ext>
            </a:extLst>
          </p:cNvPr>
          <p:cNvSpPr>
            <a:spLocks noGrp="1"/>
          </p:cNvSpPr>
          <p:nvPr/>
        </p:nvSpPr>
        <p:spPr>
          <a:xfrm>
            <a:off x="8686800" y="3686175"/>
            <a:ext cx="171450" cy="152400"/>
          </a:xfrm>
          <a:prstGeom prst="left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8" name="容器_108">
            <a:extLst>
              <a:ext uri="{FF2B5EF4-FFF2-40B4-BE49-F238E27FC236}">
                <a16:creationId xmlns:a16="http://schemas.microsoft.com/office/drawing/2014/main" id="{66DF3DFA-D4E6-4232-9883-431BBF6A2729}"/>
              </a:ext>
            </a:extLst>
          </p:cNvPr>
          <p:cNvSpPr>
            <a:spLocks noGrp="1"/>
          </p:cNvSpPr>
          <p:nvPr/>
        </p:nvSpPr>
        <p:spPr>
          <a:xfrm>
            <a:off x="2133600" y="8858250"/>
            <a:ext cx="247650" cy="95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09" name="容器_109">
            <a:extLst>
              <a:ext uri="{FF2B5EF4-FFF2-40B4-BE49-F238E27FC236}">
                <a16:creationId xmlns:a16="http://schemas.microsoft.com/office/drawing/2014/main" id="{84B55F2F-F2AC-4437-A0EB-ACCD4AA63D46}"/>
              </a:ext>
            </a:extLst>
          </p:cNvPr>
          <p:cNvSpPr>
            <a:spLocks noGrp="1"/>
          </p:cNvSpPr>
          <p:nvPr/>
        </p:nvSpPr>
        <p:spPr>
          <a:xfrm>
            <a:off x="8896350" y="8858250"/>
            <a:ext cx="247650" cy="95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0" name="文字_110">
            <a:extLst>
              <a:ext uri="{FF2B5EF4-FFF2-40B4-BE49-F238E27FC236}">
                <a16:creationId xmlns:a16="http://schemas.microsoft.com/office/drawing/2014/main" id="{F1FFB147-272D-4E18-9D90-91B78C2E291C}"/>
              </a:ext>
            </a:extLst>
          </p:cNvPr>
          <p:cNvSpPr>
            <a:spLocks noGrp="1"/>
          </p:cNvSpPr>
          <p:nvPr/>
        </p:nvSpPr>
        <p:spPr>
          <a:xfrm>
            <a:off x="2143125" y="8858250"/>
            <a:ext cx="238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力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11" name="文字_111">
            <a:extLst>
              <a:ext uri="{FF2B5EF4-FFF2-40B4-BE49-F238E27FC236}">
                <a16:creationId xmlns:a16="http://schemas.microsoft.com/office/drawing/2014/main" id="{F5C24B70-70AF-4CC3-B40B-617295E9D0F3}"/>
              </a:ext>
            </a:extLst>
          </p:cNvPr>
          <p:cNvSpPr>
            <a:spLocks noGrp="1"/>
          </p:cNvSpPr>
          <p:nvPr/>
        </p:nvSpPr>
        <p:spPr>
          <a:xfrm>
            <a:off x="8905875" y="8858250"/>
            <a:ext cx="238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12" name="流程箭头_112">
            <a:extLst>
              <a:ext uri="{FF2B5EF4-FFF2-40B4-BE49-F238E27FC236}">
                <a16:creationId xmlns:a16="http://schemas.microsoft.com/office/drawing/2014/main" id="{5074DF3A-4548-484F-84EB-C4752BFFBBBD}"/>
              </a:ext>
            </a:extLst>
          </p:cNvPr>
          <p:cNvSpPr>
            <a:spLocks noGrp="1"/>
          </p:cNvSpPr>
          <p:nvPr/>
        </p:nvSpPr>
        <p:spPr>
          <a:xfrm>
            <a:off x="5562600" y="11477625"/>
            <a:ext cx="152400" cy="13335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13" name="研究模块_113">
            <a:extLst>
              <a:ext uri="{FF2B5EF4-FFF2-40B4-BE49-F238E27FC236}">
                <a16:creationId xmlns:a16="http://schemas.microsoft.com/office/drawing/2014/main" id="{3111B377-50C6-4741-ADFC-10A2D7751663}"/>
              </a:ext>
            </a:extLst>
          </p:cNvPr>
          <p:cNvSpPr>
            <a:spLocks noGrp="1"/>
          </p:cNvSpPr>
          <p:nvPr/>
        </p:nvSpPr>
        <p:spPr>
          <a:xfrm>
            <a:off x="2395728" y="11630025"/>
            <a:ext cx="6473952" cy="699135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14" name="模块标题背景_114">
            <a:extLst>
              <a:ext uri="{FF2B5EF4-FFF2-40B4-BE49-F238E27FC236}">
                <a16:creationId xmlns:a16="http://schemas.microsoft.com/office/drawing/2014/main" id="{D3AEDE59-EAAB-46C3-AFC5-F06A95D144DD}"/>
              </a:ext>
            </a:extLst>
          </p:cNvPr>
          <p:cNvSpPr>
            <a:spLocks noGrp="1"/>
          </p:cNvSpPr>
          <p:nvPr/>
        </p:nvSpPr>
        <p:spPr>
          <a:xfrm>
            <a:off x="2459736" y="11694033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BF8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15" name="模块标题_115">
            <a:extLst>
              <a:ext uri="{FF2B5EF4-FFF2-40B4-BE49-F238E27FC236}">
                <a16:creationId xmlns:a16="http://schemas.microsoft.com/office/drawing/2014/main" id="{396C3BDD-1D5C-4329-BE06-A2D3D1F52BBD}"/>
              </a:ext>
            </a:extLst>
          </p:cNvPr>
          <p:cNvSpPr>
            <a:spLocks noGrp="1"/>
          </p:cNvSpPr>
          <p:nvPr/>
        </p:nvSpPr>
        <p:spPr>
          <a:xfrm>
            <a:off x="2638425" y="11696700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航运波动传播与动态响应模型构建</a:t>
            </a:r>
          </a:p>
        </p:txBody>
      </p:sp>
      <p:sp>
        <p:nvSpPr>
          <p:cNvPr id="116" name="波动传播与恢复特征_116">
            <a:extLst>
              <a:ext uri="{FF2B5EF4-FFF2-40B4-BE49-F238E27FC236}">
                <a16:creationId xmlns:a16="http://schemas.microsoft.com/office/drawing/2014/main" id="{CABD9FB6-5390-4B58-BEB4-B38B2C7F39B8}"/>
              </a:ext>
            </a:extLst>
          </p:cNvPr>
          <p:cNvSpPr>
            <a:spLocks noGrp="1"/>
          </p:cNvSpPr>
          <p:nvPr/>
        </p:nvSpPr>
        <p:spPr>
          <a:xfrm>
            <a:off x="2578608" y="12182475"/>
            <a:ext cx="6108192" cy="895350"/>
          </a:xfrm>
          <a:prstGeom prst="roundRect">
            <a:avLst>
              <a:gd name="adj" fmla="val 10638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17" name="文字_117">
            <a:extLst>
              <a:ext uri="{FF2B5EF4-FFF2-40B4-BE49-F238E27FC236}">
                <a16:creationId xmlns:a16="http://schemas.microsoft.com/office/drawing/2014/main" id="{407C5048-A075-4DCF-8522-0876E45CF37C}"/>
              </a:ext>
            </a:extLst>
          </p:cNvPr>
          <p:cNvSpPr>
            <a:spLocks noGrp="1"/>
          </p:cNvSpPr>
          <p:nvPr/>
        </p:nvSpPr>
        <p:spPr>
          <a:xfrm>
            <a:off x="2654808" y="12249150"/>
            <a:ext cx="5955792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波动传播与恢复特征</a:t>
            </a:r>
          </a:p>
        </p:txBody>
      </p:sp>
      <p:sp>
        <p:nvSpPr>
          <p:cNvPr id="118" name="文字_118">
            <a:extLst>
              <a:ext uri="{FF2B5EF4-FFF2-40B4-BE49-F238E27FC236}">
                <a16:creationId xmlns:a16="http://schemas.microsoft.com/office/drawing/2014/main" id="{7F0484F8-ABF5-4515-A154-F592DB6B2E48}"/>
              </a:ext>
            </a:extLst>
          </p:cNvPr>
          <p:cNvSpPr>
            <a:spLocks noGrp="1"/>
          </p:cNvSpPr>
          <p:nvPr/>
        </p:nvSpPr>
        <p:spPr>
          <a:xfrm>
            <a:off x="2683383" y="12573000"/>
            <a:ext cx="5898642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坝区多通道与上下游传播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波动时滞、放大与恢复</a:t>
            </a:r>
          </a:p>
        </p:txBody>
      </p:sp>
      <p:sp>
        <p:nvSpPr>
          <p:cNvPr id="119" name="流程箭头_119">
            <a:extLst>
              <a:ext uri="{FF2B5EF4-FFF2-40B4-BE49-F238E27FC236}">
                <a16:creationId xmlns:a16="http://schemas.microsoft.com/office/drawing/2014/main" id="{8681455A-04F3-4EE9-868C-A3E2C31EAE52}"/>
              </a:ext>
            </a:extLst>
          </p:cNvPr>
          <p:cNvSpPr>
            <a:spLocks noGrp="1"/>
          </p:cNvSpPr>
          <p:nvPr/>
        </p:nvSpPr>
        <p:spPr>
          <a:xfrm>
            <a:off x="5562600" y="13134975"/>
            <a:ext cx="152400" cy="13335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0" name="航运动态响应模型_120">
            <a:extLst>
              <a:ext uri="{FF2B5EF4-FFF2-40B4-BE49-F238E27FC236}">
                <a16:creationId xmlns:a16="http://schemas.microsoft.com/office/drawing/2014/main" id="{B4D13BA2-F919-4A6C-8870-6498B85EA1BD}"/>
              </a:ext>
            </a:extLst>
          </p:cNvPr>
          <p:cNvSpPr>
            <a:spLocks noGrp="1"/>
          </p:cNvSpPr>
          <p:nvPr/>
        </p:nvSpPr>
        <p:spPr>
          <a:xfrm>
            <a:off x="2578608" y="13315950"/>
            <a:ext cx="6108192" cy="933450"/>
          </a:xfrm>
          <a:prstGeom prst="roundRect">
            <a:avLst>
              <a:gd name="adj" fmla="val 1020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21" name="文字_121">
            <a:extLst>
              <a:ext uri="{FF2B5EF4-FFF2-40B4-BE49-F238E27FC236}">
                <a16:creationId xmlns:a16="http://schemas.microsoft.com/office/drawing/2014/main" id="{C170CB81-506D-4364-A344-5C1B96CBE1B7}"/>
              </a:ext>
            </a:extLst>
          </p:cNvPr>
          <p:cNvSpPr>
            <a:spLocks noGrp="1"/>
          </p:cNvSpPr>
          <p:nvPr/>
        </p:nvSpPr>
        <p:spPr>
          <a:xfrm>
            <a:off x="2654808" y="13382625"/>
            <a:ext cx="595579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航运动态响应模型</a:t>
            </a:r>
          </a:p>
        </p:txBody>
      </p:sp>
      <p:sp>
        <p:nvSpPr>
          <p:cNvPr id="122" name="文字_122">
            <a:extLst>
              <a:ext uri="{FF2B5EF4-FFF2-40B4-BE49-F238E27FC236}">
                <a16:creationId xmlns:a16="http://schemas.microsoft.com/office/drawing/2014/main" id="{CFA15C00-8D9E-4A0A-853C-0F60FE2C65D7}"/>
              </a:ext>
            </a:extLst>
          </p:cNvPr>
          <p:cNvSpPr>
            <a:spLocks noGrp="1"/>
          </p:cNvSpPr>
          <p:nvPr/>
        </p:nvSpPr>
        <p:spPr>
          <a:xfrm>
            <a:off x="2683383" y="13725525"/>
            <a:ext cx="5898642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能力、需求、排队与组织调整联动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区分实际流量、积压与未满足需求</a:t>
            </a:r>
          </a:p>
        </p:txBody>
      </p:sp>
      <p:sp>
        <p:nvSpPr>
          <p:cNvPr id="123" name="连接线_123">
            <a:extLst>
              <a:ext uri="{FF2B5EF4-FFF2-40B4-BE49-F238E27FC236}">
                <a16:creationId xmlns:a16="http://schemas.microsoft.com/office/drawing/2014/main" id="{47D7619E-0D78-496D-B35C-609990BDAF59}"/>
              </a:ext>
            </a:extLst>
          </p:cNvPr>
          <p:cNvSpPr>
            <a:spLocks noGrp="1"/>
          </p:cNvSpPr>
          <p:nvPr/>
        </p:nvSpPr>
        <p:spPr>
          <a:xfrm>
            <a:off x="5638800" y="14249400"/>
            <a:ext cx="19050" cy="1143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4" name="连接线_124">
            <a:extLst>
              <a:ext uri="{FF2B5EF4-FFF2-40B4-BE49-F238E27FC236}">
                <a16:creationId xmlns:a16="http://schemas.microsoft.com/office/drawing/2014/main" id="{259900F8-4126-4E1A-96D3-6388E94D9107}"/>
              </a:ext>
            </a:extLst>
          </p:cNvPr>
          <p:cNvSpPr>
            <a:spLocks noGrp="1"/>
          </p:cNvSpPr>
          <p:nvPr/>
        </p:nvSpPr>
        <p:spPr>
          <a:xfrm>
            <a:off x="4010025" y="14363700"/>
            <a:ext cx="32480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5" name="流程箭头_125">
            <a:extLst>
              <a:ext uri="{FF2B5EF4-FFF2-40B4-BE49-F238E27FC236}">
                <a16:creationId xmlns:a16="http://schemas.microsoft.com/office/drawing/2014/main" id="{994A456F-7BE5-4361-9F38-B8461A759EF2}"/>
              </a:ext>
            </a:extLst>
          </p:cNvPr>
          <p:cNvSpPr>
            <a:spLocks noGrp="1"/>
          </p:cNvSpPr>
          <p:nvPr/>
        </p:nvSpPr>
        <p:spPr>
          <a:xfrm>
            <a:off x="3933825" y="14373225"/>
            <a:ext cx="152400" cy="19050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6" name="流程箭头_126">
            <a:extLst>
              <a:ext uri="{FF2B5EF4-FFF2-40B4-BE49-F238E27FC236}">
                <a16:creationId xmlns:a16="http://schemas.microsoft.com/office/drawing/2014/main" id="{A73A1500-458D-4673-B48F-95F365BFB8D5}"/>
              </a:ext>
            </a:extLst>
          </p:cNvPr>
          <p:cNvSpPr>
            <a:spLocks noGrp="1"/>
          </p:cNvSpPr>
          <p:nvPr/>
        </p:nvSpPr>
        <p:spPr>
          <a:xfrm>
            <a:off x="7181850" y="14373225"/>
            <a:ext cx="152400" cy="19050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7" name="典型事件校准_127">
            <a:extLst>
              <a:ext uri="{FF2B5EF4-FFF2-40B4-BE49-F238E27FC236}">
                <a16:creationId xmlns:a16="http://schemas.microsoft.com/office/drawing/2014/main" id="{DBF912FE-8CB1-4955-9E6D-6D5DACA07AFC}"/>
              </a:ext>
            </a:extLst>
          </p:cNvPr>
          <p:cNvSpPr>
            <a:spLocks noGrp="1"/>
          </p:cNvSpPr>
          <p:nvPr/>
        </p:nvSpPr>
        <p:spPr>
          <a:xfrm>
            <a:off x="2578608" y="14592300"/>
            <a:ext cx="2862072" cy="1143000"/>
          </a:xfrm>
          <a:prstGeom prst="roundRect">
            <a:avLst>
              <a:gd name="adj" fmla="val 8333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28" name="文字_128">
            <a:extLst>
              <a:ext uri="{FF2B5EF4-FFF2-40B4-BE49-F238E27FC236}">
                <a16:creationId xmlns:a16="http://schemas.microsoft.com/office/drawing/2014/main" id="{D8ACA816-C547-4B87-978A-B3B1C74DE1D7}"/>
              </a:ext>
            </a:extLst>
          </p:cNvPr>
          <p:cNvSpPr>
            <a:spLocks noGrp="1"/>
          </p:cNvSpPr>
          <p:nvPr/>
        </p:nvSpPr>
        <p:spPr>
          <a:xfrm>
            <a:off x="2654808" y="14658975"/>
            <a:ext cx="270967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典型事件校准</a:t>
            </a:r>
          </a:p>
        </p:txBody>
      </p:sp>
      <p:sp>
        <p:nvSpPr>
          <p:cNvPr id="129" name="文字_129">
            <a:extLst>
              <a:ext uri="{FF2B5EF4-FFF2-40B4-BE49-F238E27FC236}">
                <a16:creationId xmlns:a16="http://schemas.microsoft.com/office/drawing/2014/main" id="{BE5C334C-FE3E-48BF-9E4C-E11781C71AC0}"/>
              </a:ext>
            </a:extLst>
          </p:cNvPr>
          <p:cNvSpPr>
            <a:spLocks noGrp="1"/>
          </p:cNvSpPr>
          <p:nvPr/>
        </p:nvSpPr>
        <p:spPr>
          <a:xfrm>
            <a:off x="2683383" y="15001875"/>
            <a:ext cx="2652522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能力与到达参数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排队与组织调整参数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参数来源与适用范围</a:t>
            </a:r>
          </a:p>
        </p:txBody>
      </p:sp>
      <p:sp>
        <p:nvSpPr>
          <p:cNvPr id="130" name="独立事件检验_130">
            <a:extLst>
              <a:ext uri="{FF2B5EF4-FFF2-40B4-BE49-F238E27FC236}">
                <a16:creationId xmlns:a16="http://schemas.microsoft.com/office/drawing/2014/main" id="{943C15DB-2626-44FE-97AA-5B8E47554A6A}"/>
              </a:ext>
            </a:extLst>
          </p:cNvPr>
          <p:cNvSpPr>
            <a:spLocks noGrp="1"/>
          </p:cNvSpPr>
          <p:nvPr/>
        </p:nvSpPr>
        <p:spPr>
          <a:xfrm>
            <a:off x="5824728" y="14592300"/>
            <a:ext cx="2862072" cy="1143000"/>
          </a:xfrm>
          <a:prstGeom prst="roundRect">
            <a:avLst>
              <a:gd name="adj" fmla="val 8333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1" name="文字_131">
            <a:extLst>
              <a:ext uri="{FF2B5EF4-FFF2-40B4-BE49-F238E27FC236}">
                <a16:creationId xmlns:a16="http://schemas.microsoft.com/office/drawing/2014/main" id="{80577CD2-BEC6-4E89-B7BE-563243638FFD}"/>
              </a:ext>
            </a:extLst>
          </p:cNvPr>
          <p:cNvSpPr>
            <a:spLocks noGrp="1"/>
          </p:cNvSpPr>
          <p:nvPr/>
        </p:nvSpPr>
        <p:spPr>
          <a:xfrm>
            <a:off x="5900928" y="14658975"/>
            <a:ext cx="270967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独立事件检验</a:t>
            </a:r>
          </a:p>
        </p:txBody>
      </p:sp>
      <p:sp>
        <p:nvSpPr>
          <p:cNvPr id="132" name="文字_132">
            <a:extLst>
              <a:ext uri="{FF2B5EF4-FFF2-40B4-BE49-F238E27FC236}">
                <a16:creationId xmlns:a16="http://schemas.microsoft.com/office/drawing/2014/main" id="{FF972709-8827-4F84-9F59-CD17BF841D71}"/>
              </a:ext>
            </a:extLst>
          </p:cNvPr>
          <p:cNvSpPr>
            <a:spLocks noGrp="1"/>
          </p:cNvSpPr>
          <p:nvPr/>
        </p:nvSpPr>
        <p:spPr>
          <a:xfrm>
            <a:off x="5929503" y="15001875"/>
            <a:ext cx="2652522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通过量与等待时间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船期偏移与传播时滞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误差与模型修正</a:t>
            </a:r>
          </a:p>
        </p:txBody>
      </p:sp>
      <p:sp>
        <p:nvSpPr>
          <p:cNvPr id="133" name="连接线_133">
            <a:extLst>
              <a:ext uri="{FF2B5EF4-FFF2-40B4-BE49-F238E27FC236}">
                <a16:creationId xmlns:a16="http://schemas.microsoft.com/office/drawing/2014/main" id="{5913357C-E87D-4F38-8B99-14A265C2E7D8}"/>
              </a:ext>
            </a:extLst>
          </p:cNvPr>
          <p:cNvSpPr>
            <a:spLocks noGrp="1"/>
          </p:cNvSpPr>
          <p:nvPr/>
        </p:nvSpPr>
        <p:spPr>
          <a:xfrm>
            <a:off x="2276475" y="15163800"/>
            <a:ext cx="302133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4" name="连接线_134">
            <a:extLst>
              <a:ext uri="{FF2B5EF4-FFF2-40B4-BE49-F238E27FC236}">
                <a16:creationId xmlns:a16="http://schemas.microsoft.com/office/drawing/2014/main" id="{E2BBDB38-0C10-4CCF-9B94-1261A765675D}"/>
              </a:ext>
            </a:extLst>
          </p:cNvPr>
          <p:cNvSpPr>
            <a:spLocks noGrp="1"/>
          </p:cNvSpPr>
          <p:nvPr/>
        </p:nvSpPr>
        <p:spPr>
          <a:xfrm>
            <a:off x="2276475" y="13782675"/>
            <a:ext cx="19050" cy="1381125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5" name="连接线_135">
            <a:extLst>
              <a:ext uri="{FF2B5EF4-FFF2-40B4-BE49-F238E27FC236}">
                <a16:creationId xmlns:a16="http://schemas.microsoft.com/office/drawing/2014/main" id="{6AD12765-AA57-4A9E-9D90-BB769813E3CF}"/>
              </a:ext>
            </a:extLst>
          </p:cNvPr>
          <p:cNvSpPr>
            <a:spLocks noGrp="1"/>
          </p:cNvSpPr>
          <p:nvPr/>
        </p:nvSpPr>
        <p:spPr>
          <a:xfrm>
            <a:off x="2276475" y="13782675"/>
            <a:ext cx="14287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6" name="流程箭头_136">
            <a:extLst>
              <a:ext uri="{FF2B5EF4-FFF2-40B4-BE49-F238E27FC236}">
                <a16:creationId xmlns:a16="http://schemas.microsoft.com/office/drawing/2014/main" id="{26D5E78E-C53A-4FCB-BFF0-3869464FDD48}"/>
              </a:ext>
            </a:extLst>
          </p:cNvPr>
          <p:cNvSpPr>
            <a:spLocks noGrp="1"/>
          </p:cNvSpPr>
          <p:nvPr/>
        </p:nvSpPr>
        <p:spPr>
          <a:xfrm>
            <a:off x="2419350" y="13716000"/>
            <a:ext cx="152400" cy="152400"/>
          </a:xfrm>
          <a:prstGeom prst="right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7" name="连接线_137">
            <a:extLst>
              <a:ext uri="{FF2B5EF4-FFF2-40B4-BE49-F238E27FC236}">
                <a16:creationId xmlns:a16="http://schemas.microsoft.com/office/drawing/2014/main" id="{2231D7A2-0EE9-4BD5-B263-132032BFC2D5}"/>
              </a:ext>
            </a:extLst>
          </p:cNvPr>
          <p:cNvSpPr>
            <a:spLocks noGrp="1"/>
          </p:cNvSpPr>
          <p:nvPr/>
        </p:nvSpPr>
        <p:spPr>
          <a:xfrm>
            <a:off x="8686800" y="15163800"/>
            <a:ext cx="33337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8" name="连接线_138">
            <a:extLst>
              <a:ext uri="{FF2B5EF4-FFF2-40B4-BE49-F238E27FC236}">
                <a16:creationId xmlns:a16="http://schemas.microsoft.com/office/drawing/2014/main" id="{26B87A27-7B68-4890-AFE2-B4F9C8F284AF}"/>
              </a:ext>
            </a:extLst>
          </p:cNvPr>
          <p:cNvSpPr>
            <a:spLocks noGrp="1"/>
          </p:cNvSpPr>
          <p:nvPr/>
        </p:nvSpPr>
        <p:spPr>
          <a:xfrm>
            <a:off x="9020175" y="13782675"/>
            <a:ext cx="19050" cy="1381125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9" name="连接线_139">
            <a:extLst>
              <a:ext uri="{FF2B5EF4-FFF2-40B4-BE49-F238E27FC236}">
                <a16:creationId xmlns:a16="http://schemas.microsoft.com/office/drawing/2014/main" id="{A40346C1-C692-4E5F-BF4C-DE32A74B6D08}"/>
              </a:ext>
            </a:extLst>
          </p:cNvPr>
          <p:cNvSpPr>
            <a:spLocks noGrp="1"/>
          </p:cNvSpPr>
          <p:nvPr/>
        </p:nvSpPr>
        <p:spPr>
          <a:xfrm>
            <a:off x="8858250" y="13782675"/>
            <a:ext cx="1619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0" name="流程箭头_140">
            <a:extLst>
              <a:ext uri="{FF2B5EF4-FFF2-40B4-BE49-F238E27FC236}">
                <a16:creationId xmlns:a16="http://schemas.microsoft.com/office/drawing/2014/main" id="{491D7638-6D2E-4577-9204-A373965AB256}"/>
              </a:ext>
            </a:extLst>
          </p:cNvPr>
          <p:cNvSpPr>
            <a:spLocks noGrp="1"/>
          </p:cNvSpPr>
          <p:nvPr/>
        </p:nvSpPr>
        <p:spPr>
          <a:xfrm>
            <a:off x="8686800" y="13716000"/>
            <a:ext cx="171450" cy="152400"/>
          </a:xfrm>
          <a:prstGeom prst="left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1" name="容器_141">
            <a:extLst>
              <a:ext uri="{FF2B5EF4-FFF2-40B4-BE49-F238E27FC236}">
                <a16:creationId xmlns:a16="http://schemas.microsoft.com/office/drawing/2014/main" id="{7F1EB35D-1999-4E55-BBEA-0A0BC927F3D4}"/>
              </a:ext>
            </a:extLst>
          </p:cNvPr>
          <p:cNvSpPr>
            <a:spLocks noGrp="1"/>
          </p:cNvSpPr>
          <p:nvPr/>
        </p:nvSpPr>
        <p:spPr>
          <a:xfrm>
            <a:off x="2133600" y="14211300"/>
            <a:ext cx="247650" cy="95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42" name="容器_142">
            <a:extLst>
              <a:ext uri="{FF2B5EF4-FFF2-40B4-BE49-F238E27FC236}">
                <a16:creationId xmlns:a16="http://schemas.microsoft.com/office/drawing/2014/main" id="{029A256A-8058-4235-90E6-0795D632E0E2}"/>
              </a:ext>
            </a:extLst>
          </p:cNvPr>
          <p:cNvSpPr>
            <a:spLocks noGrp="1"/>
          </p:cNvSpPr>
          <p:nvPr/>
        </p:nvSpPr>
        <p:spPr>
          <a:xfrm>
            <a:off x="8896350" y="14211300"/>
            <a:ext cx="247650" cy="95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43" name="文字_143">
            <a:extLst>
              <a:ext uri="{FF2B5EF4-FFF2-40B4-BE49-F238E27FC236}">
                <a16:creationId xmlns:a16="http://schemas.microsoft.com/office/drawing/2014/main" id="{0FC30761-EE63-4E0A-A311-9D60CCD6AAA2}"/>
              </a:ext>
            </a:extLst>
          </p:cNvPr>
          <p:cNvSpPr>
            <a:spLocks noGrp="1"/>
          </p:cNvSpPr>
          <p:nvPr/>
        </p:nvSpPr>
        <p:spPr>
          <a:xfrm>
            <a:off x="2143125" y="14211300"/>
            <a:ext cx="238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44" name="文字_144">
            <a:extLst>
              <a:ext uri="{FF2B5EF4-FFF2-40B4-BE49-F238E27FC236}">
                <a16:creationId xmlns:a16="http://schemas.microsoft.com/office/drawing/2014/main" id="{9AA26497-B3E2-4D1C-BA0F-75759074D00B}"/>
              </a:ext>
            </a:extLst>
          </p:cNvPr>
          <p:cNvSpPr>
            <a:spLocks noGrp="1"/>
          </p:cNvSpPr>
          <p:nvPr/>
        </p:nvSpPr>
        <p:spPr>
          <a:xfrm>
            <a:off x="8905875" y="14211300"/>
            <a:ext cx="238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模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45" name="连接线_145">
            <a:extLst>
              <a:ext uri="{FF2B5EF4-FFF2-40B4-BE49-F238E27FC236}">
                <a16:creationId xmlns:a16="http://schemas.microsoft.com/office/drawing/2014/main" id="{ECDEC4FA-9D93-4AF8-A055-666C383F49FE}"/>
              </a:ext>
            </a:extLst>
          </p:cNvPr>
          <p:cNvSpPr>
            <a:spLocks noGrp="1"/>
          </p:cNvSpPr>
          <p:nvPr/>
        </p:nvSpPr>
        <p:spPr>
          <a:xfrm>
            <a:off x="4010025" y="15801975"/>
            <a:ext cx="19050" cy="76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6" name="连接线_146">
            <a:extLst>
              <a:ext uri="{FF2B5EF4-FFF2-40B4-BE49-F238E27FC236}">
                <a16:creationId xmlns:a16="http://schemas.microsoft.com/office/drawing/2014/main" id="{5937B027-7D0C-4CEA-8124-D563A2460AAB}"/>
              </a:ext>
            </a:extLst>
          </p:cNvPr>
          <p:cNvSpPr>
            <a:spLocks noGrp="1"/>
          </p:cNvSpPr>
          <p:nvPr/>
        </p:nvSpPr>
        <p:spPr>
          <a:xfrm>
            <a:off x="7258050" y="15801975"/>
            <a:ext cx="19050" cy="76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7" name="连接线_147">
            <a:extLst>
              <a:ext uri="{FF2B5EF4-FFF2-40B4-BE49-F238E27FC236}">
                <a16:creationId xmlns:a16="http://schemas.microsoft.com/office/drawing/2014/main" id="{02EA1BF7-A713-4558-96C1-F5EF95986BC7}"/>
              </a:ext>
            </a:extLst>
          </p:cNvPr>
          <p:cNvSpPr>
            <a:spLocks noGrp="1"/>
          </p:cNvSpPr>
          <p:nvPr/>
        </p:nvSpPr>
        <p:spPr>
          <a:xfrm>
            <a:off x="4010025" y="15878175"/>
            <a:ext cx="32480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8" name="流程箭头_148">
            <a:extLst>
              <a:ext uri="{FF2B5EF4-FFF2-40B4-BE49-F238E27FC236}">
                <a16:creationId xmlns:a16="http://schemas.microsoft.com/office/drawing/2014/main" id="{A6C8EED8-E28B-4E3D-88CA-6AF7F8C71C7A}"/>
              </a:ext>
            </a:extLst>
          </p:cNvPr>
          <p:cNvSpPr>
            <a:spLocks noGrp="1"/>
          </p:cNvSpPr>
          <p:nvPr/>
        </p:nvSpPr>
        <p:spPr>
          <a:xfrm>
            <a:off x="5562600" y="15887700"/>
            <a:ext cx="152400" cy="13335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9" name="多情景传播与恢复响应_149">
            <a:extLst>
              <a:ext uri="{FF2B5EF4-FFF2-40B4-BE49-F238E27FC236}">
                <a16:creationId xmlns:a16="http://schemas.microsoft.com/office/drawing/2014/main" id="{6C7CE143-C313-4EF8-B501-A314E2C9180C}"/>
              </a:ext>
            </a:extLst>
          </p:cNvPr>
          <p:cNvSpPr>
            <a:spLocks noGrp="1"/>
          </p:cNvSpPr>
          <p:nvPr/>
        </p:nvSpPr>
        <p:spPr>
          <a:xfrm>
            <a:off x="2578608" y="16068675"/>
            <a:ext cx="6108192" cy="933450"/>
          </a:xfrm>
          <a:prstGeom prst="roundRect">
            <a:avLst>
              <a:gd name="adj" fmla="val 1020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50" name="文字_150">
            <a:extLst>
              <a:ext uri="{FF2B5EF4-FFF2-40B4-BE49-F238E27FC236}">
                <a16:creationId xmlns:a16="http://schemas.microsoft.com/office/drawing/2014/main" id="{122A3893-8235-4AE0-B410-EBC415D689EB}"/>
              </a:ext>
            </a:extLst>
          </p:cNvPr>
          <p:cNvSpPr>
            <a:spLocks noGrp="1"/>
          </p:cNvSpPr>
          <p:nvPr/>
        </p:nvSpPr>
        <p:spPr>
          <a:xfrm>
            <a:off x="2654808" y="16135350"/>
            <a:ext cx="595579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dirty="0" err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多情景传播与恢复响应</a:t>
            </a:r>
            <a:endParaRPr sz="1575" b="1" dirty="0">
              <a:solidFill>
                <a:srgbClr val="BF8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1" name="文字_151">
            <a:extLst>
              <a:ext uri="{FF2B5EF4-FFF2-40B4-BE49-F238E27FC236}">
                <a16:creationId xmlns:a16="http://schemas.microsoft.com/office/drawing/2014/main" id="{180A2082-FAC2-445F-956C-4FF48F97371B}"/>
              </a:ext>
            </a:extLst>
          </p:cNvPr>
          <p:cNvSpPr>
            <a:spLocks noGrp="1"/>
          </p:cNvSpPr>
          <p:nvPr/>
        </p:nvSpPr>
        <p:spPr>
          <a:xfrm>
            <a:off x="2683383" y="16478250"/>
            <a:ext cx="5898642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不同施工强度、工期、负荷与通道条件</a:t>
            </a:r>
            <a:endParaRPr sz="1425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传播范围、瓶颈转移与组织适应</a:t>
            </a:r>
            <a:endParaRPr sz="1425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2" name="流程箭头_152">
            <a:extLst>
              <a:ext uri="{FF2B5EF4-FFF2-40B4-BE49-F238E27FC236}">
                <a16:creationId xmlns:a16="http://schemas.microsoft.com/office/drawing/2014/main" id="{7ED00986-6757-4A23-A2A7-AFC5823886EC}"/>
              </a:ext>
            </a:extLst>
          </p:cNvPr>
          <p:cNvSpPr>
            <a:spLocks noGrp="1"/>
          </p:cNvSpPr>
          <p:nvPr/>
        </p:nvSpPr>
        <p:spPr>
          <a:xfrm>
            <a:off x="5562600" y="17078325"/>
            <a:ext cx="152400" cy="13335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3" name="供需失配与阈值_153">
            <a:extLst>
              <a:ext uri="{FF2B5EF4-FFF2-40B4-BE49-F238E27FC236}">
                <a16:creationId xmlns:a16="http://schemas.microsoft.com/office/drawing/2014/main" id="{BFC9FA0E-57C2-4CF4-A689-B86A86480E76}"/>
              </a:ext>
            </a:extLst>
          </p:cNvPr>
          <p:cNvSpPr>
            <a:spLocks noGrp="1"/>
          </p:cNvSpPr>
          <p:nvPr/>
        </p:nvSpPr>
        <p:spPr>
          <a:xfrm>
            <a:off x="2578608" y="17287875"/>
            <a:ext cx="1816608" cy="1247775"/>
          </a:xfrm>
          <a:prstGeom prst="roundRect">
            <a:avLst>
              <a:gd name="adj" fmla="val 763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54" name="文字_154">
            <a:extLst>
              <a:ext uri="{FF2B5EF4-FFF2-40B4-BE49-F238E27FC236}">
                <a16:creationId xmlns:a16="http://schemas.microsoft.com/office/drawing/2014/main" id="{65F163A0-BE7F-45E7-B0DC-09859E6AAA4A}"/>
              </a:ext>
            </a:extLst>
          </p:cNvPr>
          <p:cNvSpPr>
            <a:spLocks noGrp="1"/>
          </p:cNvSpPr>
          <p:nvPr/>
        </p:nvSpPr>
        <p:spPr>
          <a:xfrm>
            <a:off x="2654808" y="17354550"/>
            <a:ext cx="1664208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供需失配与阈值</a:t>
            </a:r>
          </a:p>
        </p:txBody>
      </p:sp>
      <p:sp>
        <p:nvSpPr>
          <p:cNvPr id="155" name="文字_155">
            <a:extLst>
              <a:ext uri="{FF2B5EF4-FFF2-40B4-BE49-F238E27FC236}">
                <a16:creationId xmlns:a16="http://schemas.microsoft.com/office/drawing/2014/main" id="{A38CCA64-ABEE-4796-9C3B-4D4A1285C049}"/>
              </a:ext>
            </a:extLst>
          </p:cNvPr>
          <p:cNvSpPr>
            <a:spLocks noGrp="1"/>
          </p:cNvSpPr>
          <p:nvPr/>
        </p:nvSpPr>
        <p:spPr>
          <a:xfrm>
            <a:off x="2683383" y="17716500"/>
            <a:ext cx="16070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持续积压条件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波动放大阈值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扰动累积效应</a:t>
            </a:r>
          </a:p>
        </p:txBody>
      </p:sp>
      <p:sp>
        <p:nvSpPr>
          <p:cNvPr id="156" name="积压消散与恢复_156">
            <a:extLst>
              <a:ext uri="{FF2B5EF4-FFF2-40B4-BE49-F238E27FC236}">
                <a16:creationId xmlns:a16="http://schemas.microsoft.com/office/drawing/2014/main" id="{5F999AD4-E522-4663-9965-B9288318C49A}"/>
              </a:ext>
            </a:extLst>
          </p:cNvPr>
          <p:cNvSpPr>
            <a:spLocks noGrp="1"/>
          </p:cNvSpPr>
          <p:nvPr/>
        </p:nvSpPr>
        <p:spPr>
          <a:xfrm>
            <a:off x="4724400" y="17287875"/>
            <a:ext cx="1816608" cy="1247775"/>
          </a:xfrm>
          <a:prstGeom prst="roundRect">
            <a:avLst>
              <a:gd name="adj" fmla="val 763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57" name="文字_157">
            <a:extLst>
              <a:ext uri="{FF2B5EF4-FFF2-40B4-BE49-F238E27FC236}">
                <a16:creationId xmlns:a16="http://schemas.microsoft.com/office/drawing/2014/main" id="{1042632E-CE14-4DE7-B212-7EFF3A5E1AE0}"/>
              </a:ext>
            </a:extLst>
          </p:cNvPr>
          <p:cNvSpPr>
            <a:spLocks noGrp="1"/>
          </p:cNvSpPr>
          <p:nvPr/>
        </p:nvSpPr>
        <p:spPr>
          <a:xfrm>
            <a:off x="4800600" y="17354550"/>
            <a:ext cx="1664208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积压消散与恢复</a:t>
            </a:r>
          </a:p>
        </p:txBody>
      </p:sp>
      <p:sp>
        <p:nvSpPr>
          <p:cNvPr id="158" name="文字_158">
            <a:extLst>
              <a:ext uri="{FF2B5EF4-FFF2-40B4-BE49-F238E27FC236}">
                <a16:creationId xmlns:a16="http://schemas.microsoft.com/office/drawing/2014/main" id="{AFC00A5E-2866-4DFD-92B5-E1BAB6D0F641}"/>
              </a:ext>
            </a:extLst>
          </p:cNvPr>
          <p:cNvSpPr>
            <a:spLocks noGrp="1"/>
          </p:cNvSpPr>
          <p:nvPr/>
        </p:nvSpPr>
        <p:spPr>
          <a:xfrm>
            <a:off x="4829175" y="17716500"/>
            <a:ext cx="16070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积压消散速度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运输服务恢复时间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累计服务损失</a:t>
            </a:r>
          </a:p>
        </p:txBody>
      </p:sp>
      <p:sp>
        <p:nvSpPr>
          <p:cNvPr id="159" name="响应差异与边界_159">
            <a:extLst>
              <a:ext uri="{FF2B5EF4-FFF2-40B4-BE49-F238E27FC236}">
                <a16:creationId xmlns:a16="http://schemas.microsoft.com/office/drawing/2014/main" id="{08F00903-68A7-4E7F-9857-5CC99D696F66}"/>
              </a:ext>
            </a:extLst>
          </p:cNvPr>
          <p:cNvSpPr>
            <a:spLocks noGrp="1"/>
          </p:cNvSpPr>
          <p:nvPr/>
        </p:nvSpPr>
        <p:spPr>
          <a:xfrm>
            <a:off x="6870192" y="17287875"/>
            <a:ext cx="1816608" cy="1247775"/>
          </a:xfrm>
          <a:prstGeom prst="roundRect">
            <a:avLst>
              <a:gd name="adj" fmla="val 763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60" name="文字_160">
            <a:extLst>
              <a:ext uri="{FF2B5EF4-FFF2-40B4-BE49-F238E27FC236}">
                <a16:creationId xmlns:a16="http://schemas.microsoft.com/office/drawing/2014/main" id="{2F99A5F3-5F47-434C-A8D3-2F037CF5ED38}"/>
              </a:ext>
            </a:extLst>
          </p:cNvPr>
          <p:cNvSpPr>
            <a:spLocks noGrp="1"/>
          </p:cNvSpPr>
          <p:nvPr/>
        </p:nvSpPr>
        <p:spPr>
          <a:xfrm>
            <a:off x="6946392" y="17354550"/>
            <a:ext cx="1664208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响应差异与边界</a:t>
            </a:r>
          </a:p>
        </p:txBody>
      </p:sp>
      <p:sp>
        <p:nvSpPr>
          <p:cNvPr id="161" name="文字_161">
            <a:extLst>
              <a:ext uri="{FF2B5EF4-FFF2-40B4-BE49-F238E27FC236}">
                <a16:creationId xmlns:a16="http://schemas.microsoft.com/office/drawing/2014/main" id="{2DDFBE40-BCF4-49CB-B9DB-A2EFA7BEB05F}"/>
              </a:ext>
            </a:extLst>
          </p:cNvPr>
          <p:cNvSpPr>
            <a:spLocks noGrp="1"/>
          </p:cNvSpPr>
          <p:nvPr/>
        </p:nvSpPr>
        <p:spPr>
          <a:xfrm>
            <a:off x="6974967" y="17716500"/>
            <a:ext cx="16070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关键影响因素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货类与通道差异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模型适用范围</a:t>
            </a:r>
          </a:p>
        </p:txBody>
      </p:sp>
      <p:sp>
        <p:nvSpPr>
          <p:cNvPr id="162" name="施工情景与能力变化_162">
            <a:extLst>
              <a:ext uri="{FF2B5EF4-FFF2-40B4-BE49-F238E27FC236}">
                <a16:creationId xmlns:a16="http://schemas.microsoft.com/office/drawing/2014/main" id="{756EAC77-2EB2-4910-8A25-C4FB34782E00}"/>
              </a:ext>
            </a:extLst>
          </p:cNvPr>
          <p:cNvSpPr>
            <a:spLocks noGrp="1"/>
          </p:cNvSpPr>
          <p:nvPr/>
        </p:nvSpPr>
        <p:spPr>
          <a:xfrm>
            <a:off x="9784080" y="1381125"/>
            <a:ext cx="2084832" cy="1257300"/>
          </a:xfrm>
          <a:prstGeom prst="roundRect">
            <a:avLst>
              <a:gd name="adj" fmla="val 7576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63" name="文字_163">
            <a:extLst>
              <a:ext uri="{FF2B5EF4-FFF2-40B4-BE49-F238E27FC236}">
                <a16:creationId xmlns:a16="http://schemas.microsoft.com/office/drawing/2014/main" id="{CCFE4ECB-4A11-4766-9935-50D4EFB73A87}"/>
              </a:ext>
            </a:extLst>
          </p:cNvPr>
          <p:cNvSpPr>
            <a:spLocks noGrp="1"/>
          </p:cNvSpPr>
          <p:nvPr/>
        </p:nvSpPr>
        <p:spPr>
          <a:xfrm>
            <a:off x="9860280" y="1447800"/>
            <a:ext cx="1932432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施工情景与能力变化</a:t>
            </a:r>
          </a:p>
        </p:txBody>
      </p:sp>
      <p:sp>
        <p:nvSpPr>
          <p:cNvPr id="164" name="文字_164">
            <a:extLst>
              <a:ext uri="{FF2B5EF4-FFF2-40B4-BE49-F238E27FC236}">
                <a16:creationId xmlns:a16="http://schemas.microsoft.com/office/drawing/2014/main" id="{1E75C6D3-9872-4816-84A9-C55BAC7811A1}"/>
              </a:ext>
            </a:extLst>
          </p:cNvPr>
          <p:cNvSpPr>
            <a:spLocks noGrp="1"/>
          </p:cNvSpPr>
          <p:nvPr/>
        </p:nvSpPr>
        <p:spPr>
          <a:xfrm>
            <a:off x="9888855" y="1905000"/>
            <a:ext cx="1875282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通航约束与能力折减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持续时间与恢复过程</a:t>
            </a:r>
          </a:p>
        </p:txBody>
      </p:sp>
      <p:sp>
        <p:nvSpPr>
          <p:cNvPr id="165" name="需求与到达变化_165">
            <a:extLst>
              <a:ext uri="{FF2B5EF4-FFF2-40B4-BE49-F238E27FC236}">
                <a16:creationId xmlns:a16="http://schemas.microsoft.com/office/drawing/2014/main" id="{C9D50BE8-669F-4709-8562-181B777817E1}"/>
              </a:ext>
            </a:extLst>
          </p:cNvPr>
          <p:cNvSpPr>
            <a:spLocks noGrp="1"/>
          </p:cNvSpPr>
          <p:nvPr/>
        </p:nvSpPr>
        <p:spPr>
          <a:xfrm>
            <a:off x="9784080" y="3400425"/>
            <a:ext cx="2084832" cy="1257300"/>
          </a:xfrm>
          <a:prstGeom prst="roundRect">
            <a:avLst>
              <a:gd name="adj" fmla="val 7576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66" name="文字_166">
            <a:extLst>
              <a:ext uri="{FF2B5EF4-FFF2-40B4-BE49-F238E27FC236}">
                <a16:creationId xmlns:a16="http://schemas.microsoft.com/office/drawing/2014/main" id="{8F8DECB8-00E8-4AC4-9CCC-E0D16EC4C073}"/>
              </a:ext>
            </a:extLst>
          </p:cNvPr>
          <p:cNvSpPr>
            <a:spLocks noGrp="1"/>
          </p:cNvSpPr>
          <p:nvPr/>
        </p:nvSpPr>
        <p:spPr>
          <a:xfrm>
            <a:off x="9860280" y="3467100"/>
            <a:ext cx="1932432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需求与到达变化</a:t>
            </a:r>
          </a:p>
        </p:txBody>
      </p:sp>
      <p:sp>
        <p:nvSpPr>
          <p:cNvPr id="167" name="文字_167">
            <a:extLst>
              <a:ext uri="{FF2B5EF4-FFF2-40B4-BE49-F238E27FC236}">
                <a16:creationId xmlns:a16="http://schemas.microsoft.com/office/drawing/2014/main" id="{F291ADB7-3899-4D1C-BFD4-46AE2D9C7F60}"/>
              </a:ext>
            </a:extLst>
          </p:cNvPr>
          <p:cNvSpPr>
            <a:spLocks noGrp="1"/>
          </p:cNvSpPr>
          <p:nvPr/>
        </p:nvSpPr>
        <p:spPr>
          <a:xfrm>
            <a:off x="9888855" y="3924300"/>
            <a:ext cx="1875282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常态需求特征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施工影响幅度与时滞</a:t>
            </a:r>
          </a:p>
        </p:txBody>
      </p:sp>
      <p:sp>
        <p:nvSpPr>
          <p:cNvPr id="168" name="运行与服务响应_168">
            <a:extLst>
              <a:ext uri="{FF2B5EF4-FFF2-40B4-BE49-F238E27FC236}">
                <a16:creationId xmlns:a16="http://schemas.microsoft.com/office/drawing/2014/main" id="{7200EBED-AAC6-41A7-8AD4-FDD32BB33AE5}"/>
              </a:ext>
            </a:extLst>
          </p:cNvPr>
          <p:cNvSpPr>
            <a:spLocks noGrp="1"/>
          </p:cNvSpPr>
          <p:nvPr/>
        </p:nvSpPr>
        <p:spPr>
          <a:xfrm>
            <a:off x="9784080" y="5943600"/>
            <a:ext cx="2084832" cy="1400175"/>
          </a:xfrm>
          <a:prstGeom prst="roundRect">
            <a:avLst>
              <a:gd name="adj" fmla="val 6803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69" name="文字_169">
            <a:extLst>
              <a:ext uri="{FF2B5EF4-FFF2-40B4-BE49-F238E27FC236}">
                <a16:creationId xmlns:a16="http://schemas.microsoft.com/office/drawing/2014/main" id="{973C921F-47AE-4F6C-ADB2-E470290421B4}"/>
              </a:ext>
            </a:extLst>
          </p:cNvPr>
          <p:cNvSpPr>
            <a:spLocks noGrp="1"/>
          </p:cNvSpPr>
          <p:nvPr/>
        </p:nvSpPr>
        <p:spPr>
          <a:xfrm>
            <a:off x="9860280" y="6010275"/>
            <a:ext cx="1932432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运行与服务响应</a:t>
            </a:r>
          </a:p>
        </p:txBody>
      </p:sp>
      <p:sp>
        <p:nvSpPr>
          <p:cNvPr id="170" name="文字_170">
            <a:extLst>
              <a:ext uri="{FF2B5EF4-FFF2-40B4-BE49-F238E27FC236}">
                <a16:creationId xmlns:a16="http://schemas.microsoft.com/office/drawing/2014/main" id="{9E8DE2B9-DC35-41A0-82C9-0E76FD632FB2}"/>
              </a:ext>
            </a:extLst>
          </p:cNvPr>
          <p:cNvSpPr>
            <a:spLocks noGrp="1"/>
          </p:cNvSpPr>
          <p:nvPr/>
        </p:nvSpPr>
        <p:spPr>
          <a:xfrm>
            <a:off x="9888855" y="6467475"/>
            <a:ext cx="1875282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通过量、积压与等待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船期、时效与可靠性</a:t>
            </a:r>
          </a:p>
        </p:txBody>
      </p:sp>
      <p:sp>
        <p:nvSpPr>
          <p:cNvPr id="171" name="组织调整与反馈_171">
            <a:extLst>
              <a:ext uri="{FF2B5EF4-FFF2-40B4-BE49-F238E27FC236}">
                <a16:creationId xmlns:a16="http://schemas.microsoft.com/office/drawing/2014/main" id="{7D8187CF-F3EF-41FD-A60B-71221F7A1FCE}"/>
              </a:ext>
            </a:extLst>
          </p:cNvPr>
          <p:cNvSpPr>
            <a:spLocks noGrp="1"/>
          </p:cNvSpPr>
          <p:nvPr/>
        </p:nvSpPr>
        <p:spPr>
          <a:xfrm>
            <a:off x="9784080" y="9201150"/>
            <a:ext cx="2084832" cy="1600200"/>
          </a:xfrm>
          <a:prstGeom prst="roundRect">
            <a:avLst>
              <a:gd name="adj" fmla="val 5952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72" name="文字_172">
            <a:extLst>
              <a:ext uri="{FF2B5EF4-FFF2-40B4-BE49-F238E27FC236}">
                <a16:creationId xmlns:a16="http://schemas.microsoft.com/office/drawing/2014/main" id="{84A66FA4-49A5-4870-8CCF-422D5ABD3A17}"/>
              </a:ext>
            </a:extLst>
          </p:cNvPr>
          <p:cNvSpPr>
            <a:spLocks noGrp="1"/>
          </p:cNvSpPr>
          <p:nvPr/>
        </p:nvSpPr>
        <p:spPr>
          <a:xfrm>
            <a:off x="9860280" y="9267825"/>
            <a:ext cx="1932432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组织调整与反馈</a:t>
            </a:r>
          </a:p>
        </p:txBody>
      </p:sp>
      <p:sp>
        <p:nvSpPr>
          <p:cNvPr id="173" name="文字_173">
            <a:extLst>
              <a:ext uri="{FF2B5EF4-FFF2-40B4-BE49-F238E27FC236}">
                <a16:creationId xmlns:a16="http://schemas.microsoft.com/office/drawing/2014/main" id="{C9A20D98-9F83-451B-89C0-582E3925C262}"/>
              </a:ext>
            </a:extLst>
          </p:cNvPr>
          <p:cNvSpPr>
            <a:spLocks noGrp="1"/>
          </p:cNvSpPr>
          <p:nvPr/>
        </p:nvSpPr>
        <p:spPr>
          <a:xfrm>
            <a:off x="9888855" y="9725025"/>
            <a:ext cx="1875282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航次与发运调整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运力与到达变化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调整幅度与响应时滞</a:t>
            </a:r>
          </a:p>
        </p:txBody>
      </p:sp>
      <p:sp>
        <p:nvSpPr>
          <p:cNvPr id="174" name="传播与恢复规律_174">
            <a:extLst>
              <a:ext uri="{FF2B5EF4-FFF2-40B4-BE49-F238E27FC236}">
                <a16:creationId xmlns:a16="http://schemas.microsoft.com/office/drawing/2014/main" id="{F0C3239A-C942-4B34-B8F0-8F91BF2D917A}"/>
              </a:ext>
            </a:extLst>
          </p:cNvPr>
          <p:cNvSpPr>
            <a:spLocks noGrp="1"/>
          </p:cNvSpPr>
          <p:nvPr/>
        </p:nvSpPr>
        <p:spPr>
          <a:xfrm>
            <a:off x="9784080" y="12182475"/>
            <a:ext cx="2084832" cy="1314450"/>
          </a:xfrm>
          <a:prstGeom prst="roundRect">
            <a:avLst>
              <a:gd name="adj" fmla="val 7246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75" name="文字_175">
            <a:extLst>
              <a:ext uri="{FF2B5EF4-FFF2-40B4-BE49-F238E27FC236}">
                <a16:creationId xmlns:a16="http://schemas.microsoft.com/office/drawing/2014/main" id="{7B6C0766-C9E5-4164-843B-1C00131AECE7}"/>
              </a:ext>
            </a:extLst>
          </p:cNvPr>
          <p:cNvSpPr>
            <a:spLocks noGrp="1"/>
          </p:cNvSpPr>
          <p:nvPr/>
        </p:nvSpPr>
        <p:spPr>
          <a:xfrm>
            <a:off x="9860280" y="12249150"/>
            <a:ext cx="1932432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传播与恢复规律</a:t>
            </a:r>
          </a:p>
        </p:txBody>
      </p:sp>
      <p:sp>
        <p:nvSpPr>
          <p:cNvPr id="176" name="文字_176">
            <a:extLst>
              <a:ext uri="{FF2B5EF4-FFF2-40B4-BE49-F238E27FC236}">
                <a16:creationId xmlns:a16="http://schemas.microsoft.com/office/drawing/2014/main" id="{F1A7A855-BDD3-4C00-83F7-83E744BD74D1}"/>
              </a:ext>
            </a:extLst>
          </p:cNvPr>
          <p:cNvSpPr>
            <a:spLocks noGrp="1"/>
          </p:cNvSpPr>
          <p:nvPr/>
        </p:nvSpPr>
        <p:spPr>
          <a:xfrm>
            <a:off x="9888855" y="12706350"/>
            <a:ext cx="1875282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传播范围与时滞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放大阈值与恢复过程</a:t>
            </a:r>
          </a:p>
        </p:txBody>
      </p:sp>
      <p:sp>
        <p:nvSpPr>
          <p:cNvPr id="177" name="响应模型与参数_177">
            <a:extLst>
              <a:ext uri="{FF2B5EF4-FFF2-40B4-BE49-F238E27FC236}">
                <a16:creationId xmlns:a16="http://schemas.microsoft.com/office/drawing/2014/main" id="{9AE268B2-8B98-41DE-8672-79498795015F}"/>
              </a:ext>
            </a:extLst>
          </p:cNvPr>
          <p:cNvSpPr>
            <a:spLocks noGrp="1"/>
          </p:cNvSpPr>
          <p:nvPr/>
        </p:nvSpPr>
        <p:spPr>
          <a:xfrm>
            <a:off x="9784080" y="14592300"/>
            <a:ext cx="2084832" cy="1333500"/>
          </a:xfrm>
          <a:prstGeom prst="roundRect">
            <a:avLst>
              <a:gd name="adj" fmla="val 7143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78" name="文字_178">
            <a:extLst>
              <a:ext uri="{FF2B5EF4-FFF2-40B4-BE49-F238E27FC236}">
                <a16:creationId xmlns:a16="http://schemas.microsoft.com/office/drawing/2014/main" id="{D5E4F0C0-B551-4288-895C-9DB0071E5E91}"/>
              </a:ext>
            </a:extLst>
          </p:cNvPr>
          <p:cNvSpPr>
            <a:spLocks noGrp="1"/>
          </p:cNvSpPr>
          <p:nvPr/>
        </p:nvSpPr>
        <p:spPr>
          <a:xfrm>
            <a:off x="9860280" y="14658975"/>
            <a:ext cx="1932432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响应模型与参数</a:t>
            </a:r>
          </a:p>
        </p:txBody>
      </p:sp>
      <p:sp>
        <p:nvSpPr>
          <p:cNvPr id="179" name="文字_179">
            <a:extLst>
              <a:ext uri="{FF2B5EF4-FFF2-40B4-BE49-F238E27FC236}">
                <a16:creationId xmlns:a16="http://schemas.microsoft.com/office/drawing/2014/main" id="{9D8DE27D-217C-4E83-A8E2-E5B7AD9DA63E}"/>
              </a:ext>
            </a:extLst>
          </p:cNvPr>
          <p:cNvSpPr>
            <a:spLocks noGrp="1"/>
          </p:cNvSpPr>
          <p:nvPr/>
        </p:nvSpPr>
        <p:spPr>
          <a:xfrm>
            <a:off x="9888855" y="15116175"/>
            <a:ext cx="1875282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航运动态响应模块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运行参数与适用范围</a:t>
            </a:r>
          </a:p>
        </p:txBody>
      </p:sp>
      <p:sp>
        <p:nvSpPr>
          <p:cNvPr id="180" name="模型检验结果_180">
            <a:extLst>
              <a:ext uri="{FF2B5EF4-FFF2-40B4-BE49-F238E27FC236}">
                <a16:creationId xmlns:a16="http://schemas.microsoft.com/office/drawing/2014/main" id="{EDCAA6AC-B931-40F9-B9B3-FF43E1E93DFD}"/>
              </a:ext>
            </a:extLst>
          </p:cNvPr>
          <p:cNvSpPr>
            <a:spLocks noGrp="1"/>
          </p:cNvSpPr>
          <p:nvPr/>
        </p:nvSpPr>
        <p:spPr>
          <a:xfrm>
            <a:off x="9784080" y="17287875"/>
            <a:ext cx="2084832" cy="1247775"/>
          </a:xfrm>
          <a:prstGeom prst="roundRect">
            <a:avLst>
              <a:gd name="adj" fmla="val 7634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81" name="文字_181">
            <a:extLst>
              <a:ext uri="{FF2B5EF4-FFF2-40B4-BE49-F238E27FC236}">
                <a16:creationId xmlns:a16="http://schemas.microsoft.com/office/drawing/2014/main" id="{2AE858A2-997C-4B10-945D-F0107E397FDD}"/>
              </a:ext>
            </a:extLst>
          </p:cNvPr>
          <p:cNvSpPr>
            <a:spLocks noGrp="1"/>
          </p:cNvSpPr>
          <p:nvPr/>
        </p:nvSpPr>
        <p:spPr>
          <a:xfrm>
            <a:off x="9860280" y="17354550"/>
            <a:ext cx="1932432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模型检验结果</a:t>
            </a:r>
          </a:p>
        </p:txBody>
      </p:sp>
      <p:sp>
        <p:nvSpPr>
          <p:cNvPr id="182" name="文字_182">
            <a:extLst>
              <a:ext uri="{FF2B5EF4-FFF2-40B4-BE49-F238E27FC236}">
                <a16:creationId xmlns:a16="http://schemas.microsoft.com/office/drawing/2014/main" id="{045EC5D0-97EF-494A-8CA0-A3B5337F99F1}"/>
              </a:ext>
            </a:extLst>
          </p:cNvPr>
          <p:cNvSpPr>
            <a:spLocks noGrp="1"/>
          </p:cNvSpPr>
          <p:nvPr/>
        </p:nvSpPr>
        <p:spPr>
          <a:xfrm>
            <a:off x="9888855" y="17811750"/>
            <a:ext cx="1875282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运行指标误差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典型情景适用性</a:t>
            </a:r>
          </a:p>
        </p:txBody>
      </p:sp>
      <p:sp>
        <p:nvSpPr>
          <p:cNvPr id="183" name="流程箭头_183">
            <a:extLst>
              <a:ext uri="{FF2B5EF4-FFF2-40B4-BE49-F238E27FC236}">
                <a16:creationId xmlns:a16="http://schemas.microsoft.com/office/drawing/2014/main" id="{B95E7074-42A6-4125-97C7-0173304E19C0}"/>
              </a:ext>
            </a:extLst>
          </p:cNvPr>
          <p:cNvSpPr>
            <a:spLocks noGrp="1"/>
          </p:cNvSpPr>
          <p:nvPr/>
        </p:nvSpPr>
        <p:spPr>
          <a:xfrm>
            <a:off x="10753725" y="2809875"/>
            <a:ext cx="152400" cy="41910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184" name="流程箭头_184">
            <a:extLst>
              <a:ext uri="{FF2B5EF4-FFF2-40B4-BE49-F238E27FC236}">
                <a16:creationId xmlns:a16="http://schemas.microsoft.com/office/drawing/2014/main" id="{D1ECA523-F42C-413A-A7DD-F22B8DA84852}"/>
              </a:ext>
            </a:extLst>
          </p:cNvPr>
          <p:cNvSpPr>
            <a:spLocks noGrp="1"/>
          </p:cNvSpPr>
          <p:nvPr/>
        </p:nvSpPr>
        <p:spPr>
          <a:xfrm>
            <a:off x="10753725" y="4810125"/>
            <a:ext cx="152400" cy="962025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185" name="流程箭头_185">
            <a:extLst>
              <a:ext uri="{FF2B5EF4-FFF2-40B4-BE49-F238E27FC236}">
                <a16:creationId xmlns:a16="http://schemas.microsoft.com/office/drawing/2014/main" id="{6667DD3D-772E-4E12-B221-7A61555CB640}"/>
              </a:ext>
            </a:extLst>
          </p:cNvPr>
          <p:cNvSpPr>
            <a:spLocks noGrp="1"/>
          </p:cNvSpPr>
          <p:nvPr/>
        </p:nvSpPr>
        <p:spPr>
          <a:xfrm>
            <a:off x="10753725" y="7515225"/>
            <a:ext cx="152400" cy="152400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186" name="流程箭头_186">
            <a:extLst>
              <a:ext uri="{FF2B5EF4-FFF2-40B4-BE49-F238E27FC236}">
                <a16:creationId xmlns:a16="http://schemas.microsoft.com/office/drawing/2014/main" id="{4E74005E-1ED5-4642-AC0B-877A6404BA73}"/>
              </a:ext>
            </a:extLst>
          </p:cNvPr>
          <p:cNvSpPr>
            <a:spLocks noGrp="1"/>
          </p:cNvSpPr>
          <p:nvPr/>
        </p:nvSpPr>
        <p:spPr>
          <a:xfrm>
            <a:off x="10753725" y="10972800"/>
            <a:ext cx="152400" cy="1038225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187" name="流程箭头_187">
            <a:extLst>
              <a:ext uri="{FF2B5EF4-FFF2-40B4-BE49-F238E27FC236}">
                <a16:creationId xmlns:a16="http://schemas.microsoft.com/office/drawing/2014/main" id="{6F18EE81-3E15-4CED-BBEE-5514103F3FDF}"/>
              </a:ext>
            </a:extLst>
          </p:cNvPr>
          <p:cNvSpPr>
            <a:spLocks noGrp="1"/>
          </p:cNvSpPr>
          <p:nvPr/>
        </p:nvSpPr>
        <p:spPr>
          <a:xfrm>
            <a:off x="10753725" y="13687425"/>
            <a:ext cx="152400" cy="733425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188" name="流程箭头_188">
            <a:extLst>
              <a:ext uri="{FF2B5EF4-FFF2-40B4-BE49-F238E27FC236}">
                <a16:creationId xmlns:a16="http://schemas.microsoft.com/office/drawing/2014/main" id="{6CD28E67-BFF8-42BE-993C-464C641054F7}"/>
              </a:ext>
            </a:extLst>
          </p:cNvPr>
          <p:cNvSpPr>
            <a:spLocks noGrp="1"/>
          </p:cNvSpPr>
          <p:nvPr/>
        </p:nvSpPr>
        <p:spPr>
          <a:xfrm>
            <a:off x="10753725" y="16116300"/>
            <a:ext cx="152400" cy="1000125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952803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840ae5c-a96c-4873-9eff-317269bfd30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596378BD0A034CA010BCA7B12858A4" ma:contentTypeVersion="14" ma:contentTypeDescription="Create a new document." ma:contentTypeScope="" ma:versionID="9369bf9e028bb3ca07af097fb0267f78">
  <xsd:schema xmlns:xsd="http://www.w3.org/2001/XMLSchema" xmlns:xs="http://www.w3.org/2001/XMLSchema" xmlns:p="http://schemas.microsoft.com/office/2006/metadata/properties" xmlns:ns3="2840ae5c-a96c-4873-9eff-317269bfd306" targetNamespace="http://schemas.microsoft.com/office/2006/metadata/properties" ma:root="true" ma:fieldsID="63f35e9d30a0212470227851159404e3" ns3:_="">
    <xsd:import namespace="2840ae5c-a96c-4873-9eff-317269bfd30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0ae5c-a96c-4873-9eff-317269bfd3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0766A0-2E15-467E-82A8-07DF070064B1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2840ae5c-a96c-4873-9eff-317269bfd306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13D5EB6-ED5A-4013-BAAD-2CE11AACDC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50E56E-0C26-4510-AFD8-606AF34A3A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40ae5c-a96c-4873-9eff-317269bfd3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959</Words>
  <Application>Microsoft Office PowerPoint</Application>
  <PresentationFormat>自定义</PresentationFormat>
  <Paragraphs>527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微软雅黑</vt:lpstr>
      <vt:lpstr>Arial</vt:lpstr>
      <vt:lpstr>Calibri</vt:lpstr>
      <vt:lpstr>Office Theme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子课题3 技术路线图</dc:title>
  <dc:subject/>
  <dc:creator>xindodo</dc:creator>
  <cp:keywords/>
  <dc:description>generated using python-pptx</dc:description>
  <cp:lastModifiedBy>Xin Zhao</cp:lastModifiedBy>
  <cp:revision>9</cp:revision>
  <dcterms:created xsi:type="dcterms:W3CDTF">2013-01-27T09:14:16Z</dcterms:created>
  <dcterms:modified xsi:type="dcterms:W3CDTF">2026-10-05T04:56:29Z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0x0101003E596378BD0A034CA010BCA7B12858A4</vt:lpwstr>
  </property>
</Properties>
</file>