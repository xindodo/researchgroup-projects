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refined2_slideMaster1.xml" ContentType="application/vnd.openxmlformats-officedocument.presentationml.slideMaster+xml"/>
  <Override PartName="/ppt/slideMasters/theme/refined2_theme2.xml" ContentType="application/vnd.openxmlformats-officedocument.theme+xml"/>
  <Override PartName="/ppt/slideLayouts/refined2_slideLayout1.xml" ContentType="application/vnd.openxmlformats-officedocument.presentationml.slideLayout+xml"/>
  <Override PartName="/ppt/notesSlides/refined2_notesSlide1.xml" ContentType="application/vnd.openxmlformats-officedocument.presentationml.notesSlide+xml"/>
  <Override PartName="/ppt/customXml/itemProps1.xml" ContentType="application/vnd.openxmlformats-officedocument.customXmlProperties+xml"/>
  <Override PartName="/ppt/customXml/itemProps2.xml" ContentType="application/vnd.openxmlformats-officedocument.customXmlProperties+xml"/>
  <Override PartName="/ppt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4"/>
    <p:sldMasterId id="2147483660" r:id="rId5"/>
    <p:sldMasterId r:id="rId13" id="2147483661"/>
  </p:sldMasterIdLst>
  <p:notesMasterIdLst>
    <p:notesMasterId r:id="rId8"/>
  </p:notesMasterIdLst>
  <p:sldIdLst>
    <p:sldId id="257" r:id="rId6"/>
    <p:sldId id="258" r:id="rId7"/>
  </p:sldIdLst>
  <p:sldSz cx="12192000" cy="25199975"/>
  <p:notesSz cx="6858000" cy="9144000"/>
  <p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>
        <ns3:guide id="1" orient="horz" pos="7937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napToObjects="1">
      <p:cViewPr>
        <p:scale>
          <a:sx n="33" d="100"/>
          <a:sy n="33" d="100"/>
        </p:scale>
        <p:origin x="3730" y="504"/>
      </p:cViewPr>
      <p:guideLst>
        <p:guide orient="horz" pos="79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notesMaster" Target="notesMasters/notesMaster1.xml" /><ns0:Relationship Id="rId3" Type="http://schemas.openxmlformats.org/officeDocument/2006/relationships/customXml" Target="customXml/item3.xml" /><ns0:Relationship Id="rId7" Type="http://schemas.openxmlformats.org/officeDocument/2006/relationships/slide" Target="slides/slide2.xml" /><ns0:Relationship Id="rId12" Type="http://schemas.openxmlformats.org/officeDocument/2006/relationships/tableStyles" Target="tableStyles.xml" /><ns0:Relationship Id="rId2" Type="http://schemas.openxmlformats.org/officeDocument/2006/relationships/customXml" Target="customXml/item2.xml" /><ns0:Relationship Id="rId1" Type="http://schemas.openxmlformats.org/officeDocument/2006/relationships/customXml" Target="customXml/item1.xml" /><ns0:Relationship Id="rId6" Type="http://schemas.openxmlformats.org/officeDocument/2006/relationships/slide" Target="slides/slide1.xml" /><ns0:Relationship Id="rId11" Type="http://schemas.openxmlformats.org/officeDocument/2006/relationships/theme" Target="theme/theme1.xml" /><ns0:Relationship Id="rId5" Type="http://schemas.openxmlformats.org/officeDocument/2006/relationships/slideMaster" Target="slideMasters/slideMaster2.xml" /><ns0:Relationship Id="rId10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9" Type="http://schemas.openxmlformats.org/officeDocument/2006/relationships/presProps" Target="presProps.xml" /><ns0:Relationship Id="rId13" Type="http://schemas.openxmlformats.org/officeDocument/2006/relationships/slideMaster" Target="slideMasters/refined2_slideMaster1.xml" /></ns0:Relationships>
</file>

<file path=ppt/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ppt/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ppt/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ppt/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refined2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6d4995b0de234f73" /><ns0:Relationship Type="http://schemas.openxmlformats.org/officeDocument/2006/relationships/notesMaster" Target="../notesMasters/notesMaster1.xml" Id="Re695e591523b4555" /></ns0: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本项目已讨论确定的子课题三研究内容绘制。研究边界限定为航运运行、运输服务、直接航运市场与经营经济响应，以及其主体行为反馈。子课题一提供多源数据与系统特征，子课题二提供级联机理与关联路径，子课题四开展区域及产业链响应分析，子课题五负责全链条模型集成与整体验证。空间经济整体模型与综合交通超级网络提供区域需求、网络背景和仿真基础；细粒度航运响应模型仍需独立构建、校准及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refine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子课题三技术路线细化方案。依据此前确定的三项主要研究内容及两页路线对比完善，保留施工扰动、运行与货类数据、市场行为、网络传播、模型方法、校准检验及成果接口内容。第一部分增加施工参数—通航约束—多情景库，以及能力与需求并行分支、常态波动识别和供需失配服务响应。第二部分区分通航限制引起的直接适应和市场信息驱动调整，两条反馈路线分别更新能力供给及到达需求，不预设成本增加必然引起运价上涨。第三部分将机制识别、响应模型构建、事件校准、独立检验和多情景传播恢复推演联动，校准及检验结果返回模型修正。完整级联模型、产业响应和项目平台任务按子课题分工衔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refine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refined2_slideMaster1.xml" Id="R1dc1b27e8ee742e2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refine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1" y="7828339"/>
            <a:ext cx="7772400" cy="54016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279986"/>
            <a:ext cx="6400800" cy="6439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193330"/>
            <a:ext cx="7772400" cy="500499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680830"/>
            <a:ext cx="7772400" cy="55124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1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30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3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4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5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59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2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5880007"/>
            <a:ext cx="4038601" cy="166308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1"/>
            </a:lvl4pPr>
            <a:lvl5pPr>
              <a:defRPr sz="1801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5640830"/>
            <a:ext cx="4040188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7991659"/>
            <a:ext cx="4040188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5640830"/>
            <a:ext cx="4041775" cy="23508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7" indent="0">
              <a:buNone/>
              <a:defRPr sz="2000" b="1"/>
            </a:lvl2pPr>
            <a:lvl3pPr marL="914415" indent="0">
              <a:buNone/>
              <a:defRPr sz="1801" b="1"/>
            </a:lvl3pPr>
            <a:lvl4pPr marL="1371622" indent="0">
              <a:buNone/>
              <a:defRPr sz="1600" b="1"/>
            </a:lvl4pPr>
            <a:lvl5pPr marL="1828830" indent="0">
              <a:buNone/>
              <a:defRPr sz="1600" b="1"/>
            </a:lvl5pPr>
            <a:lvl6pPr marL="2286037" indent="0">
              <a:buNone/>
              <a:defRPr sz="1600" b="1"/>
            </a:lvl6pPr>
            <a:lvl7pPr marL="2743245" indent="0">
              <a:buNone/>
              <a:defRPr sz="1600" b="1"/>
            </a:lvl7pPr>
            <a:lvl8pPr marL="3200452" indent="0">
              <a:buNone/>
              <a:defRPr sz="1600" b="1"/>
            </a:lvl8pPr>
            <a:lvl9pPr marL="365765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7991659"/>
            <a:ext cx="4041775" cy="1451915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1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03332"/>
            <a:ext cx="3008312" cy="4269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2" y="1003345"/>
            <a:ext cx="5111750" cy="2150748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73341"/>
            <a:ext cx="3008312" cy="1723748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17639982"/>
            <a:ext cx="5486400" cy="20825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251664"/>
            <a:ext cx="5486400" cy="15119985"/>
          </a:xfrm>
        </p:spPr>
        <p:txBody>
          <a:bodyPr/>
          <a:lstStyle>
            <a:lvl1pPr marL="0" indent="0">
              <a:buNone/>
              <a:defRPr sz="3200"/>
            </a:lvl1pPr>
            <a:lvl2pPr marL="457207" indent="0">
              <a:buNone/>
              <a:defRPr sz="2800"/>
            </a:lvl2pPr>
            <a:lvl3pPr marL="914415" indent="0">
              <a:buNone/>
              <a:defRPr sz="2400"/>
            </a:lvl3pPr>
            <a:lvl4pPr marL="1371622" indent="0">
              <a:buNone/>
              <a:defRPr sz="2000"/>
            </a:lvl4pPr>
            <a:lvl5pPr marL="1828830" indent="0">
              <a:buNone/>
              <a:defRPr sz="2000"/>
            </a:lvl5pPr>
            <a:lvl6pPr marL="2286037" indent="0">
              <a:buNone/>
              <a:defRPr sz="2000"/>
            </a:lvl6pPr>
            <a:lvl7pPr marL="2743245" indent="0">
              <a:buNone/>
              <a:defRPr sz="2000"/>
            </a:lvl7pPr>
            <a:lvl8pPr marL="3200452" indent="0">
              <a:buNone/>
              <a:defRPr sz="2000"/>
            </a:lvl8pPr>
            <a:lvl9pPr marL="365765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19722482"/>
            <a:ext cx="5486400" cy="2957495"/>
          </a:xfrm>
        </p:spPr>
        <p:txBody>
          <a:bodyPr/>
          <a:lstStyle>
            <a:lvl1pPr marL="0" indent="0">
              <a:buNone/>
              <a:defRPr sz="1401"/>
            </a:lvl1pPr>
            <a:lvl2pPr marL="457207" indent="0">
              <a:buNone/>
              <a:defRPr sz="1200"/>
            </a:lvl2pPr>
            <a:lvl3pPr marL="914415" indent="0">
              <a:buNone/>
              <a:defRPr sz="1001"/>
            </a:lvl3pPr>
            <a:lvl4pPr marL="1371622" indent="0">
              <a:buNone/>
              <a:defRPr sz="900"/>
            </a:lvl4pPr>
            <a:lvl5pPr marL="1828830" indent="0">
              <a:buNone/>
              <a:defRPr sz="900"/>
            </a:lvl5pPr>
            <a:lvl6pPr marL="2286037" indent="0">
              <a:buNone/>
              <a:defRPr sz="900"/>
            </a:lvl6pPr>
            <a:lvl7pPr marL="2743245" indent="0">
              <a:buNone/>
              <a:defRPr sz="900"/>
            </a:lvl7pPr>
            <a:lvl8pPr marL="3200452" indent="0">
              <a:buNone/>
              <a:defRPr sz="900"/>
            </a:lvl8pPr>
            <a:lvl9pPr marL="365765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1009181"/>
            <a:ext cx="2057401" cy="2150164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3" y="1009181"/>
            <a:ext cx="6019801" cy="2150164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refined2_slideMaster1.xml.rels><?xml version='1.0' encoding='utf-8'?>
<ns0:Relationships xmlns:ns0="http://schemas.openxmlformats.org/package/2006/relationships"><ns0:Relationship Type="http://schemas.openxmlformats.org/officeDocument/2006/relationships/theme" Target="theme/refined2_theme2.xml" Id="R0ae0a169f7334fc2" /><ns0:Relationship Type="http://schemas.openxmlformats.org/officeDocument/2006/relationships/slideLayout" Target="../slideLayouts/refined2_slideLayout1.xml" Id="Re8c272f026974c4c" /></ns0:Relationships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refine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272f02697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009167"/>
            <a:ext cx="8229600" cy="419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80007"/>
            <a:ext cx="8229600" cy="16630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23356657"/>
            <a:ext cx="2895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3356657"/>
            <a:ext cx="213360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5" indent="-342905" algn="l" defTabSz="457207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62" indent="-285755" algn="l" defTabSz="457207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9" indent="-228604" algn="l" defTabSz="457207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7" indent="-228604" algn="l" defTabSz="457207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34" indent="-228604" algn="l" defTabSz="457207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41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49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56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64" indent="-228604" algn="l" defTabSz="457207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0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7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5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2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59" algn="l" defTabSz="45720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4" indent="-228604" algn="l">
        <a:lnSpc>
          <a:spcPct val="90000"/>
        </a:lnSpc>
        <a:spcBef>
          <a:spcPts val="1001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12" indent="-228604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19" indent="-228604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27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205743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514641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971849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429056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886264" indent="-228604" algn="l">
        <a:lnSpc>
          <a:spcPct val="90000"/>
        </a:lnSpc>
        <a:spcBef>
          <a:spcPts val="500"/>
        </a:spcBef>
        <a:buChar char="•"/>
        <a:defRPr sz="1801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1pPr>
      <a:lvl2pPr marL="45720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2pPr>
      <a:lvl3pPr marL="91441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3pPr>
      <a:lvl4pPr marL="137162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4pPr>
      <a:lvl5pPr marL="1828830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5pPr>
      <a:lvl6pPr marL="2286037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6pPr>
      <a:lvl7pPr marL="2743245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7pPr>
      <a:lvl8pPr marL="3200452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8pPr>
      <a:lvl9pPr marL="3657659" algn="l">
        <a:buNone/>
        <a:defRPr sz="1801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refine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refined2_slideLayout1.xml" Id="R4b306333ab424e20" /><ns0:Relationship Type="http://schemas.openxmlformats.org/officeDocument/2006/relationships/notesSlide" Target="../notesSlides/refined2_notesSlide1.xml" Id="R27b6ee35b31e444b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9428580"/>
            <a:ext cx="5852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1087" y="9508423"/>
            <a:ext cx="65836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枢纽施工扰动下航运系统运输能力与需求波动响应研究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30" y="9847645"/>
            <a:ext cx="11057839" cy="12801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6" name="Rounded Rectangle 5"/>
          <p:cNvSpPr/>
          <p:nvPr/>
        </p:nvSpPr>
        <p:spPr>
          <a:xfrm>
            <a:off x="32918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7" name="TextBox 6"/>
          <p:cNvSpPr txBox="1"/>
          <p:nvPr/>
        </p:nvSpPr>
        <p:spPr>
          <a:xfrm>
            <a:off x="32918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8865" y="9957372"/>
            <a:ext cx="457200" cy="5760720"/>
          </a:xfrm>
          <a:prstGeom prst="roundRect">
            <a:avLst>
              <a:gd name="adj" fmla="val 1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9" name="TextBox 8"/>
          <p:cNvSpPr txBox="1"/>
          <p:nvPr/>
        </p:nvSpPr>
        <p:spPr>
          <a:xfrm>
            <a:off x="9198865" y="11602971"/>
            <a:ext cx="457200" cy="24695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策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1" y="12700572"/>
            <a:ext cx="274320" cy="502921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1" name="Right Arrow 10"/>
          <p:cNvSpPr/>
          <p:nvPr/>
        </p:nvSpPr>
        <p:spPr>
          <a:xfrm>
            <a:off x="8887969" y="12700572"/>
            <a:ext cx="274320" cy="502921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2" name="Rounded Rectangle 11"/>
          <p:cNvSpPr/>
          <p:nvPr/>
        </p:nvSpPr>
        <p:spPr>
          <a:xfrm>
            <a:off x="896113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施工方案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17905" y="10067100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工期安排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3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17905" y="10506012"/>
            <a:ext cx="566928" cy="384048"/>
          </a:xfrm>
          <a:prstGeom prst="roundRect">
            <a:avLst>
              <a:gd name="adj" fmla="val 16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通航政策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417319" y="10944924"/>
            <a:ext cx="146304" cy="182880"/>
          </a:xfrm>
          <a:prstGeom prst="down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7" name="Rounded Rectangle 16"/>
          <p:cNvSpPr/>
          <p:nvPr/>
        </p:nvSpPr>
        <p:spPr>
          <a:xfrm>
            <a:off x="896113" y="11219244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枢纽施工·检修场景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施工方案 · 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检修安排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426463" y="12215939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19" name="Rounded Rectangle 18"/>
          <p:cNvSpPr/>
          <p:nvPr/>
        </p:nvSpPr>
        <p:spPr>
          <a:xfrm>
            <a:off x="896113" y="12389676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过坝货运量与货种结构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货种构成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运输需求规模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426463" y="13386371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1" name="Rounded Rectangle 20"/>
          <p:cNvSpPr/>
          <p:nvPr/>
        </p:nvSpPr>
        <p:spPr>
          <a:xfrm>
            <a:off x="896113" y="13560108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船舶到达流数据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到达流分布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船舶行为特征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426463" y="14556803"/>
            <a:ext cx="128016" cy="146304"/>
          </a:xfrm>
          <a:prstGeom prst="downArrow">
            <a:avLst/>
          </a:prstGeom>
          <a:solidFill>
            <a:srgbClr val="EDA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3" name="Rounded Rectangle 22"/>
          <p:cNvSpPr/>
          <p:nvPr/>
        </p:nvSpPr>
        <p:spPr>
          <a:xfrm>
            <a:off x="896113" y="14730540"/>
            <a:ext cx="1188720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001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通航信息与政策变量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通航政策 · 施工信息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通航条件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95728" y="9957372"/>
            <a:ext cx="6473952" cy="16824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5" name="Rounded Rectangle 24"/>
          <p:cNvSpPr/>
          <p:nvPr/>
        </p:nvSpPr>
        <p:spPr>
          <a:xfrm>
            <a:off x="2459737" y="100213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一、枢纽施工扰动的通航约束解析与能力折减表征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10469436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通航约束条件刻画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航道通过限制 · 船闸停航窗口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通航时间变化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431792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28" name="Rounded Rectangle 27"/>
          <p:cNvSpPr/>
          <p:nvPr/>
        </p:nvSpPr>
        <p:spPr>
          <a:xfrm>
            <a:off x="4724400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扰动强度—能力折减映射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建立扰动强度与通航能力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折减之间的量化映射关系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577584" y="10899203"/>
            <a:ext cx="256032" cy="18288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0" name="Rounded Rectangle 29"/>
          <p:cNvSpPr/>
          <p:nvPr/>
        </p:nvSpPr>
        <p:spPr>
          <a:xfrm>
            <a:off x="6870192" y="10469437"/>
            <a:ext cx="1816608" cy="1042416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多情景扰动库构建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与检修安排的多情景组合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95728" y="11749596"/>
            <a:ext cx="6473952" cy="2212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2" name="Rounded Rectangle 31"/>
          <p:cNvSpPr/>
          <p:nvPr/>
        </p:nvSpPr>
        <p:spPr>
          <a:xfrm>
            <a:off x="2459737" y="11813603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二、施工扰动下航运系统运输能力动态建模   ｜   三、航运需求波动特征提取与响应预测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7860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4" name="TextBox 33"/>
          <p:cNvSpPr txBox="1"/>
          <p:nvPr/>
        </p:nvSpPr>
        <p:spPr>
          <a:xfrm>
            <a:off x="2706626" y="12401774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施工扰动下运输能力动态建模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06626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三层级能力输入:航道 · 船闸 · 船舶运力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06626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运输能力动态表征模型:时间特性与空间瓶颈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06626" y="13486956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能力折减表征:折减幅度与持续时间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24729" y="12261660"/>
            <a:ext cx="2862073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18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39" name="TextBox 38"/>
          <p:cNvSpPr txBox="1"/>
          <p:nvPr/>
        </p:nvSpPr>
        <p:spPr>
          <a:xfrm>
            <a:off x="5952747" y="12401773"/>
            <a:ext cx="26060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>
                <a:solidFill>
                  <a:srgbClr val="21854A"/>
                </a:solidFill>
                <a:latin typeface="微软雅黑"/>
                <a:ea typeface="微软雅黑"/>
                <a:cs typeface="微软雅黑"/>
              </a:rPr>
              <a:t>航运需求波动特征提取与响应预测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52747" y="12682284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需求数据基础:货运量 · 货种结构 · 到达流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52747" y="13084620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波动特征提取:周期性 · 季节性 · 突发性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7" y="13486957"/>
            <a:ext cx="2606039" cy="310896"/>
          </a:xfrm>
          <a:prstGeom prst="roundRect">
            <a:avLst>
              <a:gd name="adj" fmla="val 14000"/>
            </a:avLst>
          </a:prstGeom>
          <a:solidFill>
            <a:srgbClr val="E4F1E8"/>
          </a:solidFill>
          <a:ln w="15875">
            <a:solidFill>
              <a:srgbClr val="2185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响应预测:响应时滞与弹性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504688" y="12947460"/>
            <a:ext cx="256032" cy="201168"/>
          </a:xfrm>
          <a:prstGeom prst="rightArrow">
            <a:avLst/>
          </a:prstGeom>
          <a:solidFill>
            <a:srgbClr val="218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4" name="Rounded Rectangle 43"/>
          <p:cNvSpPr/>
          <p:nvPr/>
        </p:nvSpPr>
        <p:spPr>
          <a:xfrm>
            <a:off x="2395728" y="14072172"/>
            <a:ext cx="64739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5" name="Rounded Rectangle 44"/>
          <p:cNvSpPr/>
          <p:nvPr/>
        </p:nvSpPr>
        <p:spPr>
          <a:xfrm>
            <a:off x="2459737" y="14136179"/>
            <a:ext cx="6345936" cy="365760"/>
          </a:xfrm>
          <a:prstGeom prst="roundRect">
            <a:avLst>
              <a:gd name="adj" fmla="val 3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0" bIns="0" rtlCol="0" anchor="ctr"/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四、运输能力与需求波动的耦合响应机理   ｜   五、扰动情景下的仿真推演与调控策略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78609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响应行为识别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待闸排队 · 绕行转运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船型调整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945635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48" name="Rounded Rectangle 47"/>
          <p:cNvSpPr/>
          <p:nvPr/>
        </p:nvSpPr>
        <p:spPr>
          <a:xfrm>
            <a:off x="4165092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耦合响应模型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能力供给与需求波动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耦合响应建模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532120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0" name="Rounded Rectangle 49"/>
          <p:cNvSpPr/>
          <p:nvPr/>
        </p:nvSpPr>
        <p:spPr>
          <a:xfrm>
            <a:off x="5751577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FCF3D8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失配演化路径与临界阈值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识别劣化阈值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与调节规律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118604" y="15004860"/>
            <a:ext cx="201168" cy="164592"/>
          </a:xfrm>
          <a:prstGeom prst="rightArrow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2" name="Rounded Rectangle 51"/>
          <p:cNvSpPr/>
          <p:nvPr/>
        </p:nvSpPr>
        <p:spPr>
          <a:xfrm>
            <a:off x="7338061" y="14584236"/>
            <a:ext cx="1348738" cy="10058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仿真推演与调控优化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交通流仿真 · 方案评估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850">
                <a:solidFill>
                  <a:srgbClr val="FCF3D8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84083" y="10030524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覆盖不同施工方案、工期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与检修安排的扰动情景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0753344" y="11082082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5" name="Rounded Rectangle 54"/>
          <p:cNvSpPr/>
          <p:nvPr/>
        </p:nvSpPr>
        <p:spPr>
          <a:xfrm>
            <a:off x="9784083" y="11255820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运输能力动态表征模型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能力折减幅度与持续时间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能力动态演化表征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753344" y="12307379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7" name="Rounded Rectangle 56"/>
          <p:cNvSpPr/>
          <p:nvPr/>
        </p:nvSpPr>
        <p:spPr>
          <a:xfrm>
            <a:off x="9784083" y="12481116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0F6FC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能力—需求耦合响应规律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耦合响应机制 · 失配路径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临界阈值与调节规律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753344" y="13532675"/>
            <a:ext cx="146304" cy="146304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1"/>
          </a:p>
        </p:txBody>
      </p:sp>
      <p:sp>
        <p:nvSpPr>
          <p:cNvPr id="59" name="Rounded Rectangle 58"/>
          <p:cNvSpPr/>
          <p:nvPr/>
        </p:nvSpPr>
        <p:spPr>
          <a:xfrm>
            <a:off x="9784083" y="13706412"/>
            <a:ext cx="2084831" cy="1024128"/>
          </a:xfrm>
          <a:prstGeom prst="roundRect">
            <a:avLst>
              <a:gd name="adj" fmla="val 10000"/>
            </a:avLst>
          </a:prstGeom>
          <a:solidFill>
            <a:srgbClr val="FDEBE0"/>
          </a:solidFill>
          <a:ln w="15875">
            <a:solidFill>
              <a:srgbClr val="EDA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调控优化策略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待闸组织 · 运力调配</a:t>
            </a:r>
          </a:p>
          <a:p>
            <a:pPr algn="ctr">
              <a:lnSpc>
                <a:spcPct val="105000"/>
              </a:lnSpc>
              <a:spcBef>
                <a:spcPts val="201"/>
              </a:spcBef>
            </a:pPr>
            <a:r>
              <a:rPr sz="950">
                <a:solidFill>
                  <a:srgbClr val="6E6E6E"/>
                </a:solidFill>
                <a:latin typeface="微软雅黑"/>
                <a:ea typeface="微软雅黑"/>
                <a:cs typeface="微软雅黑"/>
              </a:rPr>
              <a:t>通航调控优化策略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84083" y="14931708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为三峡枢纽施工期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航运保障提供决策支撑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总标题_1">
            <a:extLst xmlns:a="http://schemas.openxmlformats.org/drawingml/2006/main">
              <a:ext uri="{FF2B5EF4-FFF2-40B4-BE49-F238E27FC236}">
                <a16:creationId xmlns:a16="http://schemas.microsoft.com/office/drawing/2014/main" id="{469575C4-E52A-4449-88DC-3885358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95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子课题3  技术路线图</a:t>
            </a:r>
          </a:p>
        </p:txBody>
      </p:sp>
      <p:sp>
        <p:nvSpPr>
          <p:cNvPr id="2" name="子课题名称_2">
            <a:extLst xmlns:a="http://schemas.openxmlformats.org/drawingml/2006/main">
              <a:ext uri="{FF2B5EF4-FFF2-40B4-BE49-F238E27FC236}">
                <a16:creationId xmlns:a16="http://schemas.microsoft.com/office/drawing/2014/main" id="{8BE9C43F-FA8A-4734-9408-9EA54E42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"/>
            <a:ext cx="581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枢纽施工扰动下航运系统波动响应研究</a:t>
            </a:r>
          </a:p>
        </p:txBody>
      </p:sp>
      <p:sp>
        <p:nvSpPr>
          <p:cNvPr id="3" name="容器_3">
            <a:extLst xmlns:a="http://schemas.openxmlformats.org/drawingml/2006/main">
              <a:ext uri="{FF2B5EF4-FFF2-40B4-BE49-F238E27FC236}">
                <a16:creationId xmlns:a16="http://schemas.microsoft.com/office/drawing/2014/main" id="{2669F7C3-2B8B-4F3D-A4B2-542D9AE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1057858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EE"/>
          </a:solidFill>
          <a:ln xmlns:a="http://schemas.openxmlformats.org/drawingml/2006/main" w="0">
            <a:noFill/>
          </a:ln>
        </p:spPr>
      </p:sp>
      <p:sp>
        <p:nvSpPr>
          <p:cNvPr id="4" name="研究基础侧栏_4">
            <a:extLst xmlns:a="http://schemas.openxmlformats.org/drawingml/2006/main">
              <a:ext uri="{FF2B5EF4-FFF2-40B4-BE49-F238E27FC236}">
                <a16:creationId xmlns:a16="http://schemas.microsoft.com/office/drawing/2014/main" id="{B5CE552A-E25A-41D6-BDB9-35C7CE35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C55A1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成果侧栏_5">
            <a:extLst xmlns:a="http://schemas.openxmlformats.org/drawingml/2006/main">
              <a:ext uri="{FF2B5EF4-FFF2-40B4-BE49-F238E27FC236}">
                <a16:creationId xmlns:a16="http://schemas.microsoft.com/office/drawing/2014/main" id="{05BC309E-1F6B-470D-AD3D-D52208DF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790575"/>
            <a:ext cx="457200" cy="235839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文字_6">
            <a:extLst xmlns:a="http://schemas.openxmlformats.org/drawingml/2006/main">
              <a:ext uri="{FF2B5EF4-FFF2-40B4-BE49-F238E27FC236}">
                <a16:creationId xmlns:a16="http://schemas.microsoft.com/office/drawing/2014/main" id="{5747B509-9B85-4C25-81F6-718D1B0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7" name="文字_7">
            <a:extLst xmlns:a="http://schemas.openxmlformats.org/drawingml/2006/main">
              <a:ext uri="{FF2B5EF4-FFF2-40B4-BE49-F238E27FC236}">
                <a16:creationId xmlns:a16="http://schemas.microsoft.com/office/drawing/2014/main" id="{D0369BED-16E1-4A1B-B4CE-D633A6F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571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8" name="文字_8">
            <a:extLst xmlns:a="http://schemas.openxmlformats.org/drawingml/2006/main">
              <a:ext uri="{FF2B5EF4-FFF2-40B4-BE49-F238E27FC236}">
                <a16:creationId xmlns:a16="http://schemas.microsoft.com/office/drawing/2014/main" id="{96731E95-B9DA-4A2E-9A3E-1F07CCA1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9" name="文字_9">
            <a:extLst xmlns:a="http://schemas.openxmlformats.org/drawingml/2006/main">
              <a:ext uri="{FF2B5EF4-FFF2-40B4-BE49-F238E27FC236}">
                <a16:creationId xmlns:a16="http://schemas.microsoft.com/office/drawing/2014/main" id="{3E856275-EC3B-48A9-AFB6-949F09B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095375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0" name="文字_10">
            <a:extLst xmlns:a="http://schemas.openxmlformats.org/drawingml/2006/main">
              <a:ext uri="{FF2B5EF4-FFF2-40B4-BE49-F238E27FC236}">
                <a16:creationId xmlns:a16="http://schemas.microsoft.com/office/drawing/2014/main" id="{6F5EB25C-8E5E-4D99-BAC6-AA22C451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1" name="文字_11">
            <a:extLst xmlns:a="http://schemas.openxmlformats.org/drawingml/2006/main">
              <a:ext uri="{FF2B5EF4-FFF2-40B4-BE49-F238E27FC236}">
                <a16:creationId xmlns:a16="http://schemas.microsoft.com/office/drawing/2014/main" id="{6068B074-9208-496C-A3A1-CD445CB6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19812000"/>
            <a:ext cx="4572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撑</a:t>
            </a:r>
          </a:p>
        </p:txBody>
      </p:sp>
      <p:sp>
        <p:nvSpPr>
          <p:cNvPr id="12" name="施工场景 与通航约束_12">
            <a:extLst xmlns:a="http://schemas.openxmlformats.org/drawingml/2006/main">
              <a:ext uri="{FF2B5EF4-FFF2-40B4-BE49-F238E27FC236}">
                <a16:creationId xmlns:a16="http://schemas.microsoft.com/office/drawing/2014/main" id="{4E36F1A9-B795-4737-BEF5-11029E9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81125"/>
            <a:ext cx="1188720" cy="24765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文字_13">
            <a:extLst xmlns:a="http://schemas.openxmlformats.org/drawingml/2006/main">
              <a:ext uri="{FF2B5EF4-FFF2-40B4-BE49-F238E27FC236}">
                <a16:creationId xmlns:a16="http://schemas.microsoft.com/office/drawing/2014/main" id="{08B72FB9-C693-4737-AA40-6FE3757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466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施工场景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与通航约束</a:t>
            </a:r>
          </a:p>
        </p:txBody>
      </p:sp>
      <p:sp>
        <p:nvSpPr>
          <p:cNvPr id="14" name="文字_14">
            <a:extLst xmlns:a="http://schemas.openxmlformats.org/drawingml/2006/main">
              <a:ext uri="{FF2B5EF4-FFF2-40B4-BE49-F238E27FC236}">
                <a16:creationId xmlns:a16="http://schemas.microsoft.com/office/drawing/2014/main" id="{0DE7F0EF-960B-4CF9-AD00-A98C63BC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981200"/>
            <a:ext cx="101727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施工方案与工期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施工阶段与作业范围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检修安排与政策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停限航时间窗口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航道与船闸条件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组织规则及船型限制</a:t>
            </a:r>
          </a:p>
        </p:txBody>
      </p:sp>
      <p:sp>
        <p:nvSpPr>
          <p:cNvPr id="15" name="运行与货类 多源数据_15">
            <a:extLst xmlns:a="http://schemas.openxmlformats.org/drawingml/2006/main">
              <a:ext uri="{FF2B5EF4-FFF2-40B4-BE49-F238E27FC236}">
                <a16:creationId xmlns:a16="http://schemas.microsoft.com/office/drawing/2014/main" id="{83F4922B-F523-493D-B070-44F91CC7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43375"/>
            <a:ext cx="1188720" cy="304800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文字_16">
            <a:extLst xmlns:a="http://schemas.openxmlformats.org/drawingml/2006/main">
              <a:ext uri="{FF2B5EF4-FFF2-40B4-BE49-F238E27FC236}">
                <a16:creationId xmlns:a16="http://schemas.microsoft.com/office/drawing/2014/main" id="{3C4C587A-DFD9-4632-BDFE-53E8D05F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4229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运行与货类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多源数据</a:t>
            </a:r>
          </a:p>
        </p:txBody>
      </p:sp>
      <p:sp>
        <p:nvSpPr>
          <p:cNvPr id="17" name="文字_17">
            <a:extLst xmlns:a="http://schemas.openxmlformats.org/drawingml/2006/main">
              <a:ext uri="{FF2B5EF4-FFF2-40B4-BE49-F238E27FC236}">
                <a16:creationId xmlns:a16="http://schemas.microsoft.com/office/drawing/2014/main" id="{87C2EFFD-0C3F-48F5-B395-D0695792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4743450"/>
            <a:ext cx="101727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AIS轨迹与到达流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实际通过量与过坝货量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港口作业与船期记录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重点货类和货种结构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起讫点与运输批量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发运节奏与交付期限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替代运输条件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货类运输时空特征</a:t>
            </a:r>
          </a:p>
        </p:txBody>
      </p:sp>
      <p:sp>
        <p:nvSpPr>
          <p:cNvPr id="18" name="常态对照 与外生条件_18">
            <a:extLst xmlns:a="http://schemas.openxmlformats.org/drawingml/2006/main">
              <a:ext uri="{FF2B5EF4-FFF2-40B4-BE49-F238E27FC236}">
                <a16:creationId xmlns:a16="http://schemas.microsoft.com/office/drawing/2014/main" id="{C1EBE671-D30A-465F-844D-04FE14F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477125"/>
            <a:ext cx="1188720" cy="25717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文字_19">
            <a:extLst xmlns:a="http://schemas.openxmlformats.org/drawingml/2006/main">
              <a:ext uri="{FF2B5EF4-FFF2-40B4-BE49-F238E27FC236}">
                <a16:creationId xmlns:a16="http://schemas.microsoft.com/office/drawing/2014/main" id="{5DE67D84-99F8-4D40-AF22-7CD1E4A3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756285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常态对照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与外生条件</a:t>
            </a:r>
          </a:p>
        </p:txBody>
      </p:sp>
      <p:sp>
        <p:nvSpPr>
          <p:cNvPr id="20" name="文字_20">
            <a:extLst xmlns:a="http://schemas.openxmlformats.org/drawingml/2006/main">
              <a:ext uri="{FF2B5EF4-FFF2-40B4-BE49-F238E27FC236}">
                <a16:creationId xmlns:a16="http://schemas.microsoft.com/office/drawing/2014/main" id="{87219467-FBE8-4C04-8CF7-9427A7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8077200"/>
            <a:ext cx="101727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无施工运行基准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水文与天气条件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周期与季节性需求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节假日及其他管制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燃料价格与合同条件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初始负荷与积压状态</a:t>
            </a:r>
          </a:p>
        </p:txBody>
      </p:sp>
      <p:sp>
        <p:nvSpPr>
          <p:cNvPr id="21" name="市场与主体 行为数据_21">
            <a:extLst xmlns:a="http://schemas.openxmlformats.org/drawingml/2006/main">
              <a:ext uri="{FF2B5EF4-FFF2-40B4-BE49-F238E27FC236}">
                <a16:creationId xmlns:a16="http://schemas.microsoft.com/office/drawing/2014/main" id="{3467973F-529F-4560-87AD-EB12B7D6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1001375"/>
            <a:ext cx="1188720" cy="338137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2" name="文字_22">
            <a:extLst xmlns:a="http://schemas.openxmlformats.org/drawingml/2006/main">
              <a:ext uri="{FF2B5EF4-FFF2-40B4-BE49-F238E27FC236}">
                <a16:creationId xmlns:a16="http://schemas.microsoft.com/office/drawing/2014/main" id="{5F13E4F9-528B-4293-93F1-37D9A2F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1087100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市场与主体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行为数据</a:t>
            </a:r>
          </a:p>
        </p:txBody>
      </p:sp>
      <p:sp>
        <p:nvSpPr>
          <p:cNvPr id="23" name="文字_23">
            <a:extLst xmlns:a="http://schemas.openxmlformats.org/drawingml/2006/main">
              <a:ext uri="{FF2B5EF4-FFF2-40B4-BE49-F238E27FC236}">
                <a16:creationId xmlns:a16="http://schemas.microsoft.com/office/drawing/2014/main" id="{747C2F00-F20E-4216-BA60-3399FC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1601450"/>
            <a:ext cx="1017270" cy="2695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分货类航线船型运价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等待航行与转运成本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港航经营收益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船舶周转与承运意愿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运力配置与航次安排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待闸绕行和船型调整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发运时间与通道选择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行为调查及组织记录</a:t>
            </a:r>
          </a:p>
        </p:txBody>
      </p:sp>
      <p:sp>
        <p:nvSpPr>
          <p:cNvPr id="24" name="典型事件 与检验数据_24">
            <a:extLst xmlns:a="http://schemas.openxmlformats.org/drawingml/2006/main">
              <a:ext uri="{FF2B5EF4-FFF2-40B4-BE49-F238E27FC236}">
                <a16:creationId xmlns:a16="http://schemas.microsoft.com/office/drawing/2014/main" id="{0832D24A-EE8C-48E6-B516-F0CD9B6A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859250"/>
            <a:ext cx="1188720" cy="2333625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文字_25">
            <a:extLst xmlns:a="http://schemas.openxmlformats.org/drawingml/2006/main">
              <a:ext uri="{FF2B5EF4-FFF2-40B4-BE49-F238E27FC236}">
                <a16:creationId xmlns:a16="http://schemas.microsoft.com/office/drawing/2014/main" id="{2CEFC1A6-2294-4DF7-867C-3B840E8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1694497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典型事件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与检验数据</a:t>
            </a:r>
          </a:p>
        </p:txBody>
      </p:sp>
      <p:sp>
        <p:nvSpPr>
          <p:cNvPr id="26" name="文字_26">
            <a:extLst xmlns:a="http://schemas.openxmlformats.org/drawingml/2006/main">
              <a:ext uri="{FF2B5EF4-FFF2-40B4-BE49-F238E27FC236}">
                <a16:creationId xmlns:a16="http://schemas.microsoft.com/office/drawing/2014/main" id="{2472BE07-8753-4989-99DB-8718794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17459325"/>
            <a:ext cx="101727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历史施工与检修事件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事件前中后运行记录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到达服务与排队数据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船期运价成本变化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校准与独立检验事件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缺失异常及口径核对</a:t>
            </a:r>
          </a:p>
        </p:txBody>
      </p:sp>
      <p:sp>
        <p:nvSpPr>
          <p:cNvPr id="27" name="工作基础 与子课题协同_27">
            <a:extLst xmlns:a="http://schemas.openxmlformats.org/drawingml/2006/main">
              <a:ext uri="{FF2B5EF4-FFF2-40B4-BE49-F238E27FC236}">
                <a16:creationId xmlns:a16="http://schemas.microsoft.com/office/drawing/2014/main" id="{5A92CA7D-86B6-4B9C-834D-39762AA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64500"/>
            <a:ext cx="1188720" cy="3524250"/>
          </a:xfrm>
          <a:prstGeom xmlns:a="http://schemas.openxmlformats.org/drawingml/2006/main" prst="roundRect">
            <a:avLst>
              <a:gd name="adj" fmla="val 8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55A1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8" name="文字_28">
            <a:extLst xmlns:a="http://schemas.openxmlformats.org/drawingml/2006/main">
              <a:ext uri="{FF2B5EF4-FFF2-40B4-BE49-F238E27FC236}">
                <a16:creationId xmlns:a16="http://schemas.microsoft.com/office/drawing/2014/main" id="{A0057754-3709-4D73-8AE0-2EE829B1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" y="20850225"/>
            <a:ext cx="105537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工作基础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C55A11"/>
                </a:solidFill>
                <a:latin typeface="微软雅黑"/>
                <a:ea typeface="微软雅黑"/>
                <a:cs typeface="微软雅黑"/>
              </a:rPr>
              <a:t>与子课题协同</a:t>
            </a:r>
          </a:p>
        </p:txBody>
      </p:sp>
      <p:sp>
        <p:nvSpPr>
          <p:cNvPr id="29" name="文字_29">
            <a:extLst xmlns:a="http://schemas.openxmlformats.org/drawingml/2006/main">
              <a:ext uri="{FF2B5EF4-FFF2-40B4-BE49-F238E27FC236}">
                <a16:creationId xmlns:a16="http://schemas.microsoft.com/office/drawing/2014/main" id="{28892D10-8FF9-4EF9-AEB2-B0B250F5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837" y="21364575"/>
            <a:ext cx="101727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空间经济整体模型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区域需求与网络背景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综合交通超级网络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多通道联系及仿真基础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子课题一数据与特征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子课题二路径及假设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子课题四需求情景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子课题五尺度与接口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补充精细航运模块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核查时间分辨率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与水运校准能力</a:t>
            </a:r>
          </a:p>
        </p:txBody>
      </p:sp>
      <p:sp>
        <p:nvSpPr>
          <p:cNvPr id="30" name="研究模块_30">
            <a:extLst xmlns:a="http://schemas.openxmlformats.org/drawingml/2006/main">
              <a:ext uri="{FF2B5EF4-FFF2-40B4-BE49-F238E27FC236}">
                <a16:creationId xmlns:a16="http://schemas.microsoft.com/office/drawing/2014/main" id="{B33F4774-9CBC-45A9-952F-DAA70758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790575"/>
            <a:ext cx="6473952" cy="8620125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1" name="模块标题背景_31">
            <a:extLst xmlns:a="http://schemas.openxmlformats.org/drawingml/2006/main">
              <a:ext uri="{FF2B5EF4-FFF2-40B4-BE49-F238E27FC236}">
                <a16:creationId xmlns:a16="http://schemas.microsoft.com/office/drawing/2014/main" id="{D5B70634-CA68-4F28-980F-6549031F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854583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2" name="模块标题_32">
            <a:extLst xmlns:a="http://schemas.openxmlformats.org/drawingml/2006/main">
              <a:ext uri="{FF2B5EF4-FFF2-40B4-BE49-F238E27FC236}">
                <a16:creationId xmlns:a16="http://schemas.microsoft.com/office/drawing/2014/main" id="{D8CDD22A-5C07-47D5-AF62-7A5643B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85725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施工扰动表征与航运运行波动响应</a:t>
            </a:r>
          </a:p>
        </p:txBody>
      </p:sp>
      <p:sp>
        <p:nvSpPr>
          <p:cNvPr id="33" name="施工扰动参数化_33">
            <a:extLst xmlns:a="http://schemas.openxmlformats.org/drawingml/2006/main">
              <a:ext uri="{FF2B5EF4-FFF2-40B4-BE49-F238E27FC236}">
                <a16:creationId xmlns:a16="http://schemas.microsoft.com/office/drawing/2014/main" id="{3E3C6284-60A1-43A2-A4B2-B6D865E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4" name="文字_34">
            <a:extLst xmlns:a="http://schemas.openxmlformats.org/drawingml/2006/main">
              <a:ext uri="{FF2B5EF4-FFF2-40B4-BE49-F238E27FC236}">
                <a16:creationId xmlns:a16="http://schemas.microsoft.com/office/drawing/2014/main" id="{86C273D3-033C-4F10-B12C-9C685D4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施工扰动参数化</a:t>
            </a:r>
          </a:p>
        </p:txBody>
      </p:sp>
      <p:sp>
        <p:nvSpPr>
          <p:cNvPr id="35" name="文字_35">
            <a:extLst xmlns:a="http://schemas.openxmlformats.org/drawingml/2006/main">
              <a:ext uri="{FF2B5EF4-FFF2-40B4-BE49-F238E27FC236}">
                <a16:creationId xmlns:a16="http://schemas.microsoft.com/office/drawing/2014/main" id="{4C3BB5C1-0F93-43E8-B944-7EDDBF9A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阶段、范围、强度与持续时间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施工方案、工期与检修组合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阶段切换及工期不确定性</a:t>
            </a:r>
          </a:p>
        </p:txBody>
      </p:sp>
      <p:sp>
        <p:nvSpPr>
          <p:cNvPr id="36" name="通航约束解析_36">
            <a:extLst xmlns:a="http://schemas.openxmlformats.org/drawingml/2006/main">
              <a:ext uri="{FF2B5EF4-FFF2-40B4-BE49-F238E27FC236}">
                <a16:creationId xmlns:a16="http://schemas.microsoft.com/office/drawing/2014/main" id="{1D35F323-F47A-473D-8509-091C572B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文字_37">
            <a:extLst xmlns:a="http://schemas.openxmlformats.org/drawingml/2006/main">
              <a:ext uri="{FF2B5EF4-FFF2-40B4-BE49-F238E27FC236}">
                <a16:creationId xmlns:a16="http://schemas.microsoft.com/office/drawing/2014/main" id="{4447F361-1597-4679-B8A6-60F76630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通航约束解析</a:t>
            </a:r>
          </a:p>
        </p:txBody>
      </p:sp>
      <p:sp>
        <p:nvSpPr>
          <p:cNvPr id="38" name="文字_38">
            <a:extLst xmlns:a="http://schemas.openxmlformats.org/drawingml/2006/main">
              <a:ext uri="{FF2B5EF4-FFF2-40B4-BE49-F238E27FC236}">
                <a16:creationId xmlns:a16="http://schemas.microsoft.com/office/drawing/2014/main" id="{C1110C7D-F48C-41D0-A554-4869F70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航道通过限制与船闸停航窗口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可用时段、服务速率与船型限制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放行节奏、优先规则与作业衔接</a:t>
            </a:r>
          </a:p>
        </p:txBody>
      </p:sp>
      <p:sp>
        <p:nvSpPr>
          <p:cNvPr id="39" name="多情景扰动库_39">
            <a:extLst xmlns:a="http://schemas.openxmlformats.org/drawingml/2006/main">
              <a:ext uri="{FF2B5EF4-FFF2-40B4-BE49-F238E27FC236}">
                <a16:creationId xmlns:a16="http://schemas.microsoft.com/office/drawing/2014/main" id="{C677D267-B22B-4C67-BB8E-E3E6D87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1381125"/>
            <a:ext cx="1816608" cy="1647825"/>
          </a:xfrm>
          <a:prstGeom xmlns:a="http://schemas.openxmlformats.org/drawingml/2006/main" prst="roundRect">
            <a:avLst>
              <a:gd name="adj" fmla="val 5780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40" name="文字_40">
            <a:extLst xmlns:a="http://schemas.openxmlformats.org/drawingml/2006/main">
              <a:ext uri="{FF2B5EF4-FFF2-40B4-BE49-F238E27FC236}">
                <a16:creationId xmlns:a16="http://schemas.microsoft.com/office/drawing/2014/main" id="{38964C1C-29F8-4A7B-869A-BA5518C4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1466850"/>
            <a:ext cx="168325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多情景扰动库</a:t>
            </a:r>
          </a:p>
        </p:txBody>
      </p:sp>
      <p:sp>
        <p:nvSpPr>
          <p:cNvPr id="41" name="文字_41">
            <a:extLst xmlns:a="http://schemas.openxmlformats.org/drawingml/2006/main">
              <a:ext uri="{FF2B5EF4-FFF2-40B4-BE49-F238E27FC236}">
                <a16:creationId xmlns:a16="http://schemas.microsoft.com/office/drawing/2014/main" id="{7F22109F-23D8-460A-BBBF-1638096E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1885950"/>
            <a:ext cx="1645158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无施工基准与典型施工阶段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不同强度、工期及恢复安排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施工与水文、需求高峰叠加</a:t>
            </a:r>
          </a:p>
        </p:txBody>
      </p:sp>
      <p:sp>
        <p:nvSpPr>
          <p:cNvPr id="42" name="流程箭头_42">
            <a:extLst xmlns:a="http://schemas.openxmlformats.org/drawingml/2006/main">
              <a:ext uri="{FF2B5EF4-FFF2-40B4-BE49-F238E27FC236}">
                <a16:creationId xmlns:a16="http://schemas.microsoft.com/office/drawing/2014/main" id="{8C7F34C2-E16D-4F30-B2B2-2E083ECB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1792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3" name="流程箭头_43">
            <a:extLst xmlns:a="http://schemas.openxmlformats.org/drawingml/2006/main">
              <a:ext uri="{FF2B5EF4-FFF2-40B4-BE49-F238E27FC236}">
                <a16:creationId xmlns:a16="http://schemas.microsoft.com/office/drawing/2014/main" id="{320C8123-2075-438A-A7C3-ECC9F8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7584" y="1971675"/>
            <a:ext cx="256032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4" name="文字_44">
            <a:extLst xmlns:a="http://schemas.openxmlformats.org/drawingml/2006/main">
              <a:ext uri="{FF2B5EF4-FFF2-40B4-BE49-F238E27FC236}">
                <a16:creationId xmlns:a16="http://schemas.microsoft.com/office/drawing/2014/main" id="{3FE592AF-F24E-4423-B712-17B0FB91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124200"/>
            <a:ext cx="6108192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方法：施工事件窗口匹配与参数化表达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统一情景编号、时间尺度、设施与通道口径</a:t>
            </a:r>
          </a:p>
        </p:txBody>
      </p:sp>
      <p:sp>
        <p:nvSpPr>
          <p:cNvPr id="45" name="流程箭头_45">
            <a:extLst xmlns:a="http://schemas.openxmlformats.org/drawingml/2006/main">
              <a:ext uri="{FF2B5EF4-FFF2-40B4-BE49-F238E27FC236}">
                <a16:creationId xmlns:a16="http://schemas.microsoft.com/office/drawing/2014/main" id="{B444DABB-3C5B-4C12-A3D6-11E72159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956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46" name="容器_46">
            <a:extLst xmlns:a="http://schemas.openxmlformats.org/drawingml/2006/main">
              <a:ext uri="{FF2B5EF4-FFF2-40B4-BE49-F238E27FC236}">
                <a16:creationId xmlns:a16="http://schemas.microsoft.com/office/drawing/2014/main" id="{BA0DC5E0-BE00-400C-BA33-24E4EA0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7" name="容器_47">
            <a:extLst xmlns:a="http://schemas.openxmlformats.org/drawingml/2006/main">
              <a:ext uri="{FF2B5EF4-FFF2-40B4-BE49-F238E27FC236}">
                <a16:creationId xmlns:a16="http://schemas.microsoft.com/office/drawing/2014/main" id="{C0FDF277-B78E-4412-B767-0AE0CEAD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752850"/>
            <a:ext cx="2862072" cy="316230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6193">
            <a:solidFill>
              <a:srgbClr val="2E75B6"/>
            </a:solidFill>
          </a:ln>
        </p:spPr>
      </p:sp>
      <p:sp>
        <p:nvSpPr>
          <p:cNvPr id="48" name="文字_48">
            <a:extLst xmlns:a="http://schemas.openxmlformats.org/drawingml/2006/main">
              <a:ext uri="{FF2B5EF4-FFF2-40B4-BE49-F238E27FC236}">
                <a16:creationId xmlns:a16="http://schemas.microsoft.com/office/drawing/2014/main" id="{350A27CF-C9E5-4C0B-B06A-C52CA68A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能力供给动态建模</a:t>
            </a:r>
          </a:p>
        </p:txBody>
      </p:sp>
      <p:sp>
        <p:nvSpPr>
          <p:cNvPr id="49" name="文字_49">
            <a:extLst xmlns:a="http://schemas.openxmlformats.org/drawingml/2006/main">
              <a:ext uri="{FF2B5EF4-FFF2-40B4-BE49-F238E27FC236}">
                <a16:creationId xmlns:a16="http://schemas.microsoft.com/office/drawing/2014/main" id="{E3054232-CD14-4824-8E98-697ABF5F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385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需求与到达过程建模</a:t>
            </a:r>
          </a:p>
        </p:txBody>
      </p:sp>
      <p:sp>
        <p:nvSpPr>
          <p:cNvPr id="50" name="航道、船闸、船舶运力三层级输入_50">
            <a:extLst xmlns:a="http://schemas.openxmlformats.org/drawingml/2006/main">
              <a:ext uri="{FF2B5EF4-FFF2-40B4-BE49-F238E27FC236}">
                <a16:creationId xmlns:a16="http://schemas.microsoft.com/office/drawing/2014/main" id="{504FB769-D237-4A68-A656-E4DF078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1" name="文字_51">
            <a:extLst xmlns:a="http://schemas.openxmlformats.org/drawingml/2006/main">
              <a:ext uri="{FF2B5EF4-FFF2-40B4-BE49-F238E27FC236}">
                <a16:creationId xmlns:a16="http://schemas.microsoft.com/office/drawing/2014/main" id="{DC671F1D-C686-4872-A9D5-6B240031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航道、船闸、船舶运力三层级输入</a:t>
            </a:r>
          </a:p>
        </p:txBody>
      </p:sp>
      <p:sp>
        <p:nvSpPr>
          <p:cNvPr id="52" name="文字_52">
            <a:extLst xmlns:a="http://schemas.openxmlformats.org/drawingml/2006/main">
              <a:ext uri="{FF2B5EF4-FFF2-40B4-BE49-F238E27FC236}">
                <a16:creationId xmlns:a16="http://schemas.microsoft.com/office/drawing/2014/main" id="{DD4B9140-253A-4F8B-9603-4D208D99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通行条件与设施可用性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服务过程及船型组合</a:t>
            </a:r>
          </a:p>
        </p:txBody>
      </p:sp>
      <p:sp>
        <p:nvSpPr>
          <p:cNvPr id="53" name="有效能力与扰动折减映射_53">
            <a:extLst xmlns:a="http://schemas.openxmlformats.org/drawingml/2006/main">
              <a:ext uri="{FF2B5EF4-FFF2-40B4-BE49-F238E27FC236}">
                <a16:creationId xmlns:a16="http://schemas.microsoft.com/office/drawing/2014/main" id="{F9A470AD-8CB2-4A53-B994-BEE692C1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4" name="文字_54">
            <a:extLst xmlns:a="http://schemas.openxmlformats.org/drawingml/2006/main">
              <a:ext uri="{FF2B5EF4-FFF2-40B4-BE49-F238E27FC236}">
                <a16:creationId xmlns:a16="http://schemas.microsoft.com/office/drawing/2014/main" id="{AE6DF5C8-D1E3-4147-846B-547BA111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有效能力与扰动折减映射</a:t>
            </a:r>
          </a:p>
        </p:txBody>
      </p:sp>
      <p:sp>
        <p:nvSpPr>
          <p:cNvPr id="55" name="文字_55">
            <a:extLst xmlns:a="http://schemas.openxmlformats.org/drawingml/2006/main">
              <a:ext uri="{FF2B5EF4-FFF2-40B4-BE49-F238E27FC236}">
                <a16:creationId xmlns:a16="http://schemas.microsoft.com/office/drawing/2014/main" id="{29EA268F-EAF8-4D0B-8158-87AA2FDA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服务速率、可用时间及组织规则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扰动强度对应能力折减与恢复</a:t>
            </a:r>
          </a:p>
        </p:txBody>
      </p:sp>
      <p:sp>
        <p:nvSpPr>
          <p:cNvPr id="56" name="能力变化时空特征_56">
            <a:extLst xmlns:a="http://schemas.openxmlformats.org/drawingml/2006/main">
              <a:ext uri="{FF2B5EF4-FFF2-40B4-BE49-F238E27FC236}">
                <a16:creationId xmlns:a16="http://schemas.microsoft.com/office/drawing/2014/main" id="{6D0A3DCC-1E1E-4F83-B746-11D6A182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7" name="文字_57">
            <a:extLst xmlns:a="http://schemas.openxmlformats.org/drawingml/2006/main">
              <a:ext uri="{FF2B5EF4-FFF2-40B4-BE49-F238E27FC236}">
                <a16:creationId xmlns:a16="http://schemas.microsoft.com/office/drawing/2014/main" id="{184594BB-A721-472C-B97F-986F607A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能力变化时空特征</a:t>
            </a:r>
          </a:p>
        </p:txBody>
      </p:sp>
      <p:sp>
        <p:nvSpPr>
          <p:cNvPr id="58" name="文字_58">
            <a:extLst xmlns:a="http://schemas.openxmlformats.org/drawingml/2006/main">
              <a:ext uri="{FF2B5EF4-FFF2-40B4-BE49-F238E27FC236}">
                <a16:creationId xmlns:a16="http://schemas.microsoft.com/office/drawing/2014/main" id="{E9B028D6-6EAE-424C-BF43-14377475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折减幅度、持续时间与恢复过程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能力时间特性及空间瓶颈</a:t>
            </a:r>
          </a:p>
        </p:txBody>
      </p:sp>
      <p:sp>
        <p:nvSpPr>
          <p:cNvPr id="59" name="运输需求与船舶到达过程_59">
            <a:extLst xmlns:a="http://schemas.openxmlformats.org/drawingml/2006/main">
              <a:ext uri="{FF2B5EF4-FFF2-40B4-BE49-F238E27FC236}">
                <a16:creationId xmlns:a16="http://schemas.microsoft.com/office/drawing/2014/main" id="{85FFC66E-C525-4149-8DFC-AD78E673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291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0" name="文字_60">
            <a:extLst xmlns:a="http://schemas.openxmlformats.org/drawingml/2006/main">
              <a:ext uri="{FF2B5EF4-FFF2-40B4-BE49-F238E27FC236}">
                <a16:creationId xmlns:a16="http://schemas.microsoft.com/office/drawing/2014/main" id="{1CA593D6-E5DB-4BC1-A0E3-50171D17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148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运输需求与船舶到达过程</a:t>
            </a:r>
          </a:p>
        </p:txBody>
      </p:sp>
      <p:sp>
        <p:nvSpPr>
          <p:cNvPr id="61" name="文字_61">
            <a:extLst xmlns:a="http://schemas.openxmlformats.org/drawingml/2006/main">
              <a:ext uri="{FF2B5EF4-FFF2-40B4-BE49-F238E27FC236}">
                <a16:creationId xmlns:a16="http://schemas.microsoft.com/office/drawing/2014/main" id="{AB741544-2B64-49F9-8329-98C7110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291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货类、起讫点及船型时空分布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区分潜在需求与实际实现流量</a:t>
            </a:r>
          </a:p>
        </p:txBody>
      </p:sp>
      <p:sp>
        <p:nvSpPr>
          <p:cNvPr id="62" name="常态需求波动分解_62">
            <a:extLst xmlns:a="http://schemas.openxmlformats.org/drawingml/2006/main">
              <a:ext uri="{FF2B5EF4-FFF2-40B4-BE49-F238E27FC236}">
                <a16:creationId xmlns:a16="http://schemas.microsoft.com/office/drawing/2014/main" id="{5EE06CD0-EAC3-4FE3-AD78-82FF9372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文字_63">
            <a:extLst xmlns:a="http://schemas.openxmlformats.org/drawingml/2006/main">
              <a:ext uri="{FF2B5EF4-FFF2-40B4-BE49-F238E27FC236}">
                <a16:creationId xmlns:a16="http://schemas.microsoft.com/office/drawing/2014/main" id="{2D9635A3-5C88-4EF4-BAC7-4C1435F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常态需求波动分解</a:t>
            </a:r>
          </a:p>
        </p:txBody>
      </p:sp>
      <p:sp>
        <p:nvSpPr>
          <p:cNvPr id="64" name="文字_64">
            <a:extLst xmlns:a="http://schemas.openxmlformats.org/drawingml/2006/main">
              <a:ext uri="{FF2B5EF4-FFF2-40B4-BE49-F238E27FC236}">
                <a16:creationId xmlns:a16="http://schemas.microsoft.com/office/drawing/2014/main" id="{53F12352-4697-4311-9762-E9178B16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9592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周期性、季节性及突发性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控制水文、天气及非施工因素</a:t>
            </a:r>
          </a:p>
        </p:txBody>
      </p:sp>
      <p:sp>
        <p:nvSpPr>
          <p:cNvPr id="65" name="施工增量响应识别_65">
            <a:extLst xmlns:a="http://schemas.openxmlformats.org/drawingml/2006/main">
              <a:ext uri="{FF2B5EF4-FFF2-40B4-BE49-F238E27FC236}">
                <a16:creationId xmlns:a16="http://schemas.microsoft.com/office/drawing/2014/main" id="{953DC81E-6B53-47B1-9358-7019E95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626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6" name="文字_66">
            <a:extLst xmlns:a="http://schemas.openxmlformats.org/drawingml/2006/main">
              <a:ext uri="{FF2B5EF4-FFF2-40B4-BE49-F238E27FC236}">
                <a16:creationId xmlns:a16="http://schemas.microsoft.com/office/drawing/2014/main" id="{B8967DB6-372C-4975-81BA-FE395A8C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483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施工增量响应识别</a:t>
            </a:r>
          </a:p>
        </p:txBody>
      </p:sp>
      <p:sp>
        <p:nvSpPr>
          <p:cNvPr id="67" name="文字_67">
            <a:extLst xmlns:a="http://schemas.openxmlformats.org/drawingml/2006/main">
              <a:ext uri="{FF2B5EF4-FFF2-40B4-BE49-F238E27FC236}">
                <a16:creationId xmlns:a16="http://schemas.microsoft.com/office/drawing/2014/main" id="{12266CC6-BEDE-4679-A3D4-32CF36D5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3627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基准与扰动情景对照及事件分析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响应幅度、时滞与需求弹性</a:t>
            </a:r>
          </a:p>
        </p:txBody>
      </p:sp>
      <p:sp>
        <p:nvSpPr>
          <p:cNvPr id="68" name="连接线_68">
            <a:extLst xmlns:a="http://schemas.openxmlformats.org/drawingml/2006/main">
              <a:ext uri="{FF2B5EF4-FFF2-40B4-BE49-F238E27FC236}">
                <a16:creationId xmlns:a16="http://schemas.microsoft.com/office/drawing/2014/main" id="{7B51A4E8-36FC-49E4-8391-D872A2E2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69" name="连接线_69">
            <a:extLst xmlns:a="http://schemas.openxmlformats.org/drawingml/2006/main">
              <a:ext uri="{FF2B5EF4-FFF2-40B4-BE49-F238E27FC236}">
                <a16:creationId xmlns:a16="http://schemas.microsoft.com/office/drawing/2014/main" id="{7A44031B-2C3D-4F13-AF20-3A402F5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008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0" name="连接线_70">
            <a:extLst xmlns:a="http://schemas.openxmlformats.org/drawingml/2006/main">
              <a:ext uri="{FF2B5EF4-FFF2-40B4-BE49-F238E27FC236}">
                <a16:creationId xmlns:a16="http://schemas.microsoft.com/office/drawing/2014/main" id="{BF70E774-F314-4DB2-BFD6-EB38F5C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1532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1" name="流程箭头_71">
            <a:extLst xmlns:a="http://schemas.openxmlformats.org/drawingml/2006/main">
              <a:ext uri="{FF2B5EF4-FFF2-40B4-BE49-F238E27FC236}">
                <a16:creationId xmlns:a16="http://schemas.microsoft.com/office/drawing/2014/main" id="{3587D432-B330-4312-B41B-B3E75F6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1628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2" name="供需失配与运输服务联合响应_72">
            <a:extLst xmlns:a="http://schemas.openxmlformats.org/drawingml/2006/main">
              <a:ext uri="{FF2B5EF4-FFF2-40B4-BE49-F238E27FC236}">
                <a16:creationId xmlns:a16="http://schemas.microsoft.com/office/drawing/2014/main" id="{95D7AC9F-3F3F-415A-B55A-38C5E0B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7410450"/>
            <a:ext cx="6108192" cy="1114425"/>
          </a:xfrm>
          <a:prstGeom xmlns:a="http://schemas.openxmlformats.org/drawingml/2006/main" prst="roundRect">
            <a:avLst>
              <a:gd name="adj" fmla="val 8547"/>
            </a:avLst>
          </a:prstGeom>
          <a:solidFill xmlns:a="http://schemas.openxmlformats.org/drawingml/2006/main">
            <a:srgbClr val="DEEBF7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3" name="文字_73">
            <a:extLst xmlns:a="http://schemas.openxmlformats.org/drawingml/2006/main">
              <a:ext uri="{FF2B5EF4-FFF2-40B4-BE49-F238E27FC236}">
                <a16:creationId xmlns:a16="http://schemas.microsoft.com/office/drawing/2014/main" id="{1AEEAC14-DAA0-42C1-95E8-83152F8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7496175"/>
            <a:ext cx="597484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供需失配与运输服务联合响应</a:t>
            </a:r>
          </a:p>
        </p:txBody>
      </p:sp>
      <p:sp>
        <p:nvSpPr>
          <p:cNvPr id="74" name="文字_74">
            <a:extLst xmlns:a="http://schemas.openxmlformats.org/drawingml/2006/main">
              <a:ext uri="{FF2B5EF4-FFF2-40B4-BE49-F238E27FC236}">
                <a16:creationId xmlns:a16="http://schemas.microsoft.com/office/drawing/2014/main" id="{DEFC8391-F6F1-46F5-ABBF-CBC9989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7915275"/>
            <a:ext cx="5936742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到达与有效服务失衡引起排队增长、货物积压与实际通过量变化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刻画待闸时间分布、船期偏移、港航作业衔接及运输组织调整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识别时效损失、交付可靠性变化与重点货类差异</a:t>
            </a:r>
          </a:p>
        </p:txBody>
      </p:sp>
      <p:sp>
        <p:nvSpPr>
          <p:cNvPr id="75" name="文字_75">
            <a:extLst xmlns:a="http://schemas.openxmlformats.org/drawingml/2006/main">
              <a:ext uri="{FF2B5EF4-FFF2-40B4-BE49-F238E27FC236}">
                <a16:creationId xmlns:a16="http://schemas.microsoft.com/office/drawing/2014/main" id="{6555E074-F74D-4DFD-B1A3-01A053C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8591550"/>
            <a:ext cx="6108192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方法：动态排队、基准情景对照与分货类航线船型分析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输出：有效能力、到达流、通过量、积压量、时效与可靠性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明确施工影响与常态波动的区分及识别条件</a:t>
            </a:r>
          </a:p>
        </p:txBody>
      </p:sp>
      <p:sp>
        <p:nvSpPr>
          <p:cNvPr id="76" name="流程箭头_76">
            <a:extLst xmlns:a="http://schemas.openxmlformats.org/drawingml/2006/main">
              <a:ext uri="{FF2B5EF4-FFF2-40B4-BE49-F238E27FC236}">
                <a16:creationId xmlns:a16="http://schemas.microsoft.com/office/drawing/2014/main" id="{66456CA9-DCAA-4741-BA1F-DA1F9653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9439275"/>
            <a:ext cx="1524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77" name="研究模块_77">
            <a:extLst xmlns:a="http://schemas.openxmlformats.org/drawingml/2006/main">
              <a:ext uri="{FF2B5EF4-FFF2-40B4-BE49-F238E27FC236}">
                <a16:creationId xmlns:a16="http://schemas.microsoft.com/office/drawing/2014/main" id="{88CA9AC5-7DD1-4A7D-BDB4-ADF79DBC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9639300"/>
            <a:ext cx="6473952" cy="6229350"/>
          </a:xfrm>
          <a:prstGeom xmlns:a="http://schemas.openxmlformats.org/drawingml/2006/main" prst="roundRect">
            <a:avLst>
              <a:gd name="adj" fmla="val 1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8" name="模块标题背景_78">
            <a:extLst xmlns:a="http://schemas.openxmlformats.org/drawingml/2006/main">
              <a:ext uri="{FF2B5EF4-FFF2-40B4-BE49-F238E27FC236}">
                <a16:creationId xmlns:a16="http://schemas.microsoft.com/office/drawing/2014/main" id="{D90B1F2A-AA54-46E6-9A42-FFB9C75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97033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9" name="模块标题_79">
            <a:extLst xmlns:a="http://schemas.openxmlformats.org/drawingml/2006/main">
              <a:ext uri="{FF2B5EF4-FFF2-40B4-BE49-F238E27FC236}">
                <a16:creationId xmlns:a16="http://schemas.microsoft.com/office/drawing/2014/main" id="{F67EDDBE-F46C-44D8-9D5F-8633BD0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7059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航运市场与经营经济响应及主体行为反馈</a:t>
            </a:r>
          </a:p>
        </p:txBody>
      </p:sp>
      <p:sp>
        <p:nvSpPr>
          <p:cNvPr id="80" name="共同驱动：运行状态变化与通航限制_80">
            <a:extLst xmlns:a="http://schemas.openxmlformats.org/drawingml/2006/main">
              <a:ext uri="{FF2B5EF4-FFF2-40B4-BE49-F238E27FC236}">
                <a16:creationId xmlns:a16="http://schemas.microsoft.com/office/drawing/2014/main" id="{4C38D973-EC37-47EE-AA16-D30D13CE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0191750"/>
            <a:ext cx="6108192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1" name="文字_81">
            <a:extLst xmlns:a="http://schemas.openxmlformats.org/drawingml/2006/main">
              <a:ext uri="{FF2B5EF4-FFF2-40B4-BE49-F238E27FC236}">
                <a16:creationId xmlns:a16="http://schemas.microsoft.com/office/drawing/2014/main" id="{CB8264C2-B9DC-4701-AED3-3D6D75B3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0277475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共同驱动：运行状态变化与通航限制</a:t>
            </a:r>
          </a:p>
        </p:txBody>
      </p:sp>
      <p:sp>
        <p:nvSpPr>
          <p:cNvPr id="82" name="文字_82">
            <a:extLst xmlns:a="http://schemas.openxmlformats.org/drawingml/2006/main">
              <a:ext uri="{FF2B5EF4-FFF2-40B4-BE49-F238E27FC236}">
                <a16:creationId xmlns:a16="http://schemas.microsoft.com/office/drawing/2014/main" id="{7F026D47-1990-4CEC-BC49-90ADC92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0582275"/>
            <a:ext cx="5936742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能力、需求、等待时间、船期及可靠性变化分别进入成本市场分析与主体直接调整</a:t>
            </a:r>
          </a:p>
        </p:txBody>
      </p:sp>
      <p:sp>
        <p:nvSpPr>
          <p:cNvPr id="83" name="连接线_83">
            <a:extLst xmlns:a="http://schemas.openxmlformats.org/drawingml/2006/main">
              <a:ext uri="{FF2B5EF4-FFF2-40B4-BE49-F238E27FC236}">
                <a16:creationId xmlns:a16="http://schemas.microsoft.com/office/drawing/2014/main" id="{926F5026-B7EF-45F5-B36A-58B278B6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4" name="连接线_84">
            <a:extLst xmlns:a="http://schemas.openxmlformats.org/drawingml/2006/main">
              <a:ext uri="{FF2B5EF4-FFF2-40B4-BE49-F238E27FC236}">
                <a16:creationId xmlns:a16="http://schemas.microsoft.com/office/drawing/2014/main" id="{DE7AD2C4-CECC-4B5F-B995-9B34D09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0772775"/>
            <a:ext cx="190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5" name="文字_85">
            <a:extLst xmlns:a="http://schemas.openxmlformats.org/drawingml/2006/main">
              <a:ext uri="{FF2B5EF4-FFF2-40B4-BE49-F238E27FC236}">
                <a16:creationId xmlns:a16="http://schemas.microsoft.com/office/drawing/2014/main" id="{AF0C7144-2D71-4710-9C0D-D293C893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运行变化引起成本与供需调整</a:t>
            </a:r>
          </a:p>
        </p:txBody>
      </p:sp>
      <p:sp>
        <p:nvSpPr>
          <p:cNvPr id="86" name="文字_86">
            <a:extLst xmlns:a="http://schemas.openxmlformats.org/drawingml/2006/main">
              <a:ext uri="{FF2B5EF4-FFF2-40B4-BE49-F238E27FC236}">
                <a16:creationId xmlns:a16="http://schemas.microsoft.com/office/drawing/2014/main" id="{F5AFBFDE-6188-416B-A49C-5C8983FE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0820400"/>
            <a:ext cx="2571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通航约束直接引起组织适应</a:t>
            </a:r>
          </a:p>
        </p:txBody>
      </p:sp>
      <p:sp>
        <p:nvSpPr>
          <p:cNvPr id="87" name="流程箭头_87">
            <a:extLst xmlns:a="http://schemas.openxmlformats.org/drawingml/2006/main">
              <a:ext uri="{FF2B5EF4-FFF2-40B4-BE49-F238E27FC236}">
                <a16:creationId xmlns:a16="http://schemas.microsoft.com/office/drawing/2014/main" id="{287760BC-5311-417F-A8FB-2BB8E3A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8" name="流程箭头_88">
            <a:extLst xmlns:a="http://schemas.openxmlformats.org/drawingml/2006/main">
              <a:ext uri="{FF2B5EF4-FFF2-40B4-BE49-F238E27FC236}">
                <a16:creationId xmlns:a16="http://schemas.microsoft.com/office/drawing/2014/main" id="{0C9F08D5-99DF-4B05-8D2F-1853B38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0982325"/>
            <a:ext cx="15240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89" name="容器_89">
            <a:extLst xmlns:a="http://schemas.openxmlformats.org/drawingml/2006/main">
              <a:ext uri="{FF2B5EF4-FFF2-40B4-BE49-F238E27FC236}">
                <a16:creationId xmlns:a16="http://schemas.microsoft.com/office/drawing/2014/main" id="{D27AF7ED-6145-4CE7-9A4B-5F99887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0" name="容器_90">
            <a:extLst xmlns:a="http://schemas.openxmlformats.org/drawingml/2006/main">
              <a:ext uri="{FF2B5EF4-FFF2-40B4-BE49-F238E27FC236}">
                <a16:creationId xmlns:a16="http://schemas.microsoft.com/office/drawing/2014/main" id="{9C151255-AFF3-4638-AFFC-E25767A7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1106150"/>
            <a:ext cx="2862072" cy="3143250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F7FCF8"/>
          </a:solidFill>
          <a:ln xmlns:a="http://schemas.openxmlformats.org/drawingml/2006/main" w="16193">
            <a:solidFill>
              <a:srgbClr val="21864B"/>
            </a:solidFill>
          </a:ln>
        </p:spPr>
      </p:sp>
      <p:sp>
        <p:nvSpPr>
          <p:cNvPr id="91" name="文字_91">
            <a:extLst xmlns:a="http://schemas.openxmlformats.org/drawingml/2006/main">
              <a:ext uri="{FF2B5EF4-FFF2-40B4-BE49-F238E27FC236}">
                <a16:creationId xmlns:a16="http://schemas.microsoft.com/office/drawing/2014/main" id="{9FFC658C-2FE3-45EC-B646-262CA5BB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成本与市场响应</a:t>
            </a:r>
          </a:p>
        </p:txBody>
      </p:sp>
      <p:sp>
        <p:nvSpPr>
          <p:cNvPr id="92" name="文字_92">
            <a:extLst xmlns:a="http://schemas.openxmlformats.org/drawingml/2006/main">
              <a:ext uri="{FF2B5EF4-FFF2-40B4-BE49-F238E27FC236}">
                <a16:creationId xmlns:a16="http://schemas.microsoft.com/office/drawing/2014/main" id="{701B411F-001A-45B9-B065-9DA44394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11728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主体直接与市场驱动调整</a:t>
            </a:r>
          </a:p>
        </p:txBody>
      </p:sp>
      <p:sp>
        <p:nvSpPr>
          <p:cNvPr id="93" name="运输成本与港航经营响应_93">
            <a:extLst xmlns:a="http://schemas.openxmlformats.org/drawingml/2006/main">
              <a:ext uri="{FF2B5EF4-FFF2-40B4-BE49-F238E27FC236}">
                <a16:creationId xmlns:a16="http://schemas.microsoft.com/office/drawing/2014/main" id="{A220E07A-5387-4C23-933B-EBA37656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4" name="文字_94">
            <a:extLst xmlns:a="http://schemas.openxmlformats.org/drawingml/2006/main">
              <a:ext uri="{FF2B5EF4-FFF2-40B4-BE49-F238E27FC236}">
                <a16:creationId xmlns:a16="http://schemas.microsoft.com/office/drawing/2014/main" id="{FA910CD7-C536-4456-899D-71AB58C8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运输成本与港航经营响应</a:t>
            </a:r>
          </a:p>
        </p:txBody>
      </p:sp>
      <p:sp>
        <p:nvSpPr>
          <p:cNvPr id="95" name="文字_95">
            <a:extLst xmlns:a="http://schemas.openxmlformats.org/drawingml/2006/main">
              <a:ext uri="{FF2B5EF4-FFF2-40B4-BE49-F238E27FC236}">
                <a16:creationId xmlns:a16="http://schemas.microsoft.com/office/drawing/2014/main" id="{C07FC8DD-6D18-459F-BAAF-23A4468F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待闸、航行、转运及周转变化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单航次单位成本与经营收益</a:t>
            </a:r>
          </a:p>
        </p:txBody>
      </p:sp>
      <p:sp>
        <p:nvSpPr>
          <p:cNvPr id="96" name="运价响应及其作用条件_96">
            <a:extLst xmlns:a="http://schemas.openxmlformats.org/drawingml/2006/main">
              <a:ext uri="{FF2B5EF4-FFF2-40B4-BE49-F238E27FC236}">
                <a16:creationId xmlns:a16="http://schemas.microsoft.com/office/drawing/2014/main" id="{BD16B272-A719-4D82-9622-B415628B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7" name="文字_97">
            <a:extLst xmlns:a="http://schemas.openxmlformats.org/drawingml/2006/main">
              <a:ext uri="{FF2B5EF4-FFF2-40B4-BE49-F238E27FC236}">
                <a16:creationId xmlns:a16="http://schemas.microsoft.com/office/drawing/2014/main" id="{B3950108-0E78-40CD-9BB9-EE8381EF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运价响应及其作用条件</a:t>
            </a:r>
          </a:p>
        </p:txBody>
      </p:sp>
      <p:sp>
        <p:nvSpPr>
          <p:cNvPr id="98" name="文字_98">
            <a:extLst xmlns:a="http://schemas.openxmlformats.org/drawingml/2006/main">
              <a:ext uri="{FF2B5EF4-FFF2-40B4-BE49-F238E27FC236}">
                <a16:creationId xmlns:a16="http://schemas.microsoft.com/office/drawing/2014/main" id="{A6D1DAE7-8530-4287-B201-53FDE6DC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供需、成本、合同与替代条件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控制燃料变化并检验价格方向</a:t>
            </a:r>
          </a:p>
        </p:txBody>
      </p:sp>
      <p:sp>
        <p:nvSpPr>
          <p:cNvPr id="99" name="差异化响应与传导时滞_99">
            <a:extLst xmlns:a="http://schemas.openxmlformats.org/drawingml/2006/main">
              <a:ext uri="{FF2B5EF4-FFF2-40B4-BE49-F238E27FC236}">
                <a16:creationId xmlns:a16="http://schemas.microsoft.com/office/drawing/2014/main" id="{01CE31DC-3766-4A24-A04D-B94F427F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0" name="文字_100">
            <a:extLst xmlns:a="http://schemas.openxmlformats.org/drawingml/2006/main">
              <a:ext uri="{FF2B5EF4-FFF2-40B4-BE49-F238E27FC236}">
                <a16:creationId xmlns:a16="http://schemas.microsoft.com/office/drawing/2014/main" id="{4DD41A75-5069-47C6-B735-AC1E94B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差异化响应与传导时滞</a:t>
            </a:r>
          </a:p>
        </p:txBody>
      </p:sp>
      <p:sp>
        <p:nvSpPr>
          <p:cNvPr id="101" name="文字_101">
            <a:extLst xmlns:a="http://schemas.openxmlformats.org/drawingml/2006/main">
              <a:ext uri="{FF2B5EF4-FFF2-40B4-BE49-F238E27FC236}">
                <a16:creationId xmlns:a16="http://schemas.microsoft.com/office/drawing/2014/main" id="{FE8873DB-ACD1-4DA9-9605-5C59AD0F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分货类、航线、船型识别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成本与运价口径分别核算</a:t>
            </a:r>
          </a:p>
        </p:txBody>
      </p:sp>
      <p:sp>
        <p:nvSpPr>
          <p:cNvPr id="102" name="直接适应通航与服务变化_102">
            <a:extLst xmlns:a="http://schemas.openxmlformats.org/drawingml/2006/main">
              <a:ext uri="{FF2B5EF4-FFF2-40B4-BE49-F238E27FC236}">
                <a16:creationId xmlns:a16="http://schemas.microsoft.com/office/drawing/2014/main" id="{F5CBF712-22AA-4460-875B-15F25D6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156335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3" name="文字_103">
            <a:extLst xmlns:a="http://schemas.openxmlformats.org/drawingml/2006/main">
              <a:ext uri="{FF2B5EF4-FFF2-40B4-BE49-F238E27FC236}">
                <a16:creationId xmlns:a16="http://schemas.microsoft.com/office/drawing/2014/main" id="{97095BD4-8157-4FAA-BC8B-19242E97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164907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直接适应通航与服务变化</a:t>
            </a:r>
          </a:p>
        </p:txBody>
      </p:sp>
      <p:sp>
        <p:nvSpPr>
          <p:cNvPr id="104" name="文字_104">
            <a:extLst xmlns:a="http://schemas.openxmlformats.org/drawingml/2006/main">
              <a:ext uri="{FF2B5EF4-FFF2-40B4-BE49-F238E27FC236}">
                <a16:creationId xmlns:a16="http://schemas.microsoft.com/office/drawing/2014/main" id="{7A792F1E-0614-4BC6-94BC-35E2D027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96340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航次、待闸组织、绕行转运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船型与发运时间调整</a:t>
            </a:r>
          </a:p>
        </p:txBody>
      </p:sp>
      <p:sp>
        <p:nvSpPr>
          <p:cNvPr id="105" name="市场信息驱动的运输选择_105">
            <a:extLst xmlns:a="http://schemas.openxmlformats.org/drawingml/2006/main">
              <a:ext uri="{FF2B5EF4-FFF2-40B4-BE49-F238E27FC236}">
                <a16:creationId xmlns:a16="http://schemas.microsoft.com/office/drawing/2014/main" id="{8B54AAC3-40FD-4BEF-8AEF-6258DE47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2430125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6" name="文字_106">
            <a:extLst xmlns:a="http://schemas.openxmlformats.org/drawingml/2006/main">
              <a:ext uri="{FF2B5EF4-FFF2-40B4-BE49-F238E27FC236}">
                <a16:creationId xmlns:a16="http://schemas.microsoft.com/office/drawing/2014/main" id="{41BA92EA-301E-4727-B0DF-E55316A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515850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市场信息驱动的运输选择</a:t>
            </a:r>
          </a:p>
        </p:txBody>
      </p:sp>
      <p:sp>
        <p:nvSpPr>
          <p:cNvPr id="107" name="文字_107">
            <a:extLst xmlns:a="http://schemas.openxmlformats.org/drawingml/2006/main">
              <a:ext uri="{FF2B5EF4-FFF2-40B4-BE49-F238E27FC236}">
                <a16:creationId xmlns:a16="http://schemas.microsoft.com/office/drawing/2014/main" id="{DA747360-1095-4C67-8282-D241B015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830175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承运意愿、运力配置与航次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发运时点、通道及方式选择</a:t>
            </a:r>
          </a:p>
        </p:txBody>
      </p:sp>
      <p:sp>
        <p:nvSpPr>
          <p:cNvPr id="108" name="主体行为弹性与调整约束_108">
            <a:extLst xmlns:a="http://schemas.openxmlformats.org/drawingml/2006/main">
              <a:ext uri="{FF2B5EF4-FFF2-40B4-BE49-F238E27FC236}">
                <a16:creationId xmlns:a16="http://schemas.microsoft.com/office/drawing/2014/main" id="{905FC5A1-BAD7-4BAB-9AC9-938D9E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296900"/>
            <a:ext cx="2676525" cy="771525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9" name="文字_109">
            <a:extLst xmlns:a="http://schemas.openxmlformats.org/drawingml/2006/main">
              <a:ext uri="{FF2B5EF4-FFF2-40B4-BE49-F238E27FC236}">
                <a16:creationId xmlns:a16="http://schemas.microsoft.com/office/drawing/2014/main" id="{744D81A5-C87A-4188-B5F2-06162EE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3382625"/>
            <a:ext cx="2543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主体行为弹性与调整约束</a:t>
            </a:r>
          </a:p>
        </p:txBody>
      </p:sp>
      <p:sp>
        <p:nvSpPr>
          <p:cNvPr id="110" name="文字_110">
            <a:extLst xmlns:a="http://schemas.openxmlformats.org/drawingml/2006/main">
              <a:ext uri="{FF2B5EF4-FFF2-40B4-BE49-F238E27FC236}">
                <a16:creationId xmlns:a16="http://schemas.microsoft.com/office/drawing/2014/main" id="{14D57A59-0561-4F70-A79F-5000CB6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696950"/>
            <a:ext cx="2505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货类期限、替代能力与资源约束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行为方向、调整比例与时滞</a:t>
            </a:r>
          </a:p>
        </p:txBody>
      </p:sp>
      <p:sp>
        <p:nvSpPr>
          <p:cNvPr id="111" name="流程箭头_111">
            <a:extLst xmlns:a="http://schemas.openxmlformats.org/drawingml/2006/main">
              <a:ext uri="{FF2B5EF4-FFF2-40B4-BE49-F238E27FC236}">
                <a16:creationId xmlns:a16="http://schemas.microsoft.com/office/drawing/2014/main" id="{EDFE84F2-F56A-4621-8C68-83F3E61C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725400"/>
            <a:ext cx="2571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2" name="连接线_112">
            <a:extLst xmlns:a="http://schemas.openxmlformats.org/drawingml/2006/main">
              <a:ext uri="{FF2B5EF4-FFF2-40B4-BE49-F238E27FC236}">
                <a16:creationId xmlns:a16="http://schemas.microsoft.com/office/drawing/2014/main" id="{8CFDCA8C-577D-448B-AD16-6553A59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3" name="连接线_113">
            <a:extLst xmlns:a="http://schemas.openxmlformats.org/drawingml/2006/main">
              <a:ext uri="{FF2B5EF4-FFF2-40B4-BE49-F238E27FC236}">
                <a16:creationId xmlns:a16="http://schemas.microsoft.com/office/drawing/2014/main" id="{94656AB2-AC1F-4395-B96D-94B44F3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27797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4" name="连接线_114">
            <a:extLst xmlns:a="http://schemas.openxmlformats.org/drawingml/2006/main">
              <a:ext uri="{FF2B5EF4-FFF2-40B4-BE49-F238E27FC236}">
                <a16:creationId xmlns:a16="http://schemas.microsoft.com/office/drawing/2014/main" id="{770F6769-B06A-4C5E-8826-127BC5A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443037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5" name="流程箭头_115">
            <a:extLst xmlns:a="http://schemas.openxmlformats.org/drawingml/2006/main">
              <a:ext uri="{FF2B5EF4-FFF2-40B4-BE49-F238E27FC236}">
                <a16:creationId xmlns:a16="http://schemas.microsoft.com/office/drawing/2014/main" id="{A0E0BB12-31F6-4D7E-97E0-2895778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43990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16" name="行为反馈更新有效运力、到达流与运输需求_116">
            <a:extLst xmlns:a="http://schemas.openxmlformats.org/drawingml/2006/main">
              <a:ext uri="{FF2B5EF4-FFF2-40B4-BE49-F238E27FC236}">
                <a16:creationId xmlns:a16="http://schemas.microsoft.com/office/drawing/2014/main" id="{2FE7A36C-8D05-4469-BFA6-932D6F0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4678025"/>
            <a:ext cx="6108192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6193">
            <a:solidFill>
              <a:srgbClr val="21864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7" name="文字_117">
            <a:extLst xmlns:a="http://schemas.openxmlformats.org/drawingml/2006/main">
              <a:ext uri="{FF2B5EF4-FFF2-40B4-BE49-F238E27FC236}">
                <a16:creationId xmlns:a16="http://schemas.microsoft.com/office/drawing/2014/main" id="{B716EE0B-0E6D-45EC-B9E8-89AF3DD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4763750"/>
            <a:ext cx="597484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行为反馈更新有效运力、到达流与运输需求</a:t>
            </a:r>
          </a:p>
        </p:txBody>
      </p:sp>
      <p:sp>
        <p:nvSpPr>
          <p:cNvPr id="118" name="文字_118">
            <a:extLst xmlns:a="http://schemas.openxmlformats.org/drawingml/2006/main">
              <a:ext uri="{FF2B5EF4-FFF2-40B4-BE49-F238E27FC236}">
                <a16:creationId xmlns:a16="http://schemas.microsoft.com/office/drawing/2014/main" id="{84790B49-4927-444A-94BC-F4A5153B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5068550"/>
            <a:ext cx="593674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将主体选择转化为分时段运力、到达与货类需求变化，并返回第一部分迭代计算</a:t>
            </a:r>
          </a:p>
        </p:txBody>
      </p:sp>
      <p:sp>
        <p:nvSpPr>
          <p:cNvPr id="119" name="文字_119">
            <a:extLst xmlns:a="http://schemas.openxmlformats.org/drawingml/2006/main">
              <a:ext uri="{FF2B5EF4-FFF2-40B4-BE49-F238E27FC236}">
                <a16:creationId xmlns:a16="http://schemas.microsoft.com/office/drawing/2014/main" id="{9807847B-F10C-47BA-A502-AFD54D78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5335250"/>
            <a:ext cx="610819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方法：运输成本核算、运价响应分析、离散选择与行为弹性估计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反馈方向依据数据检验，区分企业成本、货主支付运费和企业收入</a:t>
            </a:r>
          </a:p>
        </p:txBody>
      </p:sp>
      <p:sp>
        <p:nvSpPr>
          <p:cNvPr id="120" name="连接线_120">
            <a:extLst xmlns:a="http://schemas.openxmlformats.org/drawingml/2006/main">
              <a:ext uri="{FF2B5EF4-FFF2-40B4-BE49-F238E27FC236}">
                <a16:creationId xmlns:a16="http://schemas.microsoft.com/office/drawing/2014/main" id="{6B4BCFE3-3654-4045-A292-52647F33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4982825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1" name="连接线_121">
            <a:extLst xmlns:a="http://schemas.openxmlformats.org/drawingml/2006/main">
              <a:ext uri="{FF2B5EF4-FFF2-40B4-BE49-F238E27FC236}">
                <a16:creationId xmlns:a16="http://schemas.microsoft.com/office/drawing/2014/main" id="{C5CFC16B-8443-4659-93D2-7DC760C0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2" name="连接线_122">
            <a:extLst xmlns:a="http://schemas.openxmlformats.org/drawingml/2006/main">
              <a:ext uri="{FF2B5EF4-FFF2-40B4-BE49-F238E27FC236}">
                <a16:creationId xmlns:a16="http://schemas.microsoft.com/office/drawing/2014/main" id="{41AC73AB-C069-410D-BD6A-D16C77EB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196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3" name="流程箭头_123">
            <a:extLst xmlns:a="http://schemas.openxmlformats.org/drawingml/2006/main">
              <a:ext uri="{FF2B5EF4-FFF2-40B4-BE49-F238E27FC236}">
                <a16:creationId xmlns:a16="http://schemas.microsoft.com/office/drawing/2014/main" id="{7386266F-4AD3-41FD-97BB-42BE23F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5295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4" name="连接线_124">
            <a:extLst xmlns:a="http://schemas.openxmlformats.org/drawingml/2006/main">
              <a:ext uri="{FF2B5EF4-FFF2-40B4-BE49-F238E27FC236}">
                <a16:creationId xmlns:a16="http://schemas.microsoft.com/office/drawing/2014/main" id="{FF679CBA-A6A5-44A0-AC7B-5BCECE83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9828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5" name="连接线_125">
            <a:extLst xmlns:a="http://schemas.openxmlformats.org/drawingml/2006/main">
              <a:ext uri="{FF2B5EF4-FFF2-40B4-BE49-F238E27FC236}">
                <a16:creationId xmlns:a16="http://schemas.microsoft.com/office/drawing/2014/main" id="{7B905F31-2648-42BE-AA04-AEEB228E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19050" cy="1036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6" name="连接线_126">
            <a:extLst xmlns:a="http://schemas.openxmlformats.org/drawingml/2006/main">
              <a:ext uri="{FF2B5EF4-FFF2-40B4-BE49-F238E27FC236}">
                <a16:creationId xmlns:a16="http://schemas.microsoft.com/office/drawing/2014/main" id="{4B05CBA2-7257-4FE5-B15E-4834347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7" name="流程箭头_127">
            <a:extLst xmlns:a="http://schemas.openxmlformats.org/drawingml/2006/main">
              <a:ext uri="{FF2B5EF4-FFF2-40B4-BE49-F238E27FC236}">
                <a16:creationId xmlns:a16="http://schemas.microsoft.com/office/drawing/2014/main" id="{E2731735-AD53-4D2D-8AAB-3557B792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28" name="容器_128">
            <a:extLst xmlns:a="http://schemas.openxmlformats.org/drawingml/2006/main">
              <a:ext uri="{FF2B5EF4-FFF2-40B4-BE49-F238E27FC236}">
                <a16:creationId xmlns:a16="http://schemas.microsoft.com/office/drawing/2014/main" id="{026C634A-17B0-42BF-9B34-FDE935F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0391775"/>
            <a:ext cx="2571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9" name="容器_129">
            <a:extLst xmlns:a="http://schemas.openxmlformats.org/drawingml/2006/main">
              <a:ext uri="{FF2B5EF4-FFF2-40B4-BE49-F238E27FC236}">
                <a16:creationId xmlns:a16="http://schemas.microsoft.com/office/drawing/2014/main" id="{079A69D3-5D91-4804-AB40-917A50B9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877550"/>
            <a:ext cx="2667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0" name="文字_130">
            <a:extLst xmlns:a="http://schemas.openxmlformats.org/drawingml/2006/main">
              <a:ext uri="{FF2B5EF4-FFF2-40B4-BE49-F238E27FC236}">
                <a16:creationId xmlns:a16="http://schemas.microsoft.com/office/drawing/2014/main" id="{492C55D5-98B8-4FF9-BC79-967C4BEF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763125"/>
            <a:ext cx="238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运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力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1" name="文字_131">
            <a:extLst xmlns:a="http://schemas.openxmlformats.org/drawingml/2006/main">
              <a:ext uri="{FF2B5EF4-FFF2-40B4-BE49-F238E27FC236}">
                <a16:creationId xmlns:a16="http://schemas.microsoft.com/office/drawing/2014/main" id="{08C3B388-8FF0-4CC7-95EA-0467B38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0191750"/>
            <a:ext cx="2381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达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需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反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21864B"/>
                </a:solidFill>
                <a:latin typeface="微软雅黑"/>
                <a:ea typeface="微软雅黑"/>
                <a:cs typeface="微软雅黑"/>
              </a:rPr>
              <a:t>馈</a:t>
            </a:r>
          </a:p>
        </p:txBody>
      </p:sp>
      <p:sp>
        <p:nvSpPr>
          <p:cNvPr id="132" name="流程箭头_132">
            <a:extLst xmlns:a="http://schemas.openxmlformats.org/drawingml/2006/main">
              <a:ext uri="{FF2B5EF4-FFF2-40B4-BE49-F238E27FC236}">
                <a16:creationId xmlns:a16="http://schemas.microsoft.com/office/drawing/2014/main" id="{4146C06B-C06E-4723-B405-66017001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8877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1864B"/>
          </a:solidFill>
          <a:ln xmlns:a="http://schemas.openxmlformats.org/drawingml/2006/main" w="0">
            <a:noFill/>
          </a:ln>
        </p:spPr>
      </p:sp>
      <p:sp>
        <p:nvSpPr>
          <p:cNvPr id="133" name="研究模块_133">
            <a:extLst xmlns:a="http://schemas.openxmlformats.org/drawingml/2006/main">
              <a:ext uri="{FF2B5EF4-FFF2-40B4-BE49-F238E27FC236}">
                <a16:creationId xmlns:a16="http://schemas.microsoft.com/office/drawing/2014/main" id="{68E5F52B-33AD-4745-9D1A-837C88DE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6002000"/>
            <a:ext cx="6473952" cy="75438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4" name="模块标题背景_134">
            <a:extLst xmlns:a="http://schemas.openxmlformats.org/drawingml/2006/main">
              <a:ext uri="{FF2B5EF4-FFF2-40B4-BE49-F238E27FC236}">
                <a16:creationId xmlns:a16="http://schemas.microsoft.com/office/drawing/2014/main" id="{EA0C18A9-BC0B-495A-A74B-3517334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9736" y="16066008"/>
            <a:ext cx="6345936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5" name="模块标题_135">
            <a:extLst xmlns:a="http://schemas.openxmlformats.org/drawingml/2006/main">
              <a:ext uri="{FF2B5EF4-FFF2-40B4-BE49-F238E27FC236}">
                <a16:creationId xmlns:a16="http://schemas.microsoft.com/office/drawing/2014/main" id="{30F00B71-1304-40EA-A291-B792955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6068675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航运波动传播与动态响应模型构建</a:t>
            </a:r>
          </a:p>
        </p:txBody>
      </p:sp>
      <p:sp>
        <p:nvSpPr>
          <p:cNvPr id="136" name="传播与恢复机制识别_136">
            <a:extLst xmlns:a="http://schemas.openxmlformats.org/drawingml/2006/main">
              <a:ext uri="{FF2B5EF4-FFF2-40B4-BE49-F238E27FC236}">
                <a16:creationId xmlns:a16="http://schemas.microsoft.com/office/drawing/2014/main" id="{EEB9192B-6A51-4506-9350-420E552E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554450"/>
            <a:ext cx="6108192" cy="790575"/>
          </a:xfrm>
          <a:prstGeom xmlns:a="http://schemas.openxmlformats.org/drawingml/2006/main" prst="roundRect">
            <a:avLst>
              <a:gd name="adj" fmla="val 12048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7" name="文字_137">
            <a:extLst xmlns:a="http://schemas.openxmlformats.org/drawingml/2006/main">
              <a:ext uri="{FF2B5EF4-FFF2-40B4-BE49-F238E27FC236}">
                <a16:creationId xmlns:a16="http://schemas.microsoft.com/office/drawing/2014/main" id="{6BF2FB26-5257-40E3-ACC3-012370D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6640175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传播与恢复机制识别</a:t>
            </a:r>
          </a:p>
        </p:txBody>
      </p:sp>
      <p:sp>
        <p:nvSpPr>
          <p:cNvPr id="138" name="文字_138">
            <a:extLst xmlns:a="http://schemas.openxmlformats.org/drawingml/2006/main">
              <a:ext uri="{FF2B5EF4-FFF2-40B4-BE49-F238E27FC236}">
                <a16:creationId xmlns:a16="http://schemas.microsoft.com/office/drawing/2014/main" id="{0C3D7865-C9DA-41CD-AA8F-BC2BF90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6983075"/>
            <a:ext cx="593674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识别坝区多通道及上下游港航网络的连接、剩余能力与积压作用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根据运行与行为响应证据提出传播、放大及恢复假设</a:t>
            </a:r>
          </a:p>
        </p:txBody>
      </p:sp>
      <p:sp>
        <p:nvSpPr>
          <p:cNvPr id="139" name="流程箭头_139">
            <a:extLst xmlns:a="http://schemas.openxmlformats.org/drawingml/2006/main">
              <a:ext uri="{FF2B5EF4-FFF2-40B4-BE49-F238E27FC236}">
                <a16:creationId xmlns:a16="http://schemas.microsoft.com/office/drawing/2014/main" id="{735341C8-C684-47E9-837C-BB25FE4C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383125"/>
            <a:ext cx="152400" cy="1809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0" name="融合运行与市场行为反馈的航运动态响应模型_140">
            <a:extLst xmlns:a="http://schemas.openxmlformats.org/drawingml/2006/main">
              <a:ext uri="{FF2B5EF4-FFF2-40B4-BE49-F238E27FC236}">
                <a16:creationId xmlns:a16="http://schemas.microsoft.com/office/drawing/2014/main" id="{58BA61AD-B179-4134-A918-855DCFF1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7592675"/>
            <a:ext cx="6108192" cy="113347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1" name="文字_141">
            <a:extLst xmlns:a="http://schemas.openxmlformats.org/drawingml/2006/main">
              <a:ext uri="{FF2B5EF4-FFF2-40B4-BE49-F238E27FC236}">
                <a16:creationId xmlns:a16="http://schemas.microsoft.com/office/drawing/2014/main" id="{79DC9F01-088B-44E6-973D-84995BBE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7678400"/>
            <a:ext cx="5974842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融合运行与市场行为反馈的航运动态响应模型</a:t>
            </a:r>
          </a:p>
        </p:txBody>
      </p:sp>
      <p:sp>
        <p:nvSpPr>
          <p:cNvPr id="142" name="文字_142">
            <a:extLst xmlns:a="http://schemas.openxmlformats.org/drawingml/2006/main">
              <a:ext uri="{FF2B5EF4-FFF2-40B4-BE49-F238E27FC236}">
                <a16:creationId xmlns:a16="http://schemas.microsoft.com/office/drawing/2014/main" id="{97AA37D3-DB6B-4A1A-868A-A9D529BB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8049875"/>
            <a:ext cx="5936742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动态排队、时变网络与离散事件仿真联动刻画能力、到达、积压及港航衔接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集成成本运价响应、运力配置与货主运输选择，求解航运内部反馈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统一需求、实际流量与积压守恒，区分延后实现及未满足需求</a:t>
            </a:r>
          </a:p>
        </p:txBody>
      </p:sp>
      <p:sp>
        <p:nvSpPr>
          <p:cNvPr id="143" name="连接线_143">
            <a:extLst xmlns:a="http://schemas.openxmlformats.org/drawingml/2006/main">
              <a:ext uri="{FF2B5EF4-FFF2-40B4-BE49-F238E27FC236}">
                <a16:creationId xmlns:a16="http://schemas.microsoft.com/office/drawing/2014/main" id="{F10BC046-D369-40EC-AE8A-2D150C87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745200"/>
            <a:ext cx="19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4" name="连接线_144">
            <a:extLst xmlns:a="http://schemas.openxmlformats.org/drawingml/2006/main">
              <a:ext uri="{FF2B5EF4-FFF2-40B4-BE49-F238E27FC236}">
                <a16:creationId xmlns:a16="http://schemas.microsoft.com/office/drawing/2014/main" id="{8925F49B-DE00-4CF4-B4F3-D63C339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8840450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5" name="流程箭头_145">
            <a:extLst xmlns:a="http://schemas.openxmlformats.org/drawingml/2006/main">
              <a:ext uri="{FF2B5EF4-FFF2-40B4-BE49-F238E27FC236}">
                <a16:creationId xmlns:a16="http://schemas.microsoft.com/office/drawing/2014/main" id="{F608842A-E008-4739-95DE-16F8384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6" name="流程箭头_146">
            <a:extLst xmlns:a="http://schemas.openxmlformats.org/drawingml/2006/main">
              <a:ext uri="{FF2B5EF4-FFF2-40B4-BE49-F238E27FC236}">
                <a16:creationId xmlns:a16="http://schemas.microsoft.com/office/drawing/2014/main" id="{D73820B1-CE4B-45B3-B2F3-5D09201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849975"/>
            <a:ext cx="15240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47" name="典型事件参数校准_147">
            <a:extLst xmlns:a="http://schemas.openxmlformats.org/drawingml/2006/main">
              <a:ext uri="{FF2B5EF4-FFF2-40B4-BE49-F238E27FC236}">
                <a16:creationId xmlns:a16="http://schemas.microsoft.com/office/drawing/2014/main" id="{2D1E1FE7-3197-4CA1-8609-75A70D8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8" name="文字_148">
            <a:extLst xmlns:a="http://schemas.openxmlformats.org/drawingml/2006/main">
              <a:ext uri="{FF2B5EF4-FFF2-40B4-BE49-F238E27FC236}">
                <a16:creationId xmlns:a16="http://schemas.microsoft.com/office/drawing/2014/main" id="{A8A277CB-A221-4512-A68B-3166051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典型事件参数校准</a:t>
            </a:r>
          </a:p>
        </p:txBody>
      </p:sp>
      <p:sp>
        <p:nvSpPr>
          <p:cNvPr id="149" name="文字_149">
            <a:extLst xmlns:a="http://schemas.openxmlformats.org/drawingml/2006/main">
              <a:ext uri="{FF2B5EF4-FFF2-40B4-BE49-F238E27FC236}">
                <a16:creationId xmlns:a16="http://schemas.microsoft.com/office/drawing/2014/main" id="{49D9B26C-143F-408F-A9D3-FCE7B60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施工与检修事件的前中后数据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辨识能力、到达、服务与组织参数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估计成本、运价及行为反馈参数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说明参数来源与可迁移范围</a:t>
            </a:r>
          </a:p>
        </p:txBody>
      </p:sp>
      <p:sp>
        <p:nvSpPr>
          <p:cNvPr id="150" name="独立事件与多指标检验_150">
            <a:extLst xmlns:a="http://schemas.openxmlformats.org/drawingml/2006/main">
              <a:ext uri="{FF2B5EF4-FFF2-40B4-BE49-F238E27FC236}">
                <a16:creationId xmlns:a16="http://schemas.microsoft.com/office/drawing/2014/main" id="{B107EA6D-B7C4-4896-A81A-C197BA5C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19030950"/>
            <a:ext cx="2862072" cy="1419225"/>
          </a:xfrm>
          <a:prstGeom xmlns:a="http://schemas.openxmlformats.org/drawingml/2006/main" prst="roundRect">
            <a:avLst>
              <a:gd name="adj" fmla="val 6711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1" name="文字_151">
            <a:extLst xmlns:a="http://schemas.openxmlformats.org/drawingml/2006/main">
              <a:ext uri="{FF2B5EF4-FFF2-40B4-BE49-F238E27FC236}">
                <a16:creationId xmlns:a16="http://schemas.microsoft.com/office/drawing/2014/main" id="{38D46F2A-2CB0-4A12-A6B9-9B31D02A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1403" y="19116675"/>
            <a:ext cx="2728722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独立事件与多指标检验</a:t>
            </a:r>
          </a:p>
        </p:txBody>
      </p:sp>
      <p:sp>
        <p:nvSpPr>
          <p:cNvPr id="152" name="文字_152">
            <a:extLst xmlns:a="http://schemas.openxmlformats.org/drawingml/2006/main">
              <a:ext uri="{FF2B5EF4-FFF2-40B4-BE49-F238E27FC236}">
                <a16:creationId xmlns:a16="http://schemas.microsoft.com/office/drawing/2014/main" id="{6A2D8AE4-96F9-48DD-A6B8-0DD33267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453" y="19535775"/>
            <a:ext cx="2690622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使用不同事件或时段检验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通过量、排队及等待时间分布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船期偏移、运价响应及传播时滞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评估误差并修正模型假设</a:t>
            </a:r>
          </a:p>
        </p:txBody>
      </p:sp>
      <p:sp>
        <p:nvSpPr>
          <p:cNvPr id="153" name="连接线_153">
            <a:extLst xmlns:a="http://schemas.openxmlformats.org/drawingml/2006/main">
              <a:ext uri="{FF2B5EF4-FFF2-40B4-BE49-F238E27FC236}">
                <a16:creationId xmlns:a16="http://schemas.microsoft.com/office/drawing/2014/main" id="{035997B5-B97E-474A-82F8-F446B1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9716750"/>
            <a:ext cx="30213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4" name="连接线_154">
            <a:extLst xmlns:a="http://schemas.openxmlformats.org/drawingml/2006/main">
              <a:ext uri="{FF2B5EF4-FFF2-40B4-BE49-F238E27FC236}">
                <a16:creationId xmlns:a16="http://schemas.microsoft.com/office/drawing/2014/main" id="{7D610089-2B53-4466-A9DD-17CFB73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5" name="流程箭头_155">
            <a:extLst xmlns:a="http://schemas.openxmlformats.org/drawingml/2006/main">
              <a:ext uri="{FF2B5EF4-FFF2-40B4-BE49-F238E27FC236}">
                <a16:creationId xmlns:a16="http://schemas.microsoft.com/office/drawing/2014/main" id="{74CED99C-988B-489B-8690-F277F6A4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30825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6" name="连接线_156">
            <a:extLst xmlns:a="http://schemas.openxmlformats.org/drawingml/2006/main">
              <a:ext uri="{FF2B5EF4-FFF2-40B4-BE49-F238E27FC236}">
                <a16:creationId xmlns:a16="http://schemas.microsoft.com/office/drawing/2014/main" id="{E36234A9-DAF5-4C37-A5BE-02408882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097500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7" name="连接线_157">
            <a:extLst xmlns:a="http://schemas.openxmlformats.org/drawingml/2006/main">
              <a:ext uri="{FF2B5EF4-FFF2-40B4-BE49-F238E27FC236}">
                <a16:creationId xmlns:a16="http://schemas.microsoft.com/office/drawing/2014/main" id="{DD2FF452-AE5F-491C-AE63-043D4B20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716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8" name="连接线_158">
            <a:extLst xmlns:a="http://schemas.openxmlformats.org/drawingml/2006/main">
              <a:ext uri="{FF2B5EF4-FFF2-40B4-BE49-F238E27FC236}">
                <a16:creationId xmlns:a16="http://schemas.microsoft.com/office/drawing/2014/main" id="{3D443D81-89B2-4F25-83CF-54A08304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097500"/>
            <a:ext cx="19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59" name="连接线_159">
            <a:extLst xmlns:a="http://schemas.openxmlformats.org/drawingml/2006/main">
              <a:ext uri="{FF2B5EF4-FFF2-40B4-BE49-F238E27FC236}">
                <a16:creationId xmlns:a16="http://schemas.microsoft.com/office/drawing/2014/main" id="{A35281C8-FCCC-4100-A315-5E59A1F9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0" name="流程箭头_160">
            <a:extLst xmlns:a="http://schemas.openxmlformats.org/drawingml/2006/main">
              <a:ext uri="{FF2B5EF4-FFF2-40B4-BE49-F238E27FC236}">
                <a16:creationId xmlns:a16="http://schemas.microsoft.com/office/drawing/2014/main" id="{69422F94-ABD5-4BF3-8A9B-4B23BA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30825"/>
            <a:ext cx="171450" cy="1524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1" name="容器_161">
            <a:extLst xmlns:a="http://schemas.openxmlformats.org/drawingml/2006/main">
              <a:ext uri="{FF2B5EF4-FFF2-40B4-BE49-F238E27FC236}">
                <a16:creationId xmlns:a16="http://schemas.microsoft.com/office/drawing/2014/main" id="{8E08FC0F-528B-462F-9F47-0AE0191F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8888075"/>
            <a:ext cx="2571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2" name="容器_162">
            <a:extLst xmlns:a="http://schemas.openxmlformats.org/drawingml/2006/main">
              <a:ext uri="{FF2B5EF4-FFF2-40B4-BE49-F238E27FC236}">
                <a16:creationId xmlns:a16="http://schemas.microsoft.com/office/drawing/2014/main" id="{E714CC2F-B34B-4326-8441-CA4B1219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888075"/>
            <a:ext cx="266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3" name="文字_163">
            <a:extLst xmlns:a="http://schemas.openxmlformats.org/drawingml/2006/main">
              <a:ext uri="{FF2B5EF4-FFF2-40B4-BE49-F238E27FC236}">
                <a16:creationId xmlns:a16="http://schemas.microsoft.com/office/drawing/2014/main" id="{D0777661-B3A1-43EB-B040-D3C14426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参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4" name="文字_164">
            <a:extLst xmlns:a="http://schemas.openxmlformats.org/drawingml/2006/main">
              <a:ext uri="{FF2B5EF4-FFF2-40B4-BE49-F238E27FC236}">
                <a16:creationId xmlns:a16="http://schemas.microsoft.com/office/drawing/2014/main" id="{3235AF1C-A6B0-4347-A370-18FA933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745200"/>
            <a:ext cx="238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修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93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正</a:t>
            </a:r>
          </a:p>
        </p:txBody>
      </p:sp>
      <p:sp>
        <p:nvSpPr>
          <p:cNvPr id="165" name="连接线_165">
            <a:extLst xmlns:a="http://schemas.openxmlformats.org/drawingml/2006/main">
              <a:ext uri="{FF2B5EF4-FFF2-40B4-BE49-F238E27FC236}">
                <a16:creationId xmlns:a16="http://schemas.microsoft.com/office/drawing/2014/main" id="{B339375E-89A2-4963-B7EC-86D4385E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6" name="连接线_166">
            <a:extLst xmlns:a="http://schemas.openxmlformats.org/drawingml/2006/main">
              <a:ext uri="{FF2B5EF4-FFF2-40B4-BE49-F238E27FC236}">
                <a16:creationId xmlns:a16="http://schemas.microsoft.com/office/drawing/2014/main" id="{F5690F2C-20FF-46BF-8D2F-40C1784E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507325"/>
            <a:ext cx="1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7" name="连接线_167">
            <a:extLst xmlns:a="http://schemas.openxmlformats.org/drawingml/2006/main">
              <a:ext uri="{FF2B5EF4-FFF2-40B4-BE49-F238E27FC236}">
                <a16:creationId xmlns:a16="http://schemas.microsoft.com/office/drawing/2014/main" id="{F32D47D5-4236-4FF1-903D-C4935AF2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659725"/>
            <a:ext cx="3248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8" name="流程箭头_168">
            <a:extLst xmlns:a="http://schemas.openxmlformats.org/drawingml/2006/main">
              <a:ext uri="{FF2B5EF4-FFF2-40B4-BE49-F238E27FC236}">
                <a16:creationId xmlns:a16="http://schemas.microsoft.com/office/drawing/2014/main" id="{E0E57DAC-63C9-4542-B626-8249353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669250"/>
            <a:ext cx="152400" cy="200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69" name="多情景传播与恢复推演_169">
            <a:extLst xmlns:a="http://schemas.openxmlformats.org/drawingml/2006/main">
              <a:ext uri="{FF2B5EF4-FFF2-40B4-BE49-F238E27FC236}">
                <a16:creationId xmlns:a16="http://schemas.microsoft.com/office/drawing/2014/main" id="{FA93F7AF-2A3C-4FEC-BD5F-13F62FA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0907375"/>
            <a:ext cx="6108192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0" name="文字_170">
            <a:extLst xmlns:a="http://schemas.openxmlformats.org/drawingml/2006/main">
              <a:ext uri="{FF2B5EF4-FFF2-40B4-BE49-F238E27FC236}">
                <a16:creationId xmlns:a16="http://schemas.microsoft.com/office/drawing/2014/main" id="{0C76A510-B5DB-427D-B6C5-182376CE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0993100"/>
            <a:ext cx="59748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388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多情景传播与恢复推演</a:t>
            </a:r>
          </a:p>
        </p:txBody>
      </p:sp>
      <p:sp>
        <p:nvSpPr>
          <p:cNvPr id="171" name="文字_171">
            <a:extLst xmlns:a="http://schemas.openxmlformats.org/drawingml/2006/main">
              <a:ext uri="{FF2B5EF4-FFF2-40B4-BE49-F238E27FC236}">
                <a16:creationId xmlns:a16="http://schemas.microsoft.com/office/drawing/2014/main" id="{28DFA426-0E48-4E82-925F-F94E923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1336000"/>
            <a:ext cx="5936742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组合施工强度、工期、水文、需求高峰、初始负荷及替代通道条件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分析波动的传播方向、时滞、空间范围与通道间瓶颈转移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比较不同组织措施下的响应及适应性，形成后续优化任务的参数依据</a:t>
            </a:r>
          </a:p>
        </p:txBody>
      </p:sp>
      <p:sp>
        <p:nvSpPr>
          <p:cNvPr id="172" name="流程箭头_172">
            <a:extLst xmlns:a="http://schemas.openxmlformats.org/drawingml/2006/main">
              <a:ext uri="{FF2B5EF4-FFF2-40B4-BE49-F238E27FC236}">
                <a16:creationId xmlns:a16="http://schemas.microsoft.com/office/drawing/2014/main" id="{CBE214F1-CA5F-4869-8748-822620C2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002750"/>
            <a:ext cx="1524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F8F00"/>
          </a:solidFill>
          <a:ln xmlns:a="http://schemas.openxmlformats.org/drawingml/2006/main" w="0">
            <a:noFill/>
          </a:ln>
        </p:spPr>
      </p:sp>
      <p:sp>
        <p:nvSpPr>
          <p:cNvPr id="173" name="供需失配与放大阈值_173">
            <a:extLst xmlns:a="http://schemas.openxmlformats.org/drawingml/2006/main">
              <a:ext uri="{FF2B5EF4-FFF2-40B4-BE49-F238E27FC236}">
                <a16:creationId xmlns:a16="http://schemas.microsoft.com/office/drawing/2014/main" id="{AFAFBD50-FFB6-4580-B79A-56EBCE11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4" name="文字_174">
            <a:extLst xmlns:a="http://schemas.openxmlformats.org/drawingml/2006/main">
              <a:ext uri="{FF2B5EF4-FFF2-40B4-BE49-F238E27FC236}">
                <a16:creationId xmlns:a16="http://schemas.microsoft.com/office/drawing/2014/main" id="{63667988-E029-48DD-93EA-FBD5E38B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283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供需失配与放大阈值</a:t>
            </a:r>
          </a:p>
        </p:txBody>
      </p:sp>
      <p:sp>
        <p:nvSpPr>
          <p:cNvPr id="175" name="文字_175">
            <a:extLst xmlns:a="http://schemas.openxmlformats.org/drawingml/2006/main">
              <a:ext uri="{FF2B5EF4-FFF2-40B4-BE49-F238E27FC236}">
                <a16:creationId xmlns:a16="http://schemas.microsoft.com/office/drawing/2014/main" id="{F148A4C1-855E-4E1A-9525-72FFDC65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333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持续积压出现条件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扰动强度与持续时间阈值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多次短时限制的累积效应</a:t>
            </a:r>
          </a:p>
        </p:txBody>
      </p:sp>
      <p:sp>
        <p:nvSpPr>
          <p:cNvPr id="176" name="积压消散与系统恢复_176">
            <a:extLst xmlns:a="http://schemas.openxmlformats.org/drawingml/2006/main">
              <a:ext uri="{FF2B5EF4-FFF2-40B4-BE49-F238E27FC236}">
                <a16:creationId xmlns:a16="http://schemas.microsoft.com/office/drawing/2014/main" id="{6FDCBA9B-F55B-4134-A213-3B43B81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7" name="文字_177">
            <a:extLst xmlns:a="http://schemas.openxmlformats.org/drawingml/2006/main">
              <a:ext uri="{FF2B5EF4-FFF2-40B4-BE49-F238E27FC236}">
                <a16:creationId xmlns:a16="http://schemas.microsoft.com/office/drawing/2014/main" id="{DCDB0B9E-B8C8-4C73-A1B8-306FD2D1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积压消散与系统恢复</a:t>
            </a:r>
          </a:p>
        </p:txBody>
      </p:sp>
      <p:sp>
        <p:nvSpPr>
          <p:cNvPr id="178" name="文字_178">
            <a:extLst xmlns:a="http://schemas.openxmlformats.org/drawingml/2006/main">
              <a:ext uri="{FF2B5EF4-FFF2-40B4-BE49-F238E27FC236}">
                <a16:creationId xmlns:a16="http://schemas.microsoft.com/office/drawing/2014/main" id="{B30365F3-590A-4641-96CF-03D55641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剩余服务能力与消散速度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能力恢复后的服务滞后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恢复时间与累计服务损失</a:t>
            </a:r>
          </a:p>
        </p:txBody>
      </p:sp>
      <p:sp>
        <p:nvSpPr>
          <p:cNvPr id="179" name="敏感性与不确定性_179">
            <a:extLst xmlns:a="http://schemas.openxmlformats.org/drawingml/2006/main">
              <a:ext uri="{FF2B5EF4-FFF2-40B4-BE49-F238E27FC236}">
                <a16:creationId xmlns:a16="http://schemas.microsoft.com/office/drawing/2014/main" id="{689A1707-045B-4F41-8F5E-5FD1F1A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192" y="22193250"/>
            <a:ext cx="1816608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CF3D8"/>
          </a:solidFill>
          <a:ln xmlns:a="http://schemas.openxmlformats.org/drawingml/2006/main" w="16193">
            <a:solidFill>
              <a:srgbClr val="BF8F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0" name="文字_180">
            <a:extLst xmlns:a="http://schemas.openxmlformats.org/drawingml/2006/main">
              <a:ext uri="{FF2B5EF4-FFF2-40B4-BE49-F238E27FC236}">
                <a16:creationId xmlns:a16="http://schemas.microsoft.com/office/drawing/2014/main" id="{53FE0740-2BA0-4E13-89C0-6BFE29B8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867" y="22278975"/>
            <a:ext cx="16832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BF8F00"/>
                </a:solidFill>
                <a:latin typeface="微软雅黑"/>
                <a:ea typeface="微软雅黑"/>
                <a:cs typeface="微软雅黑"/>
              </a:rPr>
              <a:t>敏感性与不确定性</a:t>
            </a:r>
          </a:p>
        </p:txBody>
      </p:sp>
      <p:sp>
        <p:nvSpPr>
          <p:cNvPr id="181" name="文字_181">
            <a:extLst xmlns:a="http://schemas.openxmlformats.org/drawingml/2006/main">
              <a:ext uri="{FF2B5EF4-FFF2-40B4-BE49-F238E27FC236}">
                <a16:creationId xmlns:a16="http://schemas.microsoft.com/office/drawing/2014/main" id="{EBA1DC6A-5FD6-4F4C-BC76-5C9DFF23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917" y="22640925"/>
            <a:ext cx="1645158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施工、需求及行为参数扰动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关键敏感因素与情景范围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模型适用边界及参数稳健性</a:t>
            </a:r>
          </a:p>
        </p:txBody>
      </p:sp>
      <p:sp>
        <p:nvSpPr>
          <p:cNvPr id="182" name="扰动情景库与能力映射_182">
            <a:extLst xmlns:a="http://schemas.openxmlformats.org/drawingml/2006/main">
              <a:ext uri="{FF2B5EF4-FFF2-40B4-BE49-F238E27FC236}">
                <a16:creationId xmlns:a16="http://schemas.microsoft.com/office/drawing/2014/main" id="{5DB63970-D766-42CA-8A36-EC36F673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81125"/>
            <a:ext cx="2084832" cy="23336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3" name="文字_183">
            <a:extLst xmlns:a="http://schemas.openxmlformats.org/drawingml/2006/main">
              <a:ext uri="{FF2B5EF4-FFF2-40B4-BE49-F238E27FC236}">
                <a16:creationId xmlns:a16="http://schemas.microsoft.com/office/drawing/2014/main" id="{F70C1D80-D1D8-4063-AE04-B40BAFD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46685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扰动情景库与能力映射</a:t>
            </a:r>
          </a:p>
        </p:txBody>
      </p:sp>
      <p:sp>
        <p:nvSpPr>
          <p:cNvPr id="184" name="文字_184">
            <a:extLst xmlns:a="http://schemas.openxmlformats.org/drawingml/2006/main">
              <a:ext uri="{FF2B5EF4-FFF2-40B4-BE49-F238E27FC236}">
                <a16:creationId xmlns:a16="http://schemas.microsoft.com/office/drawing/2014/main" id="{30EC4012-51F7-4B2F-9637-51CE66C2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952625"/>
            <a:ext cx="1913382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施工阶段、强度及工期参数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通航约束与有效能力映射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能力折减幅度和持续时间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多情景编号与标准化输入</a:t>
            </a:r>
          </a:p>
        </p:txBody>
      </p:sp>
      <p:sp>
        <p:nvSpPr>
          <p:cNvPr id="185" name="需求基准与施工增量_185">
            <a:extLst xmlns:a="http://schemas.openxmlformats.org/drawingml/2006/main">
              <a:ext uri="{FF2B5EF4-FFF2-40B4-BE49-F238E27FC236}">
                <a16:creationId xmlns:a16="http://schemas.microsoft.com/office/drawing/2014/main" id="{F7FD6DB2-ECAB-487C-9CB0-07349608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143375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6" name="文字_186">
            <a:extLst xmlns:a="http://schemas.openxmlformats.org/drawingml/2006/main">
              <a:ext uri="{FF2B5EF4-FFF2-40B4-BE49-F238E27FC236}">
                <a16:creationId xmlns:a16="http://schemas.microsoft.com/office/drawing/2014/main" id="{4B45F0B8-97F8-4F3F-B0C9-522B0AD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4229100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需求基准与施工增量</a:t>
            </a:r>
          </a:p>
        </p:txBody>
      </p:sp>
      <p:sp>
        <p:nvSpPr>
          <p:cNvPr id="187" name="文字_187">
            <a:extLst xmlns:a="http://schemas.openxmlformats.org/drawingml/2006/main">
              <a:ext uri="{FF2B5EF4-FFF2-40B4-BE49-F238E27FC236}">
                <a16:creationId xmlns:a16="http://schemas.microsoft.com/office/drawing/2014/main" id="{CBA068B8-276C-4C4B-813A-DD45382C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4714875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常态货类需求及到达过程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周期、季节与突发波动特征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施工增量响应幅度与时滞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需求弹性及识别条件</a:t>
            </a:r>
          </a:p>
        </p:txBody>
      </p:sp>
      <p:sp>
        <p:nvSpPr>
          <p:cNvPr id="188" name="运行与服务响应规律_188">
            <a:extLst xmlns:a="http://schemas.openxmlformats.org/drawingml/2006/main">
              <a:ext uri="{FF2B5EF4-FFF2-40B4-BE49-F238E27FC236}">
                <a16:creationId xmlns:a16="http://schemas.microsoft.com/office/drawing/2014/main" id="{8E14AEA7-2F1D-4C2C-B258-F30F2E8B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70675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89" name="文字_189">
            <a:extLst xmlns:a="http://schemas.openxmlformats.org/drawingml/2006/main">
              <a:ext uri="{FF2B5EF4-FFF2-40B4-BE49-F238E27FC236}">
                <a16:creationId xmlns:a16="http://schemas.microsoft.com/office/drawing/2014/main" id="{7CADC4DF-7416-44BC-8B86-FEFF144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71532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运行与服务响应规律</a:t>
            </a:r>
          </a:p>
        </p:txBody>
      </p:sp>
      <p:sp>
        <p:nvSpPr>
          <p:cNvPr id="190" name="文字_190">
            <a:extLst xmlns:a="http://schemas.openxmlformats.org/drawingml/2006/main">
              <a:ext uri="{FF2B5EF4-FFF2-40B4-BE49-F238E27FC236}">
                <a16:creationId xmlns:a16="http://schemas.microsoft.com/office/drawing/2014/main" id="{1574C9BC-A674-4CA0-8FD0-241322F9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76390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能力、流量、拥堵与组织变化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排队、船期及港航作业衔接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运输时效与交付可靠性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分货类航线船型差异</a:t>
            </a:r>
          </a:p>
        </p:txBody>
      </p:sp>
      <p:sp>
        <p:nvSpPr>
          <p:cNvPr id="191" name="市场响应与行为参数_191">
            <a:extLst xmlns:a="http://schemas.openxmlformats.org/drawingml/2006/main">
              <a:ext uri="{FF2B5EF4-FFF2-40B4-BE49-F238E27FC236}">
                <a16:creationId xmlns:a16="http://schemas.microsoft.com/office/drawing/2014/main" id="{0985ACFD-07B5-4412-80E5-D7C385B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0858500"/>
            <a:ext cx="2084832" cy="242887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2" name="文字_192">
            <a:extLst xmlns:a="http://schemas.openxmlformats.org/drawingml/2006/main">
              <a:ext uri="{FF2B5EF4-FFF2-40B4-BE49-F238E27FC236}">
                <a16:creationId xmlns:a16="http://schemas.microsoft.com/office/drawing/2014/main" id="{981CD535-A9A4-4293-872F-1E26949F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0944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市场响应与行为参数</a:t>
            </a:r>
          </a:p>
        </p:txBody>
      </p:sp>
      <p:sp>
        <p:nvSpPr>
          <p:cNvPr id="193" name="文字_193">
            <a:extLst xmlns:a="http://schemas.openxmlformats.org/drawingml/2006/main">
              <a:ext uri="{FF2B5EF4-FFF2-40B4-BE49-F238E27FC236}">
                <a16:creationId xmlns:a16="http://schemas.microsoft.com/office/drawing/2014/main" id="{776FFDE4-2570-4A75-9B24-7EEE7FD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1430000"/>
            <a:ext cx="1913382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运输成本、运价及收益变化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直接与市场驱动调整关系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运力、航次及运输选择弹性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响应方向、约束与调整时滞</a:t>
            </a:r>
          </a:p>
        </p:txBody>
      </p:sp>
      <p:sp>
        <p:nvSpPr>
          <p:cNvPr id="194" name="航运内部反馈模块_194">
            <a:extLst xmlns:a="http://schemas.openxmlformats.org/drawingml/2006/main">
              <a:ext uri="{FF2B5EF4-FFF2-40B4-BE49-F238E27FC236}">
                <a16:creationId xmlns:a16="http://schemas.microsoft.com/office/drawing/2014/main" id="{53564CF8-D962-4FD5-ACD9-BC9D7839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3906500"/>
            <a:ext cx="2084832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5" name="文字_195">
            <a:extLst xmlns:a="http://schemas.openxmlformats.org/drawingml/2006/main">
              <a:ext uri="{FF2B5EF4-FFF2-40B4-BE49-F238E27FC236}">
                <a16:creationId xmlns:a16="http://schemas.microsoft.com/office/drawing/2014/main" id="{EFAE2270-D0BB-461F-B743-214BC59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39922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航运内部反馈模块</a:t>
            </a:r>
          </a:p>
        </p:txBody>
      </p:sp>
      <p:sp>
        <p:nvSpPr>
          <p:cNvPr id="196" name="文字_196">
            <a:extLst xmlns:a="http://schemas.openxmlformats.org/drawingml/2006/main">
              <a:ext uri="{FF2B5EF4-FFF2-40B4-BE49-F238E27FC236}">
                <a16:creationId xmlns:a16="http://schemas.microsoft.com/office/drawing/2014/main" id="{AAEE4367-5163-4CD8-8079-06ABD57C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4478000"/>
            <a:ext cx="1913382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主体调整对运力与需求的反馈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迭代关系及一致费用核算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运行、市场与行为关联参数</a:t>
            </a:r>
          </a:p>
        </p:txBody>
      </p:sp>
      <p:sp>
        <p:nvSpPr>
          <p:cNvPr id="197" name="传播阈值与恢复规律_197">
            <a:extLst xmlns:a="http://schemas.openxmlformats.org/drawingml/2006/main">
              <a:ext uri="{FF2B5EF4-FFF2-40B4-BE49-F238E27FC236}">
                <a16:creationId xmlns:a16="http://schemas.microsoft.com/office/drawing/2014/main" id="{F282FBF9-B0AE-4D39-A48E-22F5833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17811750"/>
            <a:ext cx="2084832" cy="2190750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8" name="文字_198">
            <a:extLst xmlns:a="http://schemas.openxmlformats.org/drawingml/2006/main">
              <a:ext uri="{FF2B5EF4-FFF2-40B4-BE49-F238E27FC236}">
                <a16:creationId xmlns:a16="http://schemas.microsoft.com/office/drawing/2014/main" id="{FB7A5DE7-0754-4638-B866-4122A7C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1789747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传播阈值与恢复规律</a:t>
            </a:r>
          </a:p>
        </p:txBody>
      </p:sp>
      <p:sp>
        <p:nvSpPr>
          <p:cNvPr id="199" name="文字_199">
            <a:extLst xmlns:a="http://schemas.openxmlformats.org/drawingml/2006/main">
              <a:ext uri="{FF2B5EF4-FFF2-40B4-BE49-F238E27FC236}">
                <a16:creationId xmlns:a16="http://schemas.microsoft.com/office/drawing/2014/main" id="{2776D451-D897-4565-990A-796AE80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18383250"/>
            <a:ext cx="1913382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多通道及上下游传播时滞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供需失配与非线性放大阈值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瓶颈转移及积压消散过程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系统恢复与组织适应性</a:t>
            </a:r>
          </a:p>
        </p:txBody>
      </p:sp>
      <p:sp>
        <p:nvSpPr>
          <p:cNvPr id="200" name="动态响应模型与接口_200">
            <a:extLst xmlns:a="http://schemas.openxmlformats.org/drawingml/2006/main">
              <a:ext uri="{FF2B5EF4-FFF2-40B4-BE49-F238E27FC236}">
                <a16:creationId xmlns:a16="http://schemas.microsoft.com/office/drawing/2014/main" id="{DCABDACF-DCA9-4C69-974A-A50D87C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0955000"/>
            <a:ext cx="2084832" cy="2143125"/>
          </a:xfrm>
          <a:prstGeom xmlns:a="http://schemas.openxmlformats.org/drawingml/2006/main" prst="roundRect">
            <a:avLst>
              <a:gd name="adj" fmla="val 4569"/>
            </a:avLst>
          </a:prstGeom>
          <a:solidFill xmlns:a="http://schemas.openxmlformats.org/drawingml/2006/main">
            <a:srgbClr val="F0F6FC"/>
          </a:solidFill>
          <a:ln xmlns:a="http://schemas.openxmlformats.org/drawingml/2006/main" w="16193">
            <a:solidFill>
              <a:srgbClr val="2E75B6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1" name="文字_201">
            <a:extLst xmlns:a="http://schemas.openxmlformats.org/drawingml/2006/main">
              <a:ext uri="{FF2B5EF4-FFF2-40B4-BE49-F238E27FC236}">
                <a16:creationId xmlns:a16="http://schemas.microsoft.com/office/drawing/2014/main" id="{6B256C81-3118-4072-A2DC-C63D4704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21040725"/>
            <a:ext cx="1951482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动态响应模型与接口</a:t>
            </a:r>
          </a:p>
        </p:txBody>
      </p:sp>
      <p:sp>
        <p:nvSpPr>
          <p:cNvPr id="202" name="文字_202">
            <a:extLst xmlns:a="http://schemas.openxmlformats.org/drawingml/2006/main">
              <a:ext uri="{FF2B5EF4-FFF2-40B4-BE49-F238E27FC236}">
                <a16:creationId xmlns:a16="http://schemas.microsoft.com/office/drawing/2014/main" id="{0C025B8B-63A5-4B17-B6DA-CC53B0C7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805" y="21526500"/>
            <a:ext cx="1913382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校准模型及独立检验结果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参数来源与不确定性范围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分时段通道货类输入输出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模块可调用性及适用边界</a:t>
            </a:r>
          </a:p>
        </p:txBody>
      </p:sp>
      <p:sp>
        <p:nvSpPr>
          <p:cNvPr id="203" name="流程箭头_203">
            <a:extLst xmlns:a="http://schemas.openxmlformats.org/drawingml/2006/main">
              <a:ext uri="{FF2B5EF4-FFF2-40B4-BE49-F238E27FC236}">
                <a16:creationId xmlns:a16="http://schemas.microsoft.com/office/drawing/2014/main" id="{2B7BCB47-7A51-492A-953D-8AD7F2A2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781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4" name="流程箭头_204">
            <a:extLst xmlns:a="http://schemas.openxmlformats.org/drawingml/2006/main">
              <a:ext uri="{FF2B5EF4-FFF2-40B4-BE49-F238E27FC236}">
                <a16:creationId xmlns:a16="http://schemas.microsoft.com/office/drawing/2014/main" id="{3E89129B-80D6-4F1E-8D44-5E9C4261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6534150"/>
            <a:ext cx="1524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5" name="流程箭头_205">
            <a:extLst xmlns:a="http://schemas.openxmlformats.org/drawingml/2006/main">
              <a:ext uri="{FF2B5EF4-FFF2-40B4-BE49-F238E27FC236}">
                <a16:creationId xmlns:a16="http://schemas.microsoft.com/office/drawing/2014/main" id="{D39EE247-3ADA-4CE9-95E4-4D884E8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9372600"/>
            <a:ext cx="152400" cy="1238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6" name="流程箭头_206">
            <a:extLst xmlns:a="http://schemas.openxmlformats.org/drawingml/2006/main">
              <a:ext uri="{FF2B5EF4-FFF2-40B4-BE49-F238E27FC236}">
                <a16:creationId xmlns:a16="http://schemas.microsoft.com/office/drawing/2014/main" id="{984BEBB9-1C66-4ACD-89AC-96F8A965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3401675"/>
            <a:ext cx="1524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7" name="流程箭头_207">
            <a:extLst xmlns:a="http://schemas.openxmlformats.org/drawingml/2006/main">
              <a:ext uri="{FF2B5EF4-FFF2-40B4-BE49-F238E27FC236}">
                <a16:creationId xmlns:a16="http://schemas.microsoft.com/office/drawing/2014/main" id="{3B49036D-6C04-470C-9343-6CA703C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5659100"/>
            <a:ext cx="152400" cy="19145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8" name="流程箭头_208">
            <a:extLst xmlns:a="http://schemas.openxmlformats.org/drawingml/2006/main">
              <a:ext uri="{FF2B5EF4-FFF2-40B4-BE49-F238E27FC236}">
                <a16:creationId xmlns:a16="http://schemas.microsoft.com/office/drawing/2014/main" id="{AB39609D-34C6-43C6-BB06-B10D7E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0126325"/>
            <a:ext cx="152400" cy="5810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noFill/>
          </a:ln>
        </p:spPr>
      </p:sp>
      <p:sp>
        <p:nvSpPr>
          <p:cNvPr id="209" name="集成支撑_209">
            <a:extLst xmlns:a="http://schemas.openxmlformats.org/drawingml/2006/main">
              <a:ext uri="{FF2B5EF4-FFF2-40B4-BE49-F238E27FC236}">
                <a16:creationId xmlns:a16="http://schemas.microsoft.com/office/drawing/2014/main" id="{EB6028C7-90BB-4057-A87C-9AF0AA60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3374350"/>
            <a:ext cx="2084832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10" name="文字_210">
            <a:extLst xmlns:a="http://schemas.openxmlformats.org/drawingml/2006/main">
              <a:ext uri="{FF2B5EF4-FFF2-40B4-BE49-F238E27FC236}">
                <a16:creationId xmlns:a16="http://schemas.microsoft.com/office/drawing/2014/main" id="{789E4CFB-E807-4C02-89E3-38EAB1D8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460075"/>
            <a:ext cx="19335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支撑子课题五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级联模型集成与整体验证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提供航运响应模块及接口</a:t>
            </a:r>
          </a:p>
        </p:txBody>
      </p:sp>
      <p:sp>
        <p:nvSpPr>
          <p:cNvPr id="211" name="研究边界_211">
            <a:extLst xmlns:a="http://schemas.openxmlformats.org/drawingml/2006/main">
              <a:ext uri="{FF2B5EF4-FFF2-40B4-BE49-F238E27FC236}">
                <a16:creationId xmlns:a16="http://schemas.microsoft.com/office/drawing/2014/main" id="{979EB79F-3D7D-4B5F-B6FC-0953A88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23622000"/>
            <a:ext cx="6473952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研究边界：航运运行、运输服务及直接市场经营响应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输出运输时间、成本、运价、可靠性、实现流量及行为参数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产业库存、生产与区域经济由相关子课题衔接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完整调度优化、多式联运优化与平台研发由项目相关任务承担</a:t>
            </a:r>
          </a:p>
        </p:txBody>
      </p:sp>
      <p:sp>
        <p:nvSpPr>
          <p:cNvPr id="212" name="协同接口_212">
            <a:extLst xmlns:a="http://schemas.openxmlformats.org/drawingml/2006/main">
              <a:ext uri="{FF2B5EF4-FFF2-40B4-BE49-F238E27FC236}">
                <a16:creationId xmlns:a16="http://schemas.microsoft.com/office/drawing/2014/main" id="{5B286F6B-526B-44A9-A8F5-FC467DB0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6411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数据与模型衔接：子课题一提供数据与特征，子课题二提供全链条作用路径，子课题四反馈需求情景，子课题五统一接口并集成验证。</a:t>
            </a:r>
          </a:p>
        </p:txBody>
      </p:sp>
    </p:spTree>
    <p:extLst>
      <p:ext uri="{BB962C8B-B14F-4D97-AF65-F5344CB8AC3E}">
        <p14:creationId xmlns:p14="http://schemas.microsoft.com/office/powerpoint/2010/main" val="8805053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8575" dist="21299" dir="3806097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596378BD0A034CA010BCA7B12858A4" ma:contentTypeVersion="14" ma:contentTypeDescription="Create a new document." ma:contentTypeScope="" ma:versionID="9369bf9e028bb3ca07af097fb0267f78">
  <xsd:schema xmlns:xsd="http://www.w3.org/2001/XMLSchema" xmlns:xs="http://www.w3.org/2001/XMLSchema" xmlns:p="http://schemas.microsoft.com/office/2006/metadata/properties" xmlns:ns3="2840ae5c-a96c-4873-9eff-317269bfd306" targetNamespace="http://schemas.microsoft.com/office/2006/metadata/properties" ma:root="true" ma:fieldsID="63f35e9d30a0212470227851159404e3" ns3:_="">
    <xsd:import namespace="2840ae5c-a96c-4873-9eff-317269bfd30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LengthInSecond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40ae5c-a96c-4873-9eff-317269bfd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840ae5c-a96c-4873-9eff-317269bfd306" xsi:nil="true"/>
  </documentManagement>
</p:properties>
</file>

<file path=customXml/itemProps1.xml><?xml version="1.0" encoding="utf-8"?>
<ds:datastoreItem xmlns:ds="http://schemas.openxmlformats.org/officeDocument/2006/customXml" ds:itemID="{7650E56E-0C26-4510-AFD8-606AF34A3A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40ae5c-a96c-4873-9eff-317269bfd3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3D5EB6-ED5A-4013-BAAD-2CE11AACDC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0766A0-2E15-467E-82A8-07DF070064B1}">
  <ds:schemaRefs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2840ae5c-a96c-4873-9eff-317269bfd306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383</Words>
  <Application>Microsoft Office PowerPoint</Application>
  <PresentationFormat>自定义</PresentationFormat>
  <Paragraphs>176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Calibri</vt:lpstr>
      <vt:lpstr>Office Theme</vt:lpstr>
      <vt:lpstr>ChatGPT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子课题3 技术路线图</dc:title>
  <dc:subject/>
  <dc:creator>xindodo</dc:creator>
  <cp:keywords/>
  <dc:description>generated using python-pptx</dc:description>
  <cp:lastModifiedBy>赵欣</cp:lastModifiedBy>
  <cp:revision>3</cp:revision>
  <dcterms:created xsi:type="dcterms:W3CDTF">2013-01-27T09:14:16Z</dcterms:created>
  <dcterms:modified xsi:type="dcterms:W3CDTF">2026-10-05T03:50:27Z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0x0101003E596378BD0A034CA010BCA7B12858A4</vt:lpwstr>
  </property>
</Properties>
</file>